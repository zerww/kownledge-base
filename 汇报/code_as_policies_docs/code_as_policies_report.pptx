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1430000" cy="6429375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9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cover-title">
            <a:extLst>
              <a:ext uri="{FF2B5EF4-FFF2-40B4-BE49-F238E27FC236}">
                <a16:creationId xmlns:a16="http://schemas.microsoft.com/office/drawing/2014/main" id="{AF7A7924-FDFD-436F-98F4-C213F3EA776C}"/>
              </a:ext>
            </a:extLst>
          </p:cNvPr>
          <p:cNvSpPr>
            <a:spLocks noGrp="1"/>
          </p:cNvSpPr>
          <p:nvPr/>
        </p:nvSpPr>
        <p:spPr>
          <a:xfrm>
            <a:off x="685800" y="1762125"/>
            <a:ext cx="5334000" cy="1123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7F180E"/>
                </a:solidFill>
              </a:defRPr>
            </a:pPr>
            <a:r>
              <a:rPr sz="34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as Policies</a:t>
            </a:r>
          </a:p>
        </p:txBody>
      </p:sp>
      <p:sp>
        <p:nvSpPr>
          <p:cNvPr id="3" name="cover-subtitle">
            <a:extLst>
              <a:ext uri="{FF2B5EF4-FFF2-40B4-BE49-F238E27FC236}">
                <a16:creationId xmlns:a16="http://schemas.microsoft.com/office/drawing/2014/main" id="{631F994B-6F6C-4CE2-B73A-64CA1A383A73}"/>
              </a:ext>
            </a:extLst>
          </p:cNvPr>
          <p:cNvSpPr>
            <a:spLocks noGrp="1"/>
          </p:cNvSpPr>
          <p:nvPr/>
        </p:nvSpPr>
        <p:spPr>
          <a:xfrm>
            <a:off x="704850" y="2781300"/>
            <a:ext cx="3048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950" b="1">
                <a:solidFill>
                  <a:srgbClr val="1F2937"/>
                </a:solidFill>
              </a:defRPr>
            </a:pPr>
            <a:r>
              <a:rPr sz="19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汇报</a:t>
            </a:r>
          </a:p>
        </p:txBody>
      </p:sp>
      <p:sp>
        <p:nvSpPr>
          <p:cNvPr id="4" name="cover-sequence">
            <a:extLst>
              <a:ext uri="{FF2B5EF4-FFF2-40B4-BE49-F238E27FC236}">
                <a16:creationId xmlns:a16="http://schemas.microsoft.com/office/drawing/2014/main" id="{8DBD8F9F-440E-4FF8-8B26-ACD39895AB6F}"/>
              </a:ext>
            </a:extLst>
          </p:cNvPr>
          <p:cNvSpPr>
            <a:spLocks noGrp="1"/>
          </p:cNvSpPr>
          <p:nvPr/>
        </p:nvSpPr>
        <p:spPr>
          <a:xfrm>
            <a:off x="704850" y="3295650"/>
            <a:ext cx="1025779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6B7280"/>
                </a:solidFill>
              </a:defRPr>
            </a:pPr>
            <a:r>
              <a:rPr sz="2000" b="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interactive_demo</a:t>
            </a:r>
            <a:r>
              <a:rPr sz="20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000" b="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result_of_lmpc</a:t>
            </a:r>
            <a:r>
              <a:rPr sz="20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000" b="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coc_demo</a:t>
            </a:r>
            <a:r>
              <a:rPr sz="20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2000" b="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result_RCGB</a:t>
            </a:r>
            <a:r>
              <a:rPr sz="2000" b="0" dirty="0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ERCNL → </a:t>
            </a:r>
            <a:r>
              <a:rPr sz="2000" b="0" dirty="0" err="1">
                <a:solidFill>
                  <a:srgbClr val="6B72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human_eval_results</a:t>
            </a:r>
            <a:endParaRPr sz="2000" b="0" dirty="0">
              <a:solidFill>
                <a:srgbClr val="6B72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cover-date">
            <a:extLst>
              <a:ext uri="{FF2B5EF4-FFF2-40B4-BE49-F238E27FC236}">
                <a16:creationId xmlns:a16="http://schemas.microsoft.com/office/drawing/2014/main" id="{32518C42-DAB8-4F83-BB69-5DDB0F45CB77}"/>
              </a:ext>
            </a:extLst>
          </p:cNvPr>
          <p:cNvSpPr>
            <a:spLocks noGrp="1"/>
          </p:cNvSpPr>
          <p:nvPr/>
        </p:nvSpPr>
        <p:spPr>
          <a:xfrm>
            <a:off x="704850" y="422910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2026-07-10</a:t>
            </a:r>
          </a:p>
        </p:txBody>
      </p:sp>
    </p:spTree>
    <p:extLst>
      <p:ext uri="{BB962C8B-B14F-4D97-AF65-F5344CB8AC3E}">
        <p14:creationId xmlns:p14="http://schemas.microsoft.com/office/powerpoint/2010/main" val="1136800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1  interactive_demo.md-label">
            <a:extLst>
              <a:ext uri="{FF2B5EF4-FFF2-40B4-BE49-F238E27FC236}">
                <a16:creationId xmlns:a16="http://schemas.microsoft.com/office/drawing/2014/main" id="{92A6D655-0EB1-47C2-8923-420953BCBF92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  interactive_demo.md</a:t>
            </a:r>
          </a:p>
        </p:txBody>
      </p:sp>
      <p:sp>
        <p:nvSpPr>
          <p:cNvPr id="3" name="01  interactive_demo.md-title">
            <a:extLst>
              <a:ext uri="{FF2B5EF4-FFF2-40B4-BE49-F238E27FC236}">
                <a16:creationId xmlns:a16="http://schemas.microsoft.com/office/drawing/2014/main" id="{FC6D07D9-434D-40EE-9C30-457FE2A3CA97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Interactive Demo </a:t>
            </a:r>
            <a:r>
              <a:rPr sz="2550" b="1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的系统结构与调用链</a:t>
            </a:r>
            <a:endParaRPr sz="2550" b="1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系统结构-block-title">
            <a:extLst>
              <a:ext uri="{FF2B5EF4-FFF2-40B4-BE49-F238E27FC236}">
                <a16:creationId xmlns:a16="http://schemas.microsoft.com/office/drawing/2014/main" id="{91CB5A10-FB14-4013-97FC-37517BA0FAC2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15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系统结构</a:t>
            </a:r>
          </a:p>
        </p:txBody>
      </p:sp>
      <p:sp>
        <p:nvSpPr>
          <p:cNvPr id="5" name="系统结构-block-body">
            <a:extLst>
              <a:ext uri="{FF2B5EF4-FFF2-40B4-BE49-F238E27FC236}">
                <a16:creationId xmlns:a16="http://schemas.microsoft.com/office/drawing/2014/main" id="{C2C7027D-745F-4671-A750-67C92706A6C4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762500" cy="2633662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Robotiq2F85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负责夹爪开合与接触检测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PickPlaceEnv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封装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PyBullet、UR5e、物体与相机。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LMP_wrapper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把环境能力暴露为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LLM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可调用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LMPFGen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递归补齐缺失函数，自动生成依赖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LMP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负责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prompt、调用、执行和错误重试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关键结论-block-title">
            <a:extLst>
              <a:ext uri="{FF2B5EF4-FFF2-40B4-BE49-F238E27FC236}">
                <a16:creationId xmlns:a16="http://schemas.microsoft.com/office/drawing/2014/main" id="{341ED98A-19AB-4264-A35C-FD84B01F487D}"/>
              </a:ext>
            </a:extLst>
          </p:cNvPr>
          <p:cNvSpPr>
            <a:spLocks noGrp="1"/>
          </p:cNvSpPr>
          <p:nvPr/>
        </p:nvSpPr>
        <p:spPr>
          <a:xfrm>
            <a:off x="5924550" y="1485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15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关键结论</a:t>
            </a:r>
          </a:p>
        </p:txBody>
      </p:sp>
      <p:sp>
        <p:nvSpPr>
          <p:cNvPr id="7" name="关键结论-block-body">
            <a:extLst>
              <a:ext uri="{FF2B5EF4-FFF2-40B4-BE49-F238E27FC236}">
                <a16:creationId xmlns:a16="http://schemas.microsoft.com/office/drawing/2014/main" id="{538FCA16-20A3-4416-A85D-B9A7B4D7C1D1}"/>
              </a:ext>
            </a:extLst>
          </p:cNvPr>
          <p:cNvSpPr>
            <a:spLocks noGrp="1"/>
          </p:cNvSpPr>
          <p:nvPr/>
        </p:nvSpPr>
        <p:spPr>
          <a:xfrm>
            <a:off x="5924550" y="175260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Code as Policies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不是直接输出动作序列，而是输出完整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exec_safe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()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在预注入命名空间中执行代码，并屏蔽危险语句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maintain_session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=True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让多轮对话的历史代码可继续复用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75" b="0">
                <a:solidFill>
                  <a:srgbClr val="4B5563"/>
                </a:solidFill>
              </a:defRPr>
            </a:pP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16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调用链最终落到机械臂动作、仿真步进和实时渲染</a:t>
            </a:r>
            <a:r>
              <a:rPr sz="16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interactive-flow">
            <a:extLst>
              <a:ext uri="{FF2B5EF4-FFF2-40B4-BE49-F238E27FC236}">
                <a16:creationId xmlns:a16="http://schemas.microsoft.com/office/drawing/2014/main" id="{1C3B0E08-D442-4D90-8769-14F9A743E716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990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1">
                <a:solidFill>
                  <a:srgbClr val="7F180E"/>
                </a:solidFill>
              </a:defRPr>
            </a:pPr>
            <a:r>
              <a:rPr sz="12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流程摘要：自然语言指令 → LMP.__call__() → 代码生成 → FunctionParser / LMPFGen → exec_safe() → LMP_wrapper → PickPlaceEnv.step() → 机械臂动作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4CF2FF0-FFFF-41C7-AA0B-B74955C3F968}"/>
              </a:ext>
            </a:extLst>
          </p:cNvPr>
          <p:cNvSpPr>
            <a:spLocks noGrp="1"/>
          </p:cNvSpPr>
          <p:nvPr/>
        </p:nvSpPr>
        <p:spPr>
          <a:xfrm>
            <a:off x="647700" y="4576762"/>
            <a:ext cx="10363200" cy="1047750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8F7FFCB4-57E5-4BB4-82EB-79902CEC73D6}"/>
              </a:ext>
            </a:extLst>
          </p:cNvPr>
          <p:cNvSpPr>
            <a:spLocks noGrp="1"/>
          </p:cNvSpPr>
          <p:nvPr/>
        </p:nvSpPr>
        <p:spPr>
          <a:xfrm>
            <a:off x="685800" y="4705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8F6"/>
          </a:solidFill>
          <a:ln w="14288">
            <a:solidFill>
              <a:srgbClr val="D7A39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AE345836-3FCE-4C05-97EE-C08581C03F46}"/>
              </a:ext>
            </a:extLst>
          </p:cNvPr>
          <p:cNvSpPr>
            <a:spLocks noGrp="1"/>
          </p:cNvSpPr>
          <p:nvPr/>
        </p:nvSpPr>
        <p:spPr>
          <a:xfrm>
            <a:off x="819150" y="48006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自然语言输入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C4859DE-4003-4FA2-8423-4D8B515A6EBE}"/>
              </a:ext>
            </a:extLst>
          </p:cNvPr>
          <p:cNvSpPr>
            <a:spLocks noGrp="1"/>
          </p:cNvSpPr>
          <p:nvPr/>
        </p:nvSpPr>
        <p:spPr>
          <a:xfrm>
            <a:off x="819150" y="5067300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任务指令 / 交互目标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461DA6F7-E4E4-4E33-AF30-5600DED43B6D}"/>
              </a:ext>
            </a:extLst>
          </p:cNvPr>
          <p:cNvSpPr>
            <a:spLocks noGrp="1"/>
          </p:cNvSpPr>
          <p:nvPr/>
        </p:nvSpPr>
        <p:spPr>
          <a:xfrm>
            <a:off x="2505075" y="4933950"/>
            <a:ext cx="9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F180E"/>
                </a:solidFill>
              </a:defRPr>
            </a:pPr>
            <a:r>
              <a:rPr sz="21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BB3F75F7-54AE-4159-B630-7AB337848E46}"/>
              </a:ext>
            </a:extLst>
          </p:cNvPr>
          <p:cNvSpPr>
            <a:spLocks noGrp="1"/>
          </p:cNvSpPr>
          <p:nvPr/>
        </p:nvSpPr>
        <p:spPr>
          <a:xfrm>
            <a:off x="2590800" y="4705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DFC"/>
          </a:solidFill>
          <a:ln w="14288">
            <a:solidFill>
              <a:srgbClr val="D7A39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3705C87B-261B-4919-B937-C6CD29A88B78}"/>
              </a:ext>
            </a:extLst>
          </p:cNvPr>
          <p:cNvSpPr>
            <a:spLocks noGrp="1"/>
          </p:cNvSpPr>
          <p:nvPr/>
        </p:nvSpPr>
        <p:spPr>
          <a:xfrm>
            <a:off x="2743200" y="48006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 调用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A53BEB1D-169F-4262-BB5E-11D6B19638B1}"/>
              </a:ext>
            </a:extLst>
          </p:cNvPr>
          <p:cNvSpPr>
            <a:spLocks noGrp="1"/>
          </p:cNvSpPr>
          <p:nvPr/>
        </p:nvSpPr>
        <p:spPr>
          <a:xfrm>
            <a:off x="2743200" y="5067300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</a:defRPr>
            </a:pPr>
            <a:r>
              <a:rPr sz="975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 </a:t>
            </a:r>
            <a:r>
              <a:rPr sz="975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组装与代码生成</a:t>
            </a:r>
            <a:endParaRPr sz="975" b="0" dirty="0">
              <a:solidFill>
                <a:srgbClr val="4B55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D3F00876-1216-4708-B12F-08A33E4B91E2}"/>
              </a:ext>
            </a:extLst>
          </p:cNvPr>
          <p:cNvSpPr>
            <a:spLocks noGrp="1"/>
          </p:cNvSpPr>
          <p:nvPr/>
        </p:nvSpPr>
        <p:spPr>
          <a:xfrm>
            <a:off x="4429125" y="4933950"/>
            <a:ext cx="9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F180E"/>
                </a:solidFill>
              </a:defRPr>
            </a:pPr>
            <a:r>
              <a:rPr sz="21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BE7A7B3F-558E-4948-AA73-8DCEBBCD37E2}"/>
              </a:ext>
            </a:extLst>
          </p:cNvPr>
          <p:cNvSpPr>
            <a:spLocks noGrp="1"/>
          </p:cNvSpPr>
          <p:nvPr/>
        </p:nvSpPr>
        <p:spPr>
          <a:xfrm>
            <a:off x="4533900" y="4705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8F6"/>
          </a:solidFill>
          <a:ln w="14288">
            <a:solidFill>
              <a:srgbClr val="D7A39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00E8A808-A041-4D3C-8A4F-1215C0BA962E}"/>
              </a:ext>
            </a:extLst>
          </p:cNvPr>
          <p:cNvSpPr>
            <a:spLocks noGrp="1"/>
          </p:cNvSpPr>
          <p:nvPr/>
        </p:nvSpPr>
        <p:spPr>
          <a:xfrm>
            <a:off x="4667250" y="48006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递归补函数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48BBDB0-F772-4584-A92C-577A24454EDF}"/>
              </a:ext>
            </a:extLst>
          </p:cNvPr>
          <p:cNvSpPr>
            <a:spLocks noGrp="1"/>
          </p:cNvSpPr>
          <p:nvPr/>
        </p:nvSpPr>
        <p:spPr>
          <a:xfrm>
            <a:off x="4667250" y="5067300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FunctionParser / LMPFGen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DC71493C-3D1A-4710-954A-9C34581D179E}"/>
              </a:ext>
            </a:extLst>
          </p:cNvPr>
          <p:cNvSpPr>
            <a:spLocks noGrp="1"/>
          </p:cNvSpPr>
          <p:nvPr/>
        </p:nvSpPr>
        <p:spPr>
          <a:xfrm>
            <a:off x="6353175" y="4933950"/>
            <a:ext cx="9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F180E"/>
                </a:solidFill>
              </a:defRPr>
            </a:pPr>
            <a:r>
              <a:rPr sz="21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88B6C3BC-2039-4094-B3A6-EBE15E587123}"/>
              </a:ext>
            </a:extLst>
          </p:cNvPr>
          <p:cNvSpPr>
            <a:spLocks noGrp="1"/>
          </p:cNvSpPr>
          <p:nvPr/>
        </p:nvSpPr>
        <p:spPr>
          <a:xfrm>
            <a:off x="6457950" y="4705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DFC"/>
          </a:solidFill>
          <a:ln w="14288">
            <a:solidFill>
              <a:srgbClr val="D7A39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AE28B2FF-A009-4D93-A81D-47AF22B84C20}"/>
              </a:ext>
            </a:extLst>
          </p:cNvPr>
          <p:cNvSpPr>
            <a:spLocks noGrp="1"/>
          </p:cNvSpPr>
          <p:nvPr/>
        </p:nvSpPr>
        <p:spPr>
          <a:xfrm>
            <a:off x="6591300" y="48006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安全执行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BB9496CD-2E59-4D81-BFEB-149A977F92DF}"/>
              </a:ext>
            </a:extLst>
          </p:cNvPr>
          <p:cNvSpPr>
            <a:spLocks noGrp="1"/>
          </p:cNvSpPr>
          <p:nvPr/>
        </p:nvSpPr>
        <p:spPr>
          <a:xfrm>
            <a:off x="6591300" y="5067300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exec_safe() + env API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5EF5CB2F-41B0-4A15-9E41-432E6E34A8DC}"/>
              </a:ext>
            </a:extLst>
          </p:cNvPr>
          <p:cNvSpPr>
            <a:spLocks noGrp="1"/>
          </p:cNvSpPr>
          <p:nvPr/>
        </p:nvSpPr>
        <p:spPr>
          <a:xfrm>
            <a:off x="8277225" y="4933950"/>
            <a:ext cx="952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2100" b="1">
                <a:solidFill>
                  <a:srgbClr val="7F180E"/>
                </a:solidFill>
              </a:defRPr>
            </a:pPr>
            <a:r>
              <a:rPr sz="21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→</a:t>
            </a: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ABC7029D-0E47-45EE-BFC0-F73DC16FF169}"/>
              </a:ext>
            </a:extLst>
          </p:cNvPr>
          <p:cNvSpPr>
            <a:spLocks noGrp="1"/>
          </p:cNvSpPr>
          <p:nvPr/>
        </p:nvSpPr>
        <p:spPr>
          <a:xfrm>
            <a:off x="8382000" y="4705350"/>
            <a:ext cx="1809750" cy="800100"/>
          </a:xfrm>
          <a:prstGeom prst="roundRect">
            <a:avLst>
              <a:gd name="adj" fmla="val 9524"/>
            </a:avLst>
          </a:prstGeom>
          <a:solidFill>
            <a:srgbClr val="FFF8F6"/>
          </a:solidFill>
          <a:ln w="14288">
            <a:solidFill>
              <a:srgbClr val="D7A39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7887E549-4699-4819-B826-A4F7D5711A98}"/>
              </a:ext>
            </a:extLst>
          </p:cNvPr>
          <p:cNvSpPr>
            <a:spLocks noGrp="1"/>
          </p:cNvSpPr>
          <p:nvPr/>
        </p:nvSpPr>
        <p:spPr>
          <a:xfrm>
            <a:off x="8515350" y="4800600"/>
            <a:ext cx="1543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机械臂与仿真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5373EAAB-CD30-4A55-B5F4-437C7FF688EF}"/>
              </a:ext>
            </a:extLst>
          </p:cNvPr>
          <p:cNvSpPr>
            <a:spLocks noGrp="1"/>
          </p:cNvSpPr>
          <p:nvPr/>
        </p:nvSpPr>
        <p:spPr>
          <a:xfrm>
            <a:off x="8515350" y="5067300"/>
            <a:ext cx="15430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PickPlaceEnv.step()</a:t>
            </a:r>
          </a:p>
        </p:txBody>
      </p:sp>
    </p:spTree>
    <p:extLst>
      <p:ext uri="{BB962C8B-B14F-4D97-AF65-F5344CB8AC3E}">
        <p14:creationId xmlns:p14="http://schemas.microsoft.com/office/powerpoint/2010/main" val="1940624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2  result_of_lmpc.md-label">
            <a:extLst>
              <a:ext uri="{FF2B5EF4-FFF2-40B4-BE49-F238E27FC236}">
                <a16:creationId xmlns:a16="http://schemas.microsoft.com/office/drawing/2014/main" id="{EA22C5B2-8122-4C8C-9199-A0CCE6511938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  result_of_lmpc.md</a:t>
            </a:r>
          </a:p>
        </p:txBody>
      </p:sp>
      <p:sp>
        <p:nvSpPr>
          <p:cNvPr id="3" name="02  result_of_lmpc.md-title">
            <a:extLst>
              <a:ext uri="{FF2B5EF4-FFF2-40B4-BE49-F238E27FC236}">
                <a16:creationId xmlns:a16="http://schemas.microsoft.com/office/drawing/2014/main" id="{52C15D2A-35A7-441B-A183-EEA68BFF3B2C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LMPC Demo 的训练结果与部署状态</a:t>
            </a:r>
          </a:p>
        </p:txBody>
      </p:sp>
      <p:sp>
        <p:nvSpPr>
          <p:cNvPr id="4" name="lmpc-success">
            <a:extLst>
              <a:ext uri="{FF2B5EF4-FFF2-40B4-BE49-F238E27FC236}">
                <a16:creationId xmlns:a16="http://schemas.microsoft.com/office/drawing/2014/main" id="{5BF90944-12B6-4EE3-B1D3-559ACABBFA6C}"/>
              </a:ext>
            </a:extLst>
          </p:cNvPr>
          <p:cNvSpPr>
            <a:spLocks noGrp="1"/>
          </p:cNvSpPr>
          <p:nvPr/>
        </p:nvSpPr>
        <p:spPr>
          <a:xfrm>
            <a:off x="685800" y="15049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7F180E"/>
                </a:solidFill>
              </a:defRPr>
            </a:pPr>
            <a:r>
              <a:rPr sz="34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94%</a:t>
            </a:r>
          </a:p>
        </p:txBody>
      </p:sp>
      <p:sp>
        <p:nvSpPr>
          <p:cNvPr id="5" name="lmpc-success-label">
            <a:extLst>
              <a:ext uri="{FF2B5EF4-FFF2-40B4-BE49-F238E27FC236}">
                <a16:creationId xmlns:a16="http://schemas.microsoft.com/office/drawing/2014/main" id="{1BACF3A5-B0E6-4345-967C-74C710AD19D8}"/>
              </a:ext>
            </a:extLst>
          </p:cNvPr>
          <p:cNvSpPr>
            <a:spLocks noGrp="1"/>
          </p:cNvSpPr>
          <p:nvPr/>
        </p:nvSpPr>
        <p:spPr>
          <a:xfrm>
            <a:off x="704850" y="2038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整体成功率</a:t>
            </a:r>
          </a:p>
        </p:txBody>
      </p:sp>
      <p:sp>
        <p:nvSpPr>
          <p:cNvPr id="6" name="lmpc-turns">
            <a:extLst>
              <a:ext uri="{FF2B5EF4-FFF2-40B4-BE49-F238E27FC236}">
                <a16:creationId xmlns:a16="http://schemas.microsoft.com/office/drawing/2014/main" id="{A2D4E6B6-8C2A-4589-87A8-15AF68A639C4}"/>
              </a:ext>
            </a:extLst>
          </p:cNvPr>
          <p:cNvSpPr>
            <a:spLocks noGrp="1"/>
          </p:cNvSpPr>
          <p:nvPr/>
        </p:nvSpPr>
        <p:spPr>
          <a:xfrm>
            <a:off x="3086100" y="1504950"/>
            <a:ext cx="2095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450" b="1">
                <a:solidFill>
                  <a:srgbClr val="7F180E"/>
                </a:solidFill>
              </a:defRPr>
            </a:pPr>
            <a:r>
              <a:rPr sz="34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2.0</a:t>
            </a:r>
          </a:p>
        </p:txBody>
      </p:sp>
      <p:sp>
        <p:nvSpPr>
          <p:cNvPr id="7" name="lmpc-turns-label">
            <a:extLst>
              <a:ext uri="{FF2B5EF4-FFF2-40B4-BE49-F238E27FC236}">
                <a16:creationId xmlns:a16="http://schemas.microsoft.com/office/drawing/2014/main" id="{5390AC48-A281-4BB1-B050-96DDBA1DD104}"/>
              </a:ext>
            </a:extLst>
          </p:cNvPr>
          <p:cNvSpPr>
            <a:spLocks noGrp="1"/>
          </p:cNvSpPr>
          <p:nvPr/>
        </p:nvSpPr>
        <p:spPr>
          <a:xfrm>
            <a:off x="3105150" y="2038350"/>
            <a:ext cx="2286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平均对话轮数</a:t>
            </a:r>
          </a:p>
        </p:txBody>
      </p:sp>
      <p:sp>
        <p:nvSpPr>
          <p:cNvPr id="8" name="微调概况-block-title">
            <a:extLst>
              <a:ext uri="{FF2B5EF4-FFF2-40B4-BE49-F238E27FC236}">
                <a16:creationId xmlns:a16="http://schemas.microsoft.com/office/drawing/2014/main" id="{B55A140B-658C-411B-9BFD-6864E8BFB9DF}"/>
              </a:ext>
            </a:extLst>
          </p:cNvPr>
          <p:cNvSpPr>
            <a:spLocks noGrp="1"/>
          </p:cNvSpPr>
          <p:nvPr/>
        </p:nvSpPr>
        <p:spPr>
          <a:xfrm>
            <a:off x="685800" y="2609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微调概况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微调概况-block-body">
            <a:extLst>
              <a:ext uri="{FF2B5EF4-FFF2-40B4-BE49-F238E27FC236}">
                <a16:creationId xmlns:a16="http://schemas.microsoft.com/office/drawing/2014/main" id="{7CE2DD01-D275-4C8D-A90E-D4FB9F0E1DFC}"/>
              </a:ext>
            </a:extLst>
          </p:cNvPr>
          <p:cNvSpPr>
            <a:spLocks noGrp="1"/>
          </p:cNvSpPr>
          <p:nvPr/>
        </p:nvSpPr>
        <p:spPr>
          <a:xfrm>
            <a:off x="685799" y="2876550"/>
            <a:ext cx="4819651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训练集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85，测试集 15。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ID 为 ft-202607082033-28df。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基座模型为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qwen-3.6….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3 个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epoch、batch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size 64、学习率 1.6e-5。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微调过程本身成功，耗时约</a:t>
            </a:r>
            <a:r>
              <a:rPr sz="2000" b="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61 </a:t>
            </a:r>
            <a:r>
              <a:rPr sz="2000" b="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分钟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" name="评估结论-block-title">
            <a:extLst>
              <a:ext uri="{FF2B5EF4-FFF2-40B4-BE49-F238E27FC236}">
                <a16:creationId xmlns:a16="http://schemas.microsoft.com/office/drawing/2014/main" id="{88694349-3F9D-4836-9FF5-535521E19696}"/>
              </a:ext>
            </a:extLst>
          </p:cNvPr>
          <p:cNvSpPr>
            <a:spLocks noGrp="1"/>
          </p:cNvSpPr>
          <p:nvPr/>
        </p:nvSpPr>
        <p:spPr>
          <a:xfrm>
            <a:off x="5924550" y="26098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评估结论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评估结论-block-body">
            <a:extLst>
              <a:ext uri="{FF2B5EF4-FFF2-40B4-BE49-F238E27FC236}">
                <a16:creationId xmlns:a16="http://schemas.microsoft.com/office/drawing/2014/main" id="{5192AD1E-0D40-47A9-A217-364D7092B111}"/>
              </a:ext>
            </a:extLst>
          </p:cNvPr>
          <p:cNvSpPr>
            <a:spLocks noGrp="1"/>
          </p:cNvSpPr>
          <p:nvPr/>
        </p:nvSpPr>
        <p:spPr>
          <a:xfrm>
            <a:off x="5924550" y="28765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微调后的模型名已经生成，但未完成部署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OpenAI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兼容接口调用时返回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404，说明模型不可直接推理。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根因是模型单元服务未开通，需先部署再重新评测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噪声较低的数据子集上表现接近满分，噪声增大后略有下降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908206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 11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3  coc_demo.md-label">
            <a:extLst>
              <a:ext uri="{FF2B5EF4-FFF2-40B4-BE49-F238E27FC236}">
                <a16:creationId xmlns:a16="http://schemas.microsoft.com/office/drawing/2014/main" id="{94DCA624-1892-4A7D-BFBD-6E4BCC9BF301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  coc_demo.md</a:t>
            </a:r>
          </a:p>
        </p:txBody>
      </p:sp>
      <p:sp>
        <p:nvSpPr>
          <p:cNvPr id="3" name="03  coc_demo.md-title">
            <a:extLst>
              <a:ext uri="{FF2B5EF4-FFF2-40B4-BE49-F238E27FC236}">
                <a16:creationId xmlns:a16="http://schemas.microsoft.com/office/drawing/2014/main" id="{BBAD475A-1E5A-48C3-9E86-29BC850878F4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 dirty="0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 Demo </a:t>
            </a:r>
            <a:r>
              <a:rPr sz="2550" b="1" dirty="0" err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的方法对比与总体结论</a:t>
            </a:r>
            <a:endParaRPr sz="2550" b="1" dirty="0">
              <a:solidFill>
                <a:srgbClr val="1F2937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c-direct">
            <a:extLst>
              <a:ext uri="{FF2B5EF4-FFF2-40B4-BE49-F238E27FC236}">
                <a16:creationId xmlns:a16="http://schemas.microsoft.com/office/drawing/2014/main" id="{30DEC783-4136-45CA-A117-DFAA5D9D406C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64084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</a:p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</a:t>
            </a:r>
          </a:p>
        </p:txBody>
      </p:sp>
      <p:sp>
        <p:nvSpPr>
          <p:cNvPr id="5" name="coc-cot">
            <a:extLst>
              <a:ext uri="{FF2B5EF4-FFF2-40B4-BE49-F238E27FC236}">
                <a16:creationId xmlns:a16="http://schemas.microsoft.com/office/drawing/2014/main" id="{8D0E7C01-F90D-4CEB-B9CD-1529F82DE447}"/>
              </a:ext>
            </a:extLst>
          </p:cNvPr>
          <p:cNvSpPr>
            <a:spLocks noGrp="1"/>
          </p:cNvSpPr>
          <p:nvPr/>
        </p:nvSpPr>
        <p:spPr>
          <a:xfrm>
            <a:off x="2724150" y="1524000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endParaRPr sz="255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54</a:t>
            </a:r>
          </a:p>
        </p:txBody>
      </p:sp>
      <p:sp>
        <p:nvSpPr>
          <p:cNvPr id="6" name="coc-coc">
            <a:extLst>
              <a:ext uri="{FF2B5EF4-FFF2-40B4-BE49-F238E27FC236}">
                <a16:creationId xmlns:a16="http://schemas.microsoft.com/office/drawing/2014/main" id="{8656A061-C95B-49EF-BCD8-1C95162104F3}"/>
              </a:ext>
            </a:extLst>
          </p:cNvPr>
          <p:cNvSpPr>
            <a:spLocks noGrp="1"/>
          </p:cNvSpPr>
          <p:nvPr/>
        </p:nvSpPr>
        <p:spPr>
          <a:xfrm>
            <a:off x="4762500" y="1524000"/>
            <a:ext cx="1905000" cy="590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</a:t>
            </a:r>
          </a:p>
          <a:p>
            <a:pPr algn="l">
              <a:defRPr sz="2550" b="1">
                <a:solidFill>
                  <a:srgbClr val="7F180E"/>
                </a:solidFill>
              </a:defRPr>
            </a:pPr>
            <a:r>
              <a:rPr sz="25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99</a:t>
            </a:r>
          </a:p>
        </p:txBody>
      </p:sp>
      <p:sp>
        <p:nvSpPr>
          <p:cNvPr id="7" name="coc-summary">
            <a:extLst>
              <a:ext uri="{FF2B5EF4-FFF2-40B4-BE49-F238E27FC236}">
                <a16:creationId xmlns:a16="http://schemas.microsoft.com/office/drawing/2014/main" id="{FA15888B-857F-4593-AD59-BA80BBD5F284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6096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正确答案为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52；CoC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方案虽然跑通，但因函数模拟不准，结果严重偏离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方法表现-block-title">
            <a:extLst>
              <a:ext uri="{FF2B5EF4-FFF2-40B4-BE49-F238E27FC236}">
                <a16:creationId xmlns:a16="http://schemas.microsoft.com/office/drawing/2014/main" id="{43489228-9372-4241-B076-877BA5207DB2}"/>
              </a:ext>
            </a:extLst>
          </p:cNvPr>
          <p:cNvSpPr>
            <a:spLocks noGrp="1"/>
          </p:cNvSpPr>
          <p:nvPr/>
        </p:nvSpPr>
        <p:spPr>
          <a:xfrm>
            <a:off x="647700" y="320421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方法表现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方法表现-block-body">
            <a:extLst>
              <a:ext uri="{FF2B5EF4-FFF2-40B4-BE49-F238E27FC236}">
                <a16:creationId xmlns:a16="http://schemas.microsoft.com/office/drawing/2014/main" id="{F0C7766B-775C-42B6-8CA7-F2B170B6B766}"/>
              </a:ext>
            </a:extLst>
          </p:cNvPr>
          <p:cNvSpPr>
            <a:spLocks noGrp="1"/>
          </p:cNvSpPr>
          <p:nvPr/>
        </p:nvSpPr>
        <p:spPr>
          <a:xfrm>
            <a:off x="685800" y="381381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Direct 在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max_tokens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=1024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后首次得到正确答案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52。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因重复统计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Hawaii 和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Italy，得到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54。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CoC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通过代码方式调用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get_country，但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mock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精度不足，输出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99。</a:t>
            </a:r>
          </a:p>
        </p:txBody>
      </p:sp>
      <p:sp>
        <p:nvSpPr>
          <p:cNvPr id="10" name="额外实验-block-title">
            <a:extLst>
              <a:ext uri="{FF2B5EF4-FFF2-40B4-BE49-F238E27FC236}">
                <a16:creationId xmlns:a16="http://schemas.microsoft.com/office/drawing/2014/main" id="{893A329C-EE6C-4A59-A6BB-48C62CE94B91}"/>
              </a:ext>
            </a:extLst>
          </p:cNvPr>
          <p:cNvSpPr>
            <a:spLocks noGrp="1"/>
          </p:cNvSpPr>
          <p:nvPr/>
        </p:nvSpPr>
        <p:spPr>
          <a:xfrm>
            <a:off x="5853430" y="3214687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额外实验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额外实验-block-body">
            <a:extLst>
              <a:ext uri="{FF2B5EF4-FFF2-40B4-BE49-F238E27FC236}">
                <a16:creationId xmlns:a16="http://schemas.microsoft.com/office/drawing/2014/main" id="{E57B2926-8081-436D-8874-D7266F8B2FC2}"/>
              </a:ext>
            </a:extLst>
          </p:cNvPr>
          <p:cNvSpPr>
            <a:spLocks noGrp="1"/>
          </p:cNvSpPr>
          <p:nvPr/>
        </p:nvSpPr>
        <p:spPr>
          <a:xfrm>
            <a:off x="5853430" y="37147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Code Generation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Demo：输入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“two concentric circles”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donut。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LMulator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Demo：返回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delta state {'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extinct_animal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'dinosaur'}。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说明代码式推理和状态式推理都可以稳定产出结构化结果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246314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4  coc_demo.md-label">
            <a:extLst>
              <a:ext uri="{FF2B5EF4-FFF2-40B4-BE49-F238E27FC236}">
                <a16:creationId xmlns:a16="http://schemas.microsoft.com/office/drawing/2014/main" id="{66E8BBEA-2C3E-465E-AA12-57EB9E0E93C1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 dirty="0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04  coc_demo.md</a:t>
            </a:r>
          </a:p>
        </p:txBody>
      </p:sp>
      <p:sp>
        <p:nvSpPr>
          <p:cNvPr id="3" name="04  coc_demo.md-title">
            <a:extLst>
              <a:ext uri="{FF2B5EF4-FFF2-40B4-BE49-F238E27FC236}">
                <a16:creationId xmlns:a16="http://schemas.microsoft.com/office/drawing/2014/main" id="{30B342C9-5274-4BF6-9A33-8FD8044A8889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CoC Demo 的代码样例与修复要点</a:t>
            </a:r>
          </a:p>
        </p:txBody>
      </p:sp>
      <p:sp>
        <p:nvSpPr>
          <p:cNvPr id="4" name="Code Generation Demo-block-title">
            <a:extLst>
              <a:ext uri="{FF2B5EF4-FFF2-40B4-BE49-F238E27FC236}">
                <a16:creationId xmlns:a16="http://schemas.microsoft.com/office/drawing/2014/main" id="{1DF515D5-329E-49AF-B95F-AB435195EBE9}"/>
              </a:ext>
            </a:extLst>
          </p:cNvPr>
          <p:cNvSpPr>
            <a:spLocks noGrp="1"/>
          </p:cNvSpPr>
          <p:nvPr/>
        </p:nvSpPr>
        <p:spPr>
          <a:xfrm>
            <a:off x="685800" y="1485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 Generation Demo</a:t>
            </a:r>
          </a:p>
        </p:txBody>
      </p:sp>
      <p:sp>
        <p:nvSpPr>
          <p:cNvPr id="5" name="Code Generation Demo-block-body">
            <a:extLst>
              <a:ext uri="{FF2B5EF4-FFF2-40B4-BE49-F238E27FC236}">
                <a16:creationId xmlns:a16="http://schemas.microsoft.com/office/drawing/2014/main" id="{C19A4674-7CE4-4F08-B94A-43A9716A3B63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输入：What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type of food does two concentric circles look like?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：# CODE START ... answer = "donut" ... # CODE END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该实验展示了模型可直接生成可执行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6" name="LMulator Demo-block-title">
            <a:extLst>
              <a:ext uri="{FF2B5EF4-FFF2-40B4-BE49-F238E27FC236}">
                <a16:creationId xmlns:a16="http://schemas.microsoft.com/office/drawing/2014/main" id="{213BA342-EBD0-4609-A290-C341E8D17196}"/>
              </a:ext>
            </a:extLst>
          </p:cNvPr>
          <p:cNvSpPr>
            <a:spLocks noGrp="1"/>
          </p:cNvSpPr>
          <p:nvPr/>
        </p:nvSpPr>
        <p:spPr>
          <a:xfrm>
            <a:off x="5924550" y="14859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LMulator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Demo</a:t>
            </a:r>
          </a:p>
        </p:txBody>
      </p:sp>
      <p:sp>
        <p:nvSpPr>
          <p:cNvPr id="7" name="LMulator Demo-block-body">
            <a:extLst>
              <a:ext uri="{FF2B5EF4-FFF2-40B4-BE49-F238E27FC236}">
                <a16:creationId xmlns:a16="http://schemas.microsoft.com/office/drawing/2014/main" id="{655DE63B-7017-4BE2-A34E-0F44621E52E0}"/>
              </a:ext>
            </a:extLst>
          </p:cNvPr>
          <p:cNvSpPr>
            <a:spLocks noGrp="1"/>
          </p:cNvSpPr>
          <p:nvPr/>
        </p:nvSpPr>
        <p:spPr>
          <a:xfrm>
            <a:off x="5924550" y="175260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输入：which_animal_is_extinct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(['panda', 'dinosaur', 'pig'],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ret_type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=str)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输出：delta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state: {'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extinct_animal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': 'dinosaur'}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该路径强调状态增量而不是自然语言答案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coc-fixes">
            <a:extLst>
              <a:ext uri="{FF2B5EF4-FFF2-40B4-BE49-F238E27FC236}">
                <a16:creationId xmlns:a16="http://schemas.microsoft.com/office/drawing/2014/main" id="{5495EC30-4317-4E23-9A1F-5C44EAFC78C9}"/>
              </a:ext>
            </a:extLst>
          </p:cNvPr>
          <p:cNvSpPr>
            <a:spLocks noGrp="1"/>
          </p:cNvSpPr>
          <p:nvPr/>
        </p:nvSpPr>
        <p:spPr>
          <a:xfrm>
            <a:off x="685800" y="4400550"/>
            <a:ext cx="9906000" cy="6489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125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已应用的修复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：_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make_hashable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递归转换、Direct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max_tokens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提升、Code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Gen 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格式提示、LMulator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的 delta state </a:t>
            </a: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后缀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87940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5  result_RCGB.md-label">
            <a:extLst>
              <a:ext uri="{FF2B5EF4-FFF2-40B4-BE49-F238E27FC236}">
                <a16:creationId xmlns:a16="http://schemas.microsoft.com/office/drawing/2014/main" id="{7F50CCEB-FCA6-4210-AC3A-F8994AA16513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05  result_RCGB.md</a:t>
            </a:r>
          </a:p>
        </p:txBody>
      </p:sp>
      <p:sp>
        <p:nvSpPr>
          <p:cNvPr id="3" name="05  result_RCGB.md-title">
            <a:extLst>
              <a:ext uri="{FF2B5EF4-FFF2-40B4-BE49-F238E27FC236}">
                <a16:creationId xmlns:a16="http://schemas.microsoft.com/office/drawing/2014/main" id="{358A319F-B230-45BD-BC7A-7A0E36FC7D4A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Robot Code-Gen Benchmark 的总体表现</a:t>
            </a:r>
          </a:p>
        </p:txBody>
      </p:sp>
      <p:sp>
        <p:nvSpPr>
          <p:cNvPr id="4" name="rcgb-best">
            <a:extLst>
              <a:ext uri="{FF2B5EF4-FFF2-40B4-BE49-F238E27FC236}">
                <a16:creationId xmlns:a16="http://schemas.microsoft.com/office/drawing/2014/main" id="{58FA477D-09A3-483C-9FE2-B2D92F713A40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最优组合：Flat</a:t>
            </a:r>
            <a:r>
              <a:rPr sz="13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  <a:r>
              <a:rPr sz="13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Flat </a:t>
            </a:r>
            <a:r>
              <a:rPr sz="135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Prompt，整体成功率</a:t>
            </a:r>
            <a:r>
              <a:rPr sz="13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70% (26/37)。</a:t>
            </a:r>
          </a:p>
        </p:txBody>
      </p:sp>
      <p:sp>
        <p:nvSpPr>
          <p:cNvPr id="5" name="四种组合-block-title">
            <a:extLst>
              <a:ext uri="{FF2B5EF4-FFF2-40B4-BE49-F238E27FC236}">
                <a16:creationId xmlns:a16="http://schemas.microsoft.com/office/drawing/2014/main" id="{BAE213FF-E537-495F-BAB1-B78A4D4A5151}"/>
              </a:ext>
            </a:extLst>
          </p:cNvPr>
          <p:cNvSpPr>
            <a:spLocks noGrp="1"/>
          </p:cNvSpPr>
          <p:nvPr/>
        </p:nvSpPr>
        <p:spPr>
          <a:xfrm>
            <a:off x="685800" y="1962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四种组合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四种组合-block-body">
            <a:extLst>
              <a:ext uri="{FF2B5EF4-FFF2-40B4-BE49-F238E27FC236}">
                <a16:creationId xmlns:a16="http://schemas.microsoft.com/office/drawing/2014/main" id="{5A418814-0218-4636-A1DF-A4AE53DF84F7}"/>
              </a:ext>
            </a:extLst>
          </p:cNvPr>
          <p:cNvSpPr>
            <a:spLocks noGrp="1"/>
          </p:cNvSpPr>
          <p:nvPr/>
        </p:nvSpPr>
        <p:spPr>
          <a:xfrm>
            <a:off x="685800" y="22288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Hierarchical × Hierarchical：51% (19/37)。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Hierarchical × Flat：70% (26/37)。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Flat × Hierarchical：49% (18/37)。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Flat × Flat：70% (26/37)。</a:t>
            </a:r>
          </a:p>
        </p:txBody>
      </p:sp>
      <p:sp>
        <p:nvSpPr>
          <p:cNvPr id="7" name="主要发现-block-title">
            <a:extLst>
              <a:ext uri="{FF2B5EF4-FFF2-40B4-BE49-F238E27FC236}">
                <a16:creationId xmlns:a16="http://schemas.microsoft.com/office/drawing/2014/main" id="{EDB60C35-7865-4905-B8BB-AB4C144A3F17}"/>
              </a:ext>
            </a:extLst>
          </p:cNvPr>
          <p:cNvSpPr>
            <a:spLocks noGrp="1"/>
          </p:cNvSpPr>
          <p:nvPr/>
        </p:nvSpPr>
        <p:spPr>
          <a:xfrm>
            <a:off x="5924550" y="196215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主要发现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主要发现-block-body">
            <a:extLst>
              <a:ext uri="{FF2B5EF4-FFF2-40B4-BE49-F238E27FC236}">
                <a16:creationId xmlns:a16="http://schemas.microsoft.com/office/drawing/2014/main" id="{D1FA2D21-C8C4-482C-928C-87C1B6CE98F4}"/>
              </a:ext>
            </a:extLst>
          </p:cNvPr>
          <p:cNvSpPr>
            <a:spLocks noGrp="1"/>
          </p:cNvSpPr>
          <p:nvPr/>
        </p:nvSpPr>
        <p:spPr>
          <a:xfrm>
            <a:off x="5924550" y="2228850"/>
            <a:ext cx="4762500" cy="2381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Flat Prompt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一直优于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Hierarchical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Prompt，领先约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20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个百分点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numpy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类题目表现最好，Flat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Flat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下达到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16/16。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Shapely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几何任务是主要瓶颈，成功率明显偏低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控制类和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API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类问题介于两者之间，受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prompt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结构影响较大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9148552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图片 36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0"/>
            <a:ext cx="11430000" cy="6429375"/>
          </a:xfrm>
          <a:prstGeom prst="rect">
            <a:avLst/>
          </a:prstGeom>
        </p:spPr>
      </p:pic>
      <p:sp>
        <p:nvSpPr>
          <p:cNvPr id="2" name="06  ERCNL.md-label">
            <a:extLst>
              <a:ext uri="{FF2B5EF4-FFF2-40B4-BE49-F238E27FC236}">
                <a16:creationId xmlns:a16="http://schemas.microsoft.com/office/drawing/2014/main" id="{7D59675B-12FF-4A87-A8A3-D5273D07D958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06  ERCNL.md</a:t>
            </a:r>
          </a:p>
        </p:txBody>
      </p:sp>
      <p:sp>
        <p:nvSpPr>
          <p:cNvPr id="3" name="06  ERCNL.md-title">
            <a:extLst>
              <a:ext uri="{FF2B5EF4-FFF2-40B4-BE49-F238E27FC236}">
                <a16:creationId xmlns:a16="http://schemas.microsoft.com/office/drawing/2014/main" id="{49EEF8F1-B69E-407A-8FC5-0E83EDB30251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Reasoning with Code vs. Natural Language</a:t>
            </a:r>
          </a:p>
        </p:txBody>
      </p:sp>
      <p:sp>
        <p:nvSpPr>
          <p:cNvPr id="4" name="ercnl-task1">
            <a:extLst>
              <a:ext uri="{FF2B5EF4-FFF2-40B4-BE49-F238E27FC236}">
                <a16:creationId xmlns:a16="http://schemas.microsoft.com/office/drawing/2014/main" id="{105B85F0-4F9B-4A56-BEFA-E5BFCD3F2F68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任务一</a:t>
            </a:r>
            <a:r>
              <a:rPr sz="15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：Select</a:t>
            </a:r>
            <a:r>
              <a:rPr sz="15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Object by Spatial Descriptions</a:t>
            </a:r>
          </a:p>
        </p:txBody>
      </p:sp>
      <p:sp>
        <p:nvSpPr>
          <p:cNvPr id="5" name="ercnl-task1-metrics">
            <a:extLst>
              <a:ext uri="{FF2B5EF4-FFF2-40B4-BE49-F238E27FC236}">
                <a16:creationId xmlns:a16="http://schemas.microsoft.com/office/drawing/2014/main" id="{2C9A934E-68CE-4AC4-A18D-765660B077F3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85.7%</a:t>
            </a:r>
          </a:p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of Thought 100%</a:t>
            </a:r>
          </a:p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 53.6%</a:t>
            </a:r>
          </a:p>
        </p:txBody>
      </p:sp>
      <p:sp>
        <p:nvSpPr>
          <p:cNvPr id="6" name="ercnl-task2">
            <a:extLst>
              <a:ext uri="{FF2B5EF4-FFF2-40B4-BE49-F238E27FC236}">
                <a16:creationId xmlns:a16="http://schemas.microsoft.com/office/drawing/2014/main" id="{064F7B83-7700-41C1-95DD-F8EBD1A0D3D9}"/>
              </a:ext>
            </a:extLst>
          </p:cNvPr>
          <p:cNvSpPr>
            <a:spLocks noGrp="1"/>
          </p:cNvSpPr>
          <p:nvPr/>
        </p:nvSpPr>
        <p:spPr>
          <a:xfrm>
            <a:off x="5924550" y="15240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任务二：Select</a:t>
            </a:r>
            <a:r>
              <a:rPr sz="200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Positions by Spatial Descriptions</a:t>
            </a:r>
          </a:p>
        </p:txBody>
      </p:sp>
      <p:sp>
        <p:nvSpPr>
          <p:cNvPr id="7" name="ercnl-task2-metrics">
            <a:extLst>
              <a:ext uri="{FF2B5EF4-FFF2-40B4-BE49-F238E27FC236}">
                <a16:creationId xmlns:a16="http://schemas.microsoft.com/office/drawing/2014/main" id="{1A54B6CB-A565-4EF5-A663-127A8C25C2A7}"/>
              </a:ext>
            </a:extLst>
          </p:cNvPr>
          <p:cNvSpPr>
            <a:spLocks noGrp="1"/>
          </p:cNvSpPr>
          <p:nvPr/>
        </p:nvSpPr>
        <p:spPr>
          <a:xfrm>
            <a:off x="5924550" y="1828800"/>
            <a:ext cx="4762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 60.9%</a:t>
            </a:r>
          </a:p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Chain of Thought 52.2%</a:t>
            </a:r>
          </a:p>
          <a:p>
            <a:pPr algn="l">
              <a:defRPr sz="1800" b="1">
                <a:solidFill>
                  <a:srgbClr val="1F2937"/>
                </a:solidFill>
              </a:defRPr>
            </a:pPr>
            <a:r>
              <a:rPr sz="180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 30.4%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5D97C1C-DBB0-4C3C-9E4B-C6BAA94CAD3F}"/>
              </a:ext>
            </a:extLst>
          </p:cNvPr>
          <p:cNvSpPr>
            <a:spLocks noGrp="1"/>
          </p:cNvSpPr>
          <p:nvPr/>
        </p:nvSpPr>
        <p:spPr>
          <a:xfrm>
            <a:off x="533400" y="1868169"/>
            <a:ext cx="10363200" cy="1502411"/>
          </a:xfrm>
          <a:prstGeom prst="rect">
            <a:avLst/>
          </a:prstGeom>
          <a:solidFill>
            <a:srgbClr val="FFFFFF"/>
          </a:solidFill>
          <a:ln w="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A8B5B55A-DABE-4344-820F-6DCB4A5434F1}"/>
              </a:ext>
            </a:extLst>
          </p:cNvPr>
          <p:cNvSpPr>
            <a:spLocks noGrp="1"/>
          </p:cNvSpPr>
          <p:nvPr/>
        </p:nvSpPr>
        <p:spPr>
          <a:xfrm>
            <a:off x="685800" y="18288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任务一结果</a:t>
            </a:r>
            <a:endParaRPr sz="135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61C300DD-3600-441A-B053-829689228F62}"/>
              </a:ext>
            </a:extLst>
          </p:cNvPr>
          <p:cNvSpPr>
            <a:spLocks noGrp="1"/>
          </p:cNvSpPr>
          <p:nvPr/>
        </p:nvSpPr>
        <p:spPr>
          <a:xfrm>
            <a:off x="685800" y="2114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34A8C2DD-0C75-4F46-AA2A-301F14754C9B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A1EB724D-4772-47CB-BF0B-22E5CCE87C6D}"/>
              </a:ext>
            </a:extLst>
          </p:cNvPr>
          <p:cNvSpPr>
            <a:spLocks noGrp="1"/>
          </p:cNvSpPr>
          <p:nvPr/>
        </p:nvSpPr>
        <p:spPr>
          <a:xfrm>
            <a:off x="1524000" y="2133600"/>
            <a:ext cx="2873350" cy="247650"/>
          </a:xfrm>
          <a:prstGeom prst="rect">
            <a:avLst/>
          </a:prstGeom>
          <a:solidFill>
            <a:srgbClr val="B23A2A"/>
          </a:solidFill>
          <a:ln w="9525">
            <a:solidFill>
              <a:srgbClr val="B23A2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7826A0EE-BA10-4D64-A4F7-049AD5FD9E03}"/>
              </a:ext>
            </a:extLst>
          </p:cNvPr>
          <p:cNvSpPr>
            <a:spLocks noGrp="1"/>
          </p:cNvSpPr>
          <p:nvPr/>
        </p:nvSpPr>
        <p:spPr>
          <a:xfrm>
            <a:off x="4953000" y="2124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85.7%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646C7A75-7455-4806-AF75-3AD53C04398C}"/>
              </a:ext>
            </a:extLst>
          </p:cNvPr>
          <p:cNvSpPr>
            <a:spLocks noGrp="1"/>
          </p:cNvSpPr>
          <p:nvPr/>
        </p:nvSpPr>
        <p:spPr>
          <a:xfrm>
            <a:off x="685800" y="2495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endParaRPr sz="1050" b="1" dirty="0">
              <a:solidFill>
                <a:srgbClr val="4B5563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81A16E7F-6B49-41E2-99B3-C4E644E47FAD}"/>
              </a:ext>
            </a:extLst>
          </p:cNvPr>
          <p:cNvSpPr>
            <a:spLocks noGrp="1"/>
          </p:cNvSpPr>
          <p:nvPr/>
        </p:nvSpPr>
        <p:spPr>
          <a:xfrm>
            <a:off x="1524000" y="2514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9CF7B39A-C74C-4C7C-ADB1-FA8B78659CFF}"/>
              </a:ext>
            </a:extLst>
          </p:cNvPr>
          <p:cNvSpPr>
            <a:spLocks noGrp="1"/>
          </p:cNvSpPr>
          <p:nvPr/>
        </p:nvSpPr>
        <p:spPr>
          <a:xfrm>
            <a:off x="1524000" y="2514600"/>
            <a:ext cx="3352800" cy="247650"/>
          </a:xfrm>
          <a:prstGeom prst="rect">
            <a:avLst/>
          </a:prstGeom>
          <a:solidFill>
            <a:srgbClr val="7F180E"/>
          </a:solidFill>
          <a:ln w="9525">
            <a:solidFill>
              <a:srgbClr val="7F180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B5658A79-0E6F-4C19-8A84-EB2A579C594D}"/>
              </a:ext>
            </a:extLst>
          </p:cNvPr>
          <p:cNvSpPr>
            <a:spLocks noGrp="1"/>
          </p:cNvSpPr>
          <p:nvPr/>
        </p:nvSpPr>
        <p:spPr>
          <a:xfrm>
            <a:off x="4953000" y="2505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100%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4DC5094A-DBD8-419F-B408-1A5E42D86C6C}"/>
              </a:ext>
            </a:extLst>
          </p:cNvPr>
          <p:cNvSpPr>
            <a:spLocks noGrp="1"/>
          </p:cNvSpPr>
          <p:nvPr/>
        </p:nvSpPr>
        <p:spPr>
          <a:xfrm>
            <a:off x="685800" y="2876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A818ECED-9FBE-4CC6-9C5C-36A4F9C9D773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5686273F-3485-4896-B1C6-C0DD47A4CFE7}"/>
              </a:ext>
            </a:extLst>
          </p:cNvPr>
          <p:cNvSpPr>
            <a:spLocks noGrp="1"/>
          </p:cNvSpPr>
          <p:nvPr/>
        </p:nvSpPr>
        <p:spPr>
          <a:xfrm>
            <a:off x="1524000" y="2895600"/>
            <a:ext cx="1797101" cy="247650"/>
          </a:xfrm>
          <a:prstGeom prst="rect">
            <a:avLst/>
          </a:prstGeom>
          <a:solidFill>
            <a:srgbClr val="D06B5B"/>
          </a:solidFill>
          <a:ln w="9525">
            <a:solidFill>
              <a:srgbClr val="D06B5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90B28FC-FB33-4B2F-A17D-D5E94F464DB7}"/>
              </a:ext>
            </a:extLst>
          </p:cNvPr>
          <p:cNvSpPr>
            <a:spLocks noGrp="1"/>
          </p:cNvSpPr>
          <p:nvPr/>
        </p:nvSpPr>
        <p:spPr>
          <a:xfrm>
            <a:off x="4953000" y="2886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53.6%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C3E2E420-39C1-461B-9808-EDD338695187}"/>
              </a:ext>
            </a:extLst>
          </p:cNvPr>
          <p:cNvSpPr>
            <a:spLocks noGrp="1"/>
          </p:cNvSpPr>
          <p:nvPr/>
        </p:nvSpPr>
        <p:spPr>
          <a:xfrm>
            <a:off x="5924550" y="1828800"/>
            <a:ext cx="46863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1">
                <a:solidFill>
                  <a:srgbClr val="7F180E"/>
                </a:solidFill>
              </a:defRPr>
            </a:pPr>
            <a:r>
              <a:rPr sz="135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任务二结果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C61DC4E6-E903-4B04-B345-11DBF704F060}"/>
              </a:ext>
            </a:extLst>
          </p:cNvPr>
          <p:cNvSpPr>
            <a:spLocks noGrp="1"/>
          </p:cNvSpPr>
          <p:nvPr/>
        </p:nvSpPr>
        <p:spPr>
          <a:xfrm>
            <a:off x="5924550" y="2114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Direct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FD7A8C4-6623-4DD5-8BE8-FE3EDB7BD458}"/>
              </a:ext>
            </a:extLst>
          </p:cNvPr>
          <p:cNvSpPr>
            <a:spLocks noGrp="1"/>
          </p:cNvSpPr>
          <p:nvPr/>
        </p:nvSpPr>
        <p:spPr>
          <a:xfrm>
            <a:off x="6762750" y="2133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ACD04456-7ADF-4619-9CAD-8AC7C4CEBE0F}"/>
              </a:ext>
            </a:extLst>
          </p:cNvPr>
          <p:cNvSpPr>
            <a:spLocks noGrp="1"/>
          </p:cNvSpPr>
          <p:nvPr/>
        </p:nvSpPr>
        <p:spPr>
          <a:xfrm>
            <a:off x="6762750" y="2133600"/>
            <a:ext cx="2041855" cy="247650"/>
          </a:xfrm>
          <a:prstGeom prst="rect">
            <a:avLst/>
          </a:prstGeom>
          <a:solidFill>
            <a:srgbClr val="B23A2A"/>
          </a:solidFill>
          <a:ln w="9525">
            <a:solidFill>
              <a:srgbClr val="B23A2A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19CCA0E4-6AA8-4A07-A379-1BE0DD316C97}"/>
              </a:ext>
            </a:extLst>
          </p:cNvPr>
          <p:cNvSpPr>
            <a:spLocks noGrp="1"/>
          </p:cNvSpPr>
          <p:nvPr/>
        </p:nvSpPr>
        <p:spPr>
          <a:xfrm>
            <a:off x="10191750" y="2124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60.9%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F5083BE-52F4-41BD-AF15-A2C1C3B56A3D}"/>
              </a:ext>
            </a:extLst>
          </p:cNvPr>
          <p:cNvSpPr>
            <a:spLocks noGrp="1"/>
          </p:cNvSpPr>
          <p:nvPr/>
        </p:nvSpPr>
        <p:spPr>
          <a:xfrm>
            <a:off x="5924550" y="2495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7AFDBFC0-0024-415B-ACA1-49D3AA5CE36F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C86D32A6-37BA-47FE-9AAE-C37AD4DD5027}"/>
              </a:ext>
            </a:extLst>
          </p:cNvPr>
          <p:cNvSpPr>
            <a:spLocks noGrp="1"/>
          </p:cNvSpPr>
          <p:nvPr/>
        </p:nvSpPr>
        <p:spPr>
          <a:xfrm>
            <a:off x="6762750" y="2514600"/>
            <a:ext cx="1750162" cy="247650"/>
          </a:xfrm>
          <a:prstGeom prst="rect">
            <a:avLst/>
          </a:prstGeom>
          <a:solidFill>
            <a:srgbClr val="7F180E"/>
          </a:solidFill>
          <a:ln w="9525">
            <a:solidFill>
              <a:srgbClr val="7F180E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4B974AC-C2CB-42FA-B1B8-825DC6F34F85}"/>
              </a:ext>
            </a:extLst>
          </p:cNvPr>
          <p:cNvSpPr>
            <a:spLocks noGrp="1"/>
          </p:cNvSpPr>
          <p:nvPr/>
        </p:nvSpPr>
        <p:spPr>
          <a:xfrm>
            <a:off x="10191750" y="2505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52.2%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A83AB17B-F3D7-48E6-811B-EF1C2CB17FA8}"/>
              </a:ext>
            </a:extLst>
          </p:cNvPr>
          <p:cNvSpPr>
            <a:spLocks noGrp="1"/>
          </p:cNvSpPr>
          <p:nvPr/>
        </p:nvSpPr>
        <p:spPr>
          <a:xfrm>
            <a:off x="5924550" y="2876550"/>
            <a:ext cx="762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4B5563"/>
                </a:solidFill>
              </a:defRPr>
            </a:pPr>
            <a:r>
              <a:rPr sz="1050" b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LMP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id="{BD5B83C1-E9A4-4CAF-9C4D-5A5C89DB0A5C}"/>
              </a:ext>
            </a:extLst>
          </p:cNvPr>
          <p:cNvSpPr>
            <a:spLocks noGrp="1"/>
          </p:cNvSpPr>
          <p:nvPr/>
        </p:nvSpPr>
        <p:spPr>
          <a:xfrm>
            <a:off x="6762750" y="2895600"/>
            <a:ext cx="3352800" cy="247650"/>
          </a:xfrm>
          <a:prstGeom prst="rect">
            <a:avLst/>
          </a:prstGeom>
          <a:solidFill>
            <a:srgbClr val="F3F4F6"/>
          </a:solidFill>
          <a:ln w="9525">
            <a:solidFill>
              <a:srgbClr val="E5E7E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633F9762-2F4B-4DBE-96E2-242B62F4C32F}"/>
              </a:ext>
            </a:extLst>
          </p:cNvPr>
          <p:cNvSpPr>
            <a:spLocks noGrp="1"/>
          </p:cNvSpPr>
          <p:nvPr/>
        </p:nvSpPr>
        <p:spPr>
          <a:xfrm>
            <a:off x="6762750" y="2895600"/>
            <a:ext cx="1019251" cy="247650"/>
          </a:xfrm>
          <a:prstGeom prst="rect">
            <a:avLst/>
          </a:prstGeom>
          <a:solidFill>
            <a:srgbClr val="D06B5B"/>
          </a:solidFill>
          <a:ln w="9525">
            <a:solidFill>
              <a:srgbClr val="D06B5B"/>
            </a:solidFill>
            <a:prstDash val="solid"/>
          </a:ln>
        </p:spPr>
        <p:txBody>
          <a:bodyPr/>
          <a:lstStyle/>
          <a:p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4597383D-F6B4-4F25-BC6C-BB54D314EFA6}"/>
              </a:ext>
            </a:extLst>
          </p:cNvPr>
          <p:cNvSpPr>
            <a:spLocks noGrp="1"/>
          </p:cNvSpPr>
          <p:nvPr/>
        </p:nvSpPr>
        <p:spPr>
          <a:xfrm>
            <a:off x="10191750" y="2886075"/>
            <a:ext cx="5334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900" b="1">
                <a:solidFill>
                  <a:srgbClr val="7F180E"/>
                </a:solidFill>
              </a:defRPr>
            </a:pPr>
            <a:r>
              <a:rPr sz="900" b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30.4%</a:t>
            </a:r>
          </a:p>
        </p:txBody>
      </p:sp>
      <p:sp>
        <p:nvSpPr>
          <p:cNvPr id="35" name="观察-block-title">
            <a:extLst>
              <a:ext uri="{FF2B5EF4-FFF2-40B4-BE49-F238E27FC236}">
                <a16:creationId xmlns:a16="http://schemas.microsoft.com/office/drawing/2014/main" id="{6E64C2CF-650A-4D76-A2B7-28B7BABA7D14}"/>
              </a:ext>
            </a:extLst>
          </p:cNvPr>
          <p:cNvSpPr>
            <a:spLocks noGrp="1"/>
          </p:cNvSpPr>
          <p:nvPr/>
        </p:nvSpPr>
        <p:spPr>
          <a:xfrm>
            <a:off x="647700" y="3399155"/>
            <a:ext cx="990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观察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观察-block-body">
            <a:extLst>
              <a:ext uri="{FF2B5EF4-FFF2-40B4-BE49-F238E27FC236}">
                <a16:creationId xmlns:a16="http://schemas.microsoft.com/office/drawing/2014/main" id="{80EEF5BC-138E-4225-96E6-578A9CA356FE}"/>
              </a:ext>
            </a:extLst>
          </p:cNvPr>
          <p:cNvSpPr>
            <a:spLocks noGrp="1"/>
          </p:cNvSpPr>
          <p:nvPr/>
        </p:nvSpPr>
        <p:spPr>
          <a:xfrm>
            <a:off x="685800" y="3771900"/>
            <a:ext cx="9906000" cy="1733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CoT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在第一任务上最强，说明空间推理受益于显式中间步骤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Direct Language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在第一任务已足够好，但第二任务对精确位置输出更敏感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LMP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受代码格式混入、函数生成不稳定和几何函数定义不完整影响最明显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适配工作包括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system_prompt、去除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markdown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围栏、过滤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Unicode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数学符号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6851911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rcRect t="904" b="904"/>
          <a:stretch>
            <a:fillRect/>
          </a:stretch>
        </p:blipFill>
        <p:spPr>
          <a:xfrm>
            <a:off x="0" y="-1"/>
            <a:ext cx="11430000" cy="6429375"/>
          </a:xfrm>
          <a:prstGeom prst="rect">
            <a:avLst/>
          </a:prstGeom>
        </p:spPr>
      </p:pic>
      <p:sp>
        <p:nvSpPr>
          <p:cNvPr id="2" name="07  human_eval_results.md-label">
            <a:extLst>
              <a:ext uri="{FF2B5EF4-FFF2-40B4-BE49-F238E27FC236}">
                <a16:creationId xmlns:a16="http://schemas.microsoft.com/office/drawing/2014/main" id="{67E896C1-9873-4D27-B5F6-EB28A8474F96}"/>
              </a:ext>
            </a:extLst>
          </p:cNvPr>
          <p:cNvSpPr>
            <a:spLocks noGrp="1"/>
          </p:cNvSpPr>
          <p:nvPr/>
        </p:nvSpPr>
        <p:spPr>
          <a:xfrm>
            <a:off x="647700" y="533400"/>
            <a:ext cx="6096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050" b="1">
                <a:solidFill>
                  <a:srgbClr val="A92617"/>
                </a:solidFill>
              </a:defRPr>
            </a:pPr>
            <a:r>
              <a:rPr sz="1050" b="1">
                <a:solidFill>
                  <a:srgbClr val="A9261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07  human_eval_results.md</a:t>
            </a:r>
          </a:p>
        </p:txBody>
      </p:sp>
      <p:sp>
        <p:nvSpPr>
          <p:cNvPr id="3" name="07  human_eval_results.md-title">
            <a:extLst>
              <a:ext uri="{FF2B5EF4-FFF2-40B4-BE49-F238E27FC236}">
                <a16:creationId xmlns:a16="http://schemas.microsoft.com/office/drawing/2014/main" id="{CACF3587-0F1B-4B97-8A43-7A3C0F2569A2}"/>
              </a:ext>
            </a:extLst>
          </p:cNvPr>
          <p:cNvSpPr>
            <a:spLocks noGrp="1"/>
          </p:cNvSpPr>
          <p:nvPr/>
        </p:nvSpPr>
        <p:spPr>
          <a:xfrm>
            <a:off x="647700" y="781050"/>
            <a:ext cx="885825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2550" b="1">
                <a:solidFill>
                  <a:srgbClr val="1F2937"/>
                </a:solidFill>
              </a:defRPr>
            </a:pPr>
            <a:r>
              <a:rPr sz="2550" b="1">
                <a:solidFill>
                  <a:srgbClr val="1F293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HumanEval Benchmark 的评测结论</a:t>
            </a:r>
          </a:p>
        </p:txBody>
      </p:sp>
      <p:sp>
        <p:nvSpPr>
          <p:cNvPr id="4" name="humaneval-zero">
            <a:extLst>
              <a:ext uri="{FF2B5EF4-FFF2-40B4-BE49-F238E27FC236}">
                <a16:creationId xmlns:a16="http://schemas.microsoft.com/office/drawing/2014/main" id="{8D0F9600-B913-46D0-B4D7-DEFC3B61FF24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24765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3150" b="1">
                <a:solidFill>
                  <a:srgbClr val="7F180E"/>
                </a:solidFill>
              </a:defRPr>
            </a:pPr>
            <a:r>
              <a:rPr sz="3150" b="1" dirty="0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 / 164</a:t>
            </a:r>
          </a:p>
        </p:txBody>
      </p:sp>
      <p:sp>
        <p:nvSpPr>
          <p:cNvPr id="5" name="humaneval-zero-label">
            <a:extLst>
              <a:ext uri="{FF2B5EF4-FFF2-40B4-BE49-F238E27FC236}">
                <a16:creationId xmlns:a16="http://schemas.microsoft.com/office/drawing/2014/main" id="{E3F53060-2E3B-4CCF-BD34-827FDC4AFD58}"/>
              </a:ext>
            </a:extLst>
          </p:cNvPr>
          <p:cNvSpPr>
            <a:spLocks noGrp="1"/>
          </p:cNvSpPr>
          <p:nvPr/>
        </p:nvSpPr>
        <p:spPr>
          <a:xfrm>
            <a:off x="723900" y="2095500"/>
            <a:ext cx="2476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已评测分组全部 0 通过</a:t>
            </a:r>
          </a:p>
        </p:txBody>
      </p:sp>
      <p:sp>
        <p:nvSpPr>
          <p:cNvPr id="6" name="失败原因-block-title">
            <a:extLst>
              <a:ext uri="{FF2B5EF4-FFF2-40B4-BE49-F238E27FC236}">
                <a16:creationId xmlns:a16="http://schemas.microsoft.com/office/drawing/2014/main" id="{558B3E5A-3793-40EB-9B9B-7394E01CFAF6}"/>
              </a:ext>
            </a:extLst>
          </p:cNvPr>
          <p:cNvSpPr>
            <a:spLocks noGrp="1"/>
          </p:cNvSpPr>
          <p:nvPr/>
        </p:nvSpPr>
        <p:spPr>
          <a:xfrm>
            <a:off x="685800" y="2590800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失败原因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失败原因-block-body">
            <a:extLst>
              <a:ext uri="{FF2B5EF4-FFF2-40B4-BE49-F238E27FC236}">
                <a16:creationId xmlns:a16="http://schemas.microsoft.com/office/drawing/2014/main" id="{E7E9F291-4780-4BA7-B05A-E7BDF18CCCC4}"/>
              </a:ext>
            </a:extLst>
          </p:cNvPr>
          <p:cNvSpPr>
            <a:spLocks noGrp="1"/>
          </p:cNvSpPr>
          <p:nvPr/>
        </p:nvSpPr>
        <p:spPr>
          <a:xfrm>
            <a:off x="685800" y="2857500"/>
            <a:ext cx="9088120" cy="923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-chat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输出聊天式回复，而不是裸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Python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Markdown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代码围栏和解释文字被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stop token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截断，导致语法不完整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Unicode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符号和示例函数未定义，进一步引发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exec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失败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" name="建议修复-block-title">
            <a:extLst>
              <a:ext uri="{FF2B5EF4-FFF2-40B4-BE49-F238E27FC236}">
                <a16:creationId xmlns:a16="http://schemas.microsoft.com/office/drawing/2014/main" id="{52FBD208-F082-4456-A477-406E627B1D44}"/>
              </a:ext>
            </a:extLst>
          </p:cNvPr>
          <p:cNvSpPr>
            <a:spLocks noGrp="1"/>
          </p:cNvSpPr>
          <p:nvPr/>
        </p:nvSpPr>
        <p:spPr>
          <a:xfrm>
            <a:off x="685800" y="4086225"/>
            <a:ext cx="476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500" b="1">
                <a:solidFill>
                  <a:srgbClr val="7F180E"/>
                </a:solidFill>
              </a:defRPr>
            </a:pPr>
            <a:r>
              <a:rPr sz="2000" b="1" dirty="0" err="1">
                <a:solidFill>
                  <a:srgbClr val="7F180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建议修复</a:t>
            </a:r>
            <a:endParaRPr sz="2000" b="1" dirty="0">
              <a:solidFill>
                <a:srgbClr val="7F180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建议修复-block-body">
            <a:extLst>
              <a:ext uri="{FF2B5EF4-FFF2-40B4-BE49-F238E27FC236}">
                <a16:creationId xmlns:a16="http://schemas.microsoft.com/office/drawing/2014/main" id="{EDF221FC-C159-471C-9C71-ED2B91B9F8A7}"/>
              </a:ext>
            </a:extLst>
          </p:cNvPr>
          <p:cNvSpPr>
            <a:spLocks noGrp="1"/>
          </p:cNvSpPr>
          <p:nvPr/>
        </p:nvSpPr>
        <p:spPr>
          <a:xfrm>
            <a:off x="685800" y="4619624"/>
            <a:ext cx="9088120" cy="923926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切换到更适合代码续写的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deepseek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-coder。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强制模型只输出可执行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Python，禁止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markdown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和解释文字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  <a:p>
            <a:pPr algn="l">
              <a:defRPr sz="1200" b="0">
                <a:solidFill>
                  <a:srgbClr val="4B5563"/>
                </a:solidFill>
              </a:defRPr>
            </a:pP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清理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prompt </a:t>
            </a:r>
            <a:r>
              <a:rPr sz="2000" b="0" dirty="0" err="1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中的示例函数，并重新设计</a:t>
            </a:r>
            <a:r>
              <a:rPr sz="2000" b="0" dirty="0">
                <a:solidFill>
                  <a:srgbClr val="4B556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stop tokens。</a:t>
            </a:r>
          </a:p>
        </p:txBody>
      </p:sp>
    </p:spTree>
    <p:extLst>
      <p:ext uri="{BB962C8B-B14F-4D97-AF65-F5344CB8AC3E}">
        <p14:creationId xmlns:p14="http://schemas.microsoft.com/office/powerpoint/2010/main" val="96351840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717</Words>
  <Application>Microsoft Office PowerPoint</Application>
  <DocSecurity>0</DocSecurity>
  <PresentationFormat>自定义</PresentationFormat>
  <Paragraphs>131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Calibri</vt:lpstr>
      <vt:lpstr>Times New Roman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violet tom</cp:lastModifiedBy>
  <cp:revision>1</cp:revision>
  <dcterms:created xsi:type="dcterms:W3CDTF">2026-07-10T03:08:50Z</dcterms:created>
  <dcterms:modified xsi:type="dcterms:W3CDTF">2026-07-10T07:03:20Z</dcterms:modified>
</cp:coreProperties>
</file>
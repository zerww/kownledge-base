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8"/>
  </p:notesMasterIdLst>
  <p:handoutMasterIdLst>
    <p:handoutMasterId r:id="rId9"/>
  </p:handoutMasterIdLst>
  <p:sldIdLst>
    <p:sldId id="275" r:id="rId3"/>
    <p:sldId id="305" r:id="rId4"/>
    <p:sldId id="306" r:id="rId5"/>
    <p:sldId id="307" r:id="rId6"/>
    <p:sldId id="281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/>
              <a:t>深圳大学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1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2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10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49"/>
          <p:cNvSpPr>
            <a:spLocks noGrp="1"/>
          </p:cNvSpPr>
          <p:nvPr>
            <p:ph type="title"/>
          </p:nvPr>
        </p:nvSpPr>
        <p:spPr>
          <a:xfrm>
            <a:off x="666750" y="4167394"/>
            <a:ext cx="10858500" cy="663575"/>
          </a:xfrm>
        </p:spPr>
        <p:txBody>
          <a:bodyPr/>
          <a:lstStyle/>
          <a:p>
            <a:r>
              <a:rPr lang="zh-CN" altLang="en-US" dirty="0">
                <a:solidFill>
                  <a:srgbClr val="780009"/>
                </a:solidFill>
              </a:rPr>
              <a:t>深圳大学组会汇报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C6F2D9-6978-158B-48FE-73121782E8E5}"/>
              </a:ext>
            </a:extLst>
          </p:cNvPr>
          <p:cNvSpPr txBox="1"/>
          <p:nvPr/>
        </p:nvSpPr>
        <p:spPr>
          <a:xfrm>
            <a:off x="223520" y="376735"/>
            <a:ext cx="565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as policies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558E38C-96C6-62CA-2ACB-1AB533FD1741}"/>
              </a:ext>
            </a:extLst>
          </p:cNvPr>
          <p:cNvGrpSpPr/>
          <p:nvPr/>
        </p:nvGrpSpPr>
        <p:grpSpPr>
          <a:xfrm>
            <a:off x="1884680" y="1280191"/>
            <a:ext cx="8001000" cy="2384636"/>
            <a:chOff x="1833880" y="1574831"/>
            <a:chExt cx="7767322" cy="2384636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41FD1C0-1715-0B2B-AA18-271CE934D22B}"/>
                </a:ext>
              </a:extLst>
            </p:cNvPr>
            <p:cNvGrpSpPr/>
            <p:nvPr/>
          </p:nvGrpSpPr>
          <p:grpSpPr>
            <a:xfrm>
              <a:off x="1833880" y="1574831"/>
              <a:ext cx="7767322" cy="2106384"/>
              <a:chOff x="1833880" y="1574831"/>
              <a:chExt cx="7767322" cy="2106384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2C66691C-0F72-2B50-7FC4-DE0D1439B709}"/>
                  </a:ext>
                </a:extLst>
              </p:cNvPr>
              <p:cNvGrpSpPr/>
              <p:nvPr/>
            </p:nvGrpSpPr>
            <p:grpSpPr>
              <a:xfrm>
                <a:off x="1986280" y="1574831"/>
                <a:ext cx="7614922" cy="1854169"/>
                <a:chOff x="2260600" y="1523554"/>
                <a:chExt cx="7614922" cy="1854169"/>
              </a:xfrm>
            </p:grpSpPr>
            <p:pic>
              <p:nvPicPr>
                <p:cNvPr id="19" name="图形 18" descr="机器人 纯色填充">
                  <a:extLst>
                    <a:ext uri="{FF2B5EF4-FFF2-40B4-BE49-F238E27FC236}">
                      <a16:creationId xmlns:a16="http://schemas.microsoft.com/office/drawing/2014/main" id="{89EAB7CD-EC14-6DD0-385B-F45EF76100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38162" y="1757203"/>
                  <a:ext cx="1737360" cy="1620520"/>
                </a:xfrm>
                <a:prstGeom prst="rect">
                  <a:avLst/>
                </a:prstGeom>
              </p:spPr>
            </p:pic>
            <p:pic>
              <p:nvPicPr>
                <p:cNvPr id="21" name="图形 20" descr="眼睛 纯色填充">
                  <a:extLst>
                    <a:ext uri="{FF2B5EF4-FFF2-40B4-BE49-F238E27FC236}">
                      <a16:creationId xmlns:a16="http://schemas.microsoft.com/office/drawing/2014/main" id="{6607AB7C-03DA-FCB9-7BE3-E2BDA40A71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60600" y="1523554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1383447D-6891-44A9-A597-4216AE3C06EE}"/>
                    </a:ext>
                  </a:extLst>
                </p:cNvPr>
                <p:cNvSpPr/>
                <p:nvPr/>
              </p:nvSpPr>
              <p:spPr>
                <a:xfrm>
                  <a:off x="4155440" y="2201545"/>
                  <a:ext cx="1280160" cy="8343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LLM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" name="图形 23" descr="莫尔斯电码 轮廓">
                  <a:extLst>
                    <a:ext uri="{FF2B5EF4-FFF2-40B4-BE49-F238E27FC236}">
                      <a16:creationId xmlns:a16="http://schemas.microsoft.com/office/drawing/2014/main" id="{D096DD0B-6F13-A8A0-766B-6F6BBD4B2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243322" y="2161540"/>
                  <a:ext cx="1087118" cy="914400"/>
                </a:xfrm>
                <a:prstGeom prst="rect">
                  <a:avLst/>
                </a:prstGeom>
              </p:spPr>
            </p:pic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79C5866C-AC8A-B6A8-2F92-BD2B54EBFB59}"/>
                    </a:ext>
                  </a:extLst>
                </p:cNvPr>
                <p:cNvCxnSpPr>
                  <a:cxnSpLocks/>
                  <a:stCxn id="21" idx="3"/>
                  <a:endCxn id="22" idx="1"/>
                </p:cNvCxnSpPr>
                <p:nvPr/>
              </p:nvCxnSpPr>
              <p:spPr>
                <a:xfrm>
                  <a:off x="3175000" y="1980754"/>
                  <a:ext cx="980440" cy="6379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3E789E58-A757-B752-5405-848679426770}"/>
                    </a:ext>
                  </a:extLst>
                </p:cNvPr>
                <p:cNvCxnSpPr>
                  <a:cxnSpLocks/>
                  <a:endCxn id="24" idx="3"/>
                </p:cNvCxnSpPr>
                <p:nvPr/>
              </p:nvCxnSpPr>
              <p:spPr>
                <a:xfrm>
                  <a:off x="5242560" y="2618740"/>
                  <a:ext cx="100076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7A416409-5E59-C896-466C-00B8B2DE4528}"/>
                    </a:ext>
                  </a:extLst>
                </p:cNvPr>
                <p:cNvCxnSpPr>
                  <a:cxnSpLocks/>
                  <a:stCxn id="24" idx="1"/>
                </p:cNvCxnSpPr>
                <p:nvPr/>
              </p:nvCxnSpPr>
              <p:spPr>
                <a:xfrm>
                  <a:off x="7330440" y="2618740"/>
                  <a:ext cx="91947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1B7B4F6-FC94-3666-9FE0-1E4866A64C61}"/>
                  </a:ext>
                </a:extLst>
              </p:cNvPr>
              <p:cNvSpPr txBox="1"/>
              <p:nvPr/>
            </p:nvSpPr>
            <p:spPr>
              <a:xfrm>
                <a:off x="1833880" y="2304565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视觉编码器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B21F89F-48EA-8B73-CCE7-9E0B515BA28C}"/>
                  </a:ext>
                </a:extLst>
              </p:cNvPr>
              <p:cNvSpPr txBox="1"/>
              <p:nvPr/>
            </p:nvSpPr>
            <p:spPr>
              <a:xfrm>
                <a:off x="3881120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大语言模型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325E86E-6ED3-88B6-F676-9284EF15A6ED}"/>
                  </a:ext>
                </a:extLst>
              </p:cNvPr>
              <p:cNvSpPr txBox="1"/>
              <p:nvPr/>
            </p:nvSpPr>
            <p:spPr>
              <a:xfrm>
                <a:off x="5808981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Python</a:t>
                </a:r>
                <a:r>
                  <a:rPr lang="zh-CN" altLang="en-US" dirty="0"/>
                  <a:t>代码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9BEBEFE-0582-B52C-FE7B-0177C694824C}"/>
                  </a:ext>
                </a:extLst>
              </p:cNvPr>
              <p:cNvSpPr txBox="1"/>
              <p:nvPr/>
            </p:nvSpPr>
            <p:spPr>
              <a:xfrm>
                <a:off x="8206740" y="3311883"/>
                <a:ext cx="1201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具身控制</a:t>
                </a:r>
              </a:p>
            </p:txBody>
          </p:sp>
        </p:grpSp>
        <p:pic>
          <p:nvPicPr>
            <p:cNvPr id="50" name="图形 49" descr="语音 轮廓">
              <a:extLst>
                <a:ext uri="{FF2B5EF4-FFF2-40B4-BE49-F238E27FC236}">
                  <a16:creationId xmlns:a16="http://schemas.microsoft.com/office/drawing/2014/main" id="{614D998C-E8D1-C1A6-4C1B-F196B592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14221" y="2729470"/>
              <a:ext cx="914400" cy="914400"/>
            </a:xfrm>
            <a:prstGeom prst="rect">
              <a:avLst/>
            </a:prstGeom>
          </p:spPr>
        </p:pic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A10C3C74-5E69-ABCE-C0CF-0CC1B5B55B46}"/>
                </a:ext>
              </a:extLst>
            </p:cNvPr>
            <p:cNvCxnSpPr>
              <a:endCxn id="22" idx="1"/>
            </p:cNvCxnSpPr>
            <p:nvPr/>
          </p:nvCxnSpPr>
          <p:spPr>
            <a:xfrm flipV="1">
              <a:off x="2928621" y="2670017"/>
              <a:ext cx="952499" cy="516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A0771E7-C389-DF70-B59F-5A1091E81A14}"/>
                </a:ext>
              </a:extLst>
            </p:cNvPr>
            <p:cNvSpPr txBox="1"/>
            <p:nvPr/>
          </p:nvSpPr>
          <p:spPr>
            <a:xfrm>
              <a:off x="1936750" y="3590135"/>
              <a:ext cx="12014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自然语言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7D39D82A-564C-3C81-6DA0-720B86DEED18}"/>
              </a:ext>
            </a:extLst>
          </p:cNvPr>
          <p:cNvSpPr txBox="1"/>
          <p:nvPr/>
        </p:nvSpPr>
        <p:spPr>
          <a:xfrm>
            <a:off x="1615440" y="3979647"/>
            <a:ext cx="932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核心能力</a:t>
            </a:r>
            <a:r>
              <a:rPr lang="en-US" altLang="zh-CN" dirty="0"/>
              <a:t>:</a:t>
            </a:r>
            <a:r>
              <a:rPr lang="zh-CN" altLang="en-US" dirty="0"/>
              <a:t> 给定自然语言指令，让</a:t>
            </a:r>
            <a:r>
              <a:rPr lang="en-US" altLang="zh-CN" dirty="0"/>
              <a:t>LLM </a:t>
            </a:r>
            <a:r>
              <a:rPr lang="zh-CN" altLang="en-US" dirty="0"/>
              <a:t>编写机器人策略代码 </a:t>
            </a:r>
            <a:r>
              <a:rPr lang="en-US" altLang="zh-CN" dirty="0"/>
              <a:t>+ </a:t>
            </a:r>
            <a:r>
              <a:rPr lang="zh-CN" altLang="en-US" dirty="0"/>
              <a:t>分层次代码生成</a:t>
            </a:r>
            <a:r>
              <a:rPr lang="en-US" altLang="zh-CN" dirty="0"/>
              <a:t>(</a:t>
            </a:r>
            <a:r>
              <a:rPr lang="zh-CN" altLang="en-US" dirty="0"/>
              <a:t>递归定义未定义的函数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16F5B1B-DA46-CC9A-4D24-F70EF4835893}"/>
              </a:ext>
            </a:extLst>
          </p:cNvPr>
          <p:cNvSpPr txBox="1"/>
          <p:nvPr/>
        </p:nvSpPr>
        <p:spPr>
          <a:xfrm>
            <a:off x="1615440" y="4691789"/>
            <a:ext cx="8036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策略能力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）展现空间几何推理能力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</a:t>
            </a:r>
            <a:r>
              <a:rPr lang="zh-CN" altLang="en-US" dirty="0"/>
              <a:t>）泛化到新指令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iii</a:t>
            </a:r>
            <a:r>
              <a:rPr lang="zh-CN" altLang="en-US" dirty="0"/>
              <a:t>）根据上下文（即行为常识）为模糊的描述（如“更快”）指定精确的数值（如速度）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0E632F-02B8-70EA-7640-28929B18A548}"/>
              </a:ext>
            </a:extLst>
          </p:cNvPr>
          <p:cNvSpPr txBox="1"/>
          <p:nvPr/>
        </p:nvSpPr>
        <p:spPr>
          <a:xfrm>
            <a:off x="528320" y="467360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901DF3-6E7F-7A23-496F-7567B4D9FB3A}"/>
              </a:ext>
            </a:extLst>
          </p:cNvPr>
          <p:cNvSpPr txBox="1"/>
          <p:nvPr/>
        </p:nvSpPr>
        <p:spPr>
          <a:xfrm>
            <a:off x="1463040" y="1362115"/>
            <a:ext cx="831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策略代码组成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经典逻辑结构，如序列、选择（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）和循环（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for/while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）来在运行时组装新行为。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第三方库，如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插值点、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Shapely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分析和生成形状，用于空间几何推理等。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可以是层次化的：通过提示递归地定义新函数，随时间积累自己的库，并自我构建动态代码库。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230E95-AED7-B8A5-3938-4AEB6B1B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87" y="3429000"/>
            <a:ext cx="3397425" cy="18352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C6938B-3261-EB2D-49DD-30839A796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14" y="3393440"/>
            <a:ext cx="4496031" cy="8572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91CF72-4B10-B50D-3891-D5DF6FB9DCE3}"/>
              </a:ext>
            </a:extLst>
          </p:cNvPr>
          <p:cNvSpPr txBox="1"/>
          <p:nvPr/>
        </p:nvSpPr>
        <p:spPr>
          <a:xfrm>
            <a:off x="1463040" y="5537200"/>
            <a:ext cx="251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语言模型低级代码示例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D6FD3F-FE08-D48D-6B75-ADB8E9892BE0}"/>
              </a:ext>
            </a:extLst>
          </p:cNvPr>
          <p:cNvSpPr txBox="1"/>
          <p:nvPr/>
        </p:nvSpPr>
        <p:spPr>
          <a:xfrm>
            <a:off x="6390640" y="4419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语言模型高级代码示例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BD4BE-06FB-373A-0A26-284583C9B825}"/>
              </a:ext>
            </a:extLst>
          </p:cNvPr>
          <p:cNvSpPr txBox="1"/>
          <p:nvPr/>
        </p:nvSpPr>
        <p:spPr>
          <a:xfrm>
            <a:off x="5486400" y="5413494"/>
            <a:ext cx="536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在程序推理中，变量和函数的命名也是非常重要的！</a:t>
            </a:r>
          </a:p>
        </p:txBody>
      </p:sp>
    </p:spTree>
    <p:extLst>
      <p:ext uri="{BB962C8B-B14F-4D97-AF65-F5344CB8AC3E}">
        <p14:creationId xmlns:p14="http://schemas.microsoft.com/office/powerpoint/2010/main" val="327210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B22D46-601E-7045-BA1C-41C81A19495E}"/>
              </a:ext>
            </a:extLst>
          </p:cNvPr>
          <p:cNvSpPr txBox="1"/>
          <p:nvPr/>
        </p:nvSpPr>
        <p:spPr>
          <a:xfrm>
            <a:off x="416560" y="406400"/>
            <a:ext cx="268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847BA1-39F8-1ACE-D415-8AC79552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74" y="1368350"/>
            <a:ext cx="5097266" cy="35795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2610D7-6ED8-820E-210D-AEC2621A9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778" y="2288140"/>
            <a:ext cx="4750044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0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5f8ada8-d1d5-484b-a646-0693bbf321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202</Words>
  <Application>Microsoft Office PowerPoint</Application>
  <PresentationFormat>宽屏</PresentationFormat>
  <Paragraphs>24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Bebas</vt:lpstr>
      <vt:lpstr>等线</vt:lpstr>
      <vt:lpstr>Arial</vt:lpstr>
      <vt:lpstr>Calibri</vt:lpstr>
      <vt:lpstr>Calibri Light</vt:lpstr>
      <vt:lpstr>Times New Roman</vt:lpstr>
      <vt:lpstr>Office 主题​​</vt:lpstr>
      <vt:lpstr>自定义设计方案</vt:lpstr>
      <vt:lpstr>深圳大学组会汇报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violet tom</cp:lastModifiedBy>
  <cp:revision>228</cp:revision>
  <dcterms:created xsi:type="dcterms:W3CDTF">2018-12-17T16:17:00Z</dcterms:created>
  <dcterms:modified xsi:type="dcterms:W3CDTF">2026-06-28T10:24:57Z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
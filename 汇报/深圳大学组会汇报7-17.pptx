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32"/>
  </p:notesMasterIdLst>
  <p:handoutMasterIdLst>
    <p:handoutMasterId r:id="rId33"/>
  </p:handoutMasterIdLst>
  <p:sldIdLst>
    <p:sldId id="275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6" r:id="rId13"/>
    <p:sldId id="315" r:id="rId14"/>
    <p:sldId id="317" r:id="rId15"/>
    <p:sldId id="318" r:id="rId16"/>
    <p:sldId id="319" r:id="rId17"/>
    <p:sldId id="320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81" r:id="rId31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2418"/>
    <a:srgbClr val="780009"/>
    <a:srgbClr val="B4776D"/>
    <a:srgbClr val="BB010E"/>
    <a:srgbClr val="CC3300"/>
    <a:srgbClr val="CC4226"/>
    <a:srgbClr val="651B13"/>
    <a:srgbClr val="352850"/>
    <a:srgbClr val="885F04"/>
    <a:srgbClr val="192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8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F6B53-9E3B-4C54-8733-630783A95104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F0B8D-DCD7-4156-A67A-F9E102284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1D096-FAED-4D1A-B352-C58DC2C3D816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AA5F0-770B-410C-90B7-ECBA0CF902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封面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6350" y="-14111"/>
            <a:ext cx="12192000" cy="6858001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" y="-26143"/>
            <a:ext cx="12192000" cy="3820891"/>
          </a:xfrm>
          <a:custGeom>
            <a:avLst/>
            <a:gdLst>
              <a:gd name="connsiteX0" fmla="*/ 0 w 12192000"/>
              <a:gd name="connsiteY0" fmla="*/ 0 h 3820891"/>
              <a:gd name="connsiteX1" fmla="*/ 12192000 w 12192000"/>
              <a:gd name="connsiteY1" fmla="*/ 0 h 3820891"/>
              <a:gd name="connsiteX2" fmla="*/ 12192000 w 12192000"/>
              <a:gd name="connsiteY2" fmla="*/ 2822842 h 3820891"/>
              <a:gd name="connsiteX3" fmla="*/ 11920340 w 12192000"/>
              <a:gd name="connsiteY3" fmla="*/ 2925857 h 3820891"/>
              <a:gd name="connsiteX4" fmla="*/ 6096000 w 12192000"/>
              <a:gd name="connsiteY4" fmla="*/ 3820891 h 3820891"/>
              <a:gd name="connsiteX5" fmla="*/ 271660 w 12192000"/>
              <a:gd name="connsiteY5" fmla="*/ 2925857 h 3820891"/>
              <a:gd name="connsiteX6" fmla="*/ 0 w 12192000"/>
              <a:gd name="connsiteY6" fmla="*/ 2822842 h 382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820891">
                <a:moveTo>
                  <a:pt x="0" y="0"/>
                </a:moveTo>
                <a:lnTo>
                  <a:pt x="12192000" y="0"/>
                </a:lnTo>
                <a:lnTo>
                  <a:pt x="12192000" y="2822842"/>
                </a:lnTo>
                <a:lnTo>
                  <a:pt x="11920340" y="2925857"/>
                </a:lnTo>
                <a:cubicBezTo>
                  <a:pt x="10382026" y="3481957"/>
                  <a:pt x="8338529" y="3820891"/>
                  <a:pt x="6096000" y="3820891"/>
                </a:cubicBezTo>
                <a:cubicBezTo>
                  <a:pt x="3853472" y="3820891"/>
                  <a:pt x="1809974" y="3481957"/>
                  <a:pt x="271660" y="2925857"/>
                </a:cubicBezTo>
                <a:lnTo>
                  <a:pt x="0" y="2822842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 userDrawn="1"/>
        </p:nvSpPr>
        <p:spPr>
          <a:xfrm>
            <a:off x="4825750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 userDrawn="1"/>
        </p:nvSpPr>
        <p:spPr>
          <a:xfrm>
            <a:off x="7146086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5792249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rgbClr val="9A2418"/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海湾同学社</a:t>
            </a:r>
            <a:endParaRPr lang="en-US" altLang="zh-CN" dirty="0"/>
          </a:p>
        </p:txBody>
      </p:sp>
      <p:sp>
        <p:nvSpPr>
          <p:cNvPr id="58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5407559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60" name="标题 59"/>
          <p:cNvSpPr>
            <a:spLocks noGrp="1"/>
          </p:cNvSpPr>
          <p:nvPr>
            <p:ph type="title" hasCustomPrompt="1"/>
          </p:nvPr>
        </p:nvSpPr>
        <p:spPr>
          <a:xfrm>
            <a:off x="660400" y="4167394"/>
            <a:ext cx="10858500" cy="663575"/>
          </a:xfrm>
        </p:spPr>
        <p:txBody>
          <a:bodyPr>
            <a:normAutofit/>
          </a:bodyPr>
          <a:lstStyle>
            <a:lvl1pPr algn="ctr">
              <a:defRPr sz="4000" spc="100" baseline="0">
                <a:solidFill>
                  <a:srgbClr val="9A2418"/>
                </a:solidFill>
              </a:defRPr>
            </a:lvl1pPr>
          </a:lstStyle>
          <a:p>
            <a:r>
              <a:rPr lang="zh-CN" altLang="en-US" dirty="0"/>
              <a:t>深圳大学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81" y="1780434"/>
            <a:ext cx="985883" cy="9858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599" y="1649925"/>
            <a:ext cx="2883456" cy="1246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 userDrawn="1"/>
        </p:nvCxnSpPr>
        <p:spPr>
          <a:xfrm>
            <a:off x="3785505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 userDrawn="1"/>
        </p:nvSpPr>
        <p:spPr>
          <a:xfrm>
            <a:off x="4726574" y="3432579"/>
            <a:ext cx="720000" cy="1016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6574" y="2143126"/>
            <a:ext cx="6792326" cy="1035858"/>
          </a:xfrm>
        </p:spPr>
        <p:txBody>
          <a:bodyPr anchor="ctr" anchorCtr="0">
            <a:normAutofit/>
          </a:bodyPr>
          <a:lstStyle>
            <a:lvl1pPr>
              <a:defRPr sz="40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25988" y="3787775"/>
            <a:ext cx="6792912" cy="927100"/>
          </a:xfrm>
        </p:spPr>
        <p:txBody>
          <a:bodyPr lIns="0" anchor="ctr" anchorCtr="0"/>
          <a:lstStyle>
            <a:lvl1pPr marL="0" indent="0">
              <a:buFontTx/>
              <a:buNone/>
              <a:defRPr spc="100" baseline="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9625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4" name="椭圆 3"/>
          <p:cNvSpPr/>
          <p:nvPr userDrawn="1"/>
        </p:nvSpPr>
        <p:spPr>
          <a:xfrm>
            <a:off x="264695" y="121736"/>
            <a:ext cx="613610" cy="613026"/>
          </a:xfrm>
          <a:prstGeom prst="ellipse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60400" y="-1"/>
            <a:ext cx="9301747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666252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底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0152" y="1137493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6" name="PA-任意多边形 56"/>
          <p:cNvSpPr/>
          <p:nvPr userDrawn="1">
            <p:custDataLst>
              <p:tags r:id="rId1"/>
            </p:custDataLst>
          </p:nvPr>
        </p:nvSpPr>
        <p:spPr>
          <a:xfrm>
            <a:off x="-10152" y="0"/>
            <a:ext cx="12192000" cy="4747499"/>
          </a:xfrm>
          <a:custGeom>
            <a:avLst/>
            <a:gdLst>
              <a:gd name="connsiteX0" fmla="*/ 0 w 12192000"/>
              <a:gd name="connsiteY0" fmla="*/ 0 h 4747499"/>
              <a:gd name="connsiteX1" fmla="*/ 12192000 w 12192000"/>
              <a:gd name="connsiteY1" fmla="*/ 0 h 4747499"/>
              <a:gd name="connsiteX2" fmla="*/ 12192000 w 12192000"/>
              <a:gd name="connsiteY2" fmla="*/ 926608 h 4747499"/>
              <a:gd name="connsiteX3" fmla="*/ 12192000 w 12192000"/>
              <a:gd name="connsiteY3" fmla="*/ 1179983 h 4747499"/>
              <a:gd name="connsiteX4" fmla="*/ 12192000 w 12192000"/>
              <a:gd name="connsiteY4" fmla="*/ 3749450 h 4747499"/>
              <a:gd name="connsiteX5" fmla="*/ 11920340 w 12192000"/>
              <a:gd name="connsiteY5" fmla="*/ 3852465 h 4747499"/>
              <a:gd name="connsiteX6" fmla="*/ 6096000 w 12192000"/>
              <a:gd name="connsiteY6" fmla="*/ 4747499 h 4747499"/>
              <a:gd name="connsiteX7" fmla="*/ 271660 w 12192000"/>
              <a:gd name="connsiteY7" fmla="*/ 3852465 h 4747499"/>
              <a:gd name="connsiteX8" fmla="*/ 0 w 12192000"/>
              <a:gd name="connsiteY8" fmla="*/ 3749450 h 4747499"/>
              <a:gd name="connsiteX9" fmla="*/ 0 w 12192000"/>
              <a:gd name="connsiteY9" fmla="*/ 1179983 h 4747499"/>
              <a:gd name="connsiteX10" fmla="*/ 0 w 12192000"/>
              <a:gd name="connsiteY10" fmla="*/ 926608 h 474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747499">
                <a:moveTo>
                  <a:pt x="0" y="0"/>
                </a:moveTo>
                <a:lnTo>
                  <a:pt x="12192000" y="0"/>
                </a:lnTo>
                <a:lnTo>
                  <a:pt x="12192000" y="926608"/>
                </a:lnTo>
                <a:lnTo>
                  <a:pt x="12192000" y="1179983"/>
                </a:lnTo>
                <a:lnTo>
                  <a:pt x="12192000" y="3749450"/>
                </a:lnTo>
                <a:lnTo>
                  <a:pt x="11920340" y="3852465"/>
                </a:lnTo>
                <a:cubicBezTo>
                  <a:pt x="10382026" y="4408565"/>
                  <a:pt x="8338529" y="4747499"/>
                  <a:pt x="6096000" y="4747499"/>
                </a:cubicBezTo>
                <a:cubicBezTo>
                  <a:pt x="3853472" y="4747499"/>
                  <a:pt x="1809974" y="4408565"/>
                  <a:pt x="271660" y="3852465"/>
                </a:cubicBezTo>
                <a:lnTo>
                  <a:pt x="0" y="3749450"/>
                </a:lnTo>
                <a:lnTo>
                  <a:pt x="0" y="1179983"/>
                </a:lnTo>
                <a:lnTo>
                  <a:pt x="0" y="926608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PA-文本框 55"/>
          <p:cNvSpPr txBox="1"/>
          <p:nvPr userDrawn="1">
            <p:custDataLst>
              <p:tags r:id="rId2"/>
            </p:custDataLst>
          </p:nvPr>
        </p:nvSpPr>
        <p:spPr>
          <a:xfrm>
            <a:off x="2234590" y="1982981"/>
            <a:ext cx="7722821" cy="1016280"/>
          </a:xfrm>
          <a:custGeom>
            <a:avLst/>
            <a:gdLst/>
            <a:ahLst/>
            <a:cxnLst/>
            <a:rect l="l" t="t" r="r" b="b"/>
            <a:pathLst>
              <a:path w="7722821" h="1016280">
                <a:moveTo>
                  <a:pt x="6328591" y="239823"/>
                </a:moveTo>
                <a:lnTo>
                  <a:pt x="6273187" y="630821"/>
                </a:lnTo>
                <a:lnTo>
                  <a:pt x="6383997" y="630821"/>
                </a:lnTo>
                <a:close/>
                <a:moveTo>
                  <a:pt x="1537517" y="239823"/>
                </a:moveTo>
                <a:lnTo>
                  <a:pt x="1482112" y="630821"/>
                </a:lnTo>
                <a:lnTo>
                  <a:pt x="1592922" y="630821"/>
                </a:lnTo>
                <a:close/>
                <a:moveTo>
                  <a:pt x="5426443" y="165422"/>
                </a:moveTo>
                <a:lnTo>
                  <a:pt x="5426443" y="482812"/>
                </a:lnTo>
                <a:lnTo>
                  <a:pt x="5516673" y="482812"/>
                </a:lnTo>
                <a:cubicBezTo>
                  <a:pt x="5540418" y="482812"/>
                  <a:pt x="5560602" y="474369"/>
                  <a:pt x="5577223" y="457484"/>
                </a:cubicBezTo>
                <a:cubicBezTo>
                  <a:pt x="5593844" y="440599"/>
                  <a:pt x="5602155" y="420284"/>
                  <a:pt x="5602155" y="396539"/>
                </a:cubicBezTo>
                <a:lnTo>
                  <a:pt x="5602155" y="251695"/>
                </a:lnTo>
                <a:cubicBezTo>
                  <a:pt x="5602155" y="194180"/>
                  <a:pt x="5573661" y="165422"/>
                  <a:pt x="5516673" y="165422"/>
                </a:cubicBezTo>
                <a:close/>
                <a:moveTo>
                  <a:pt x="4861850" y="148801"/>
                </a:moveTo>
                <a:cubicBezTo>
                  <a:pt x="4838105" y="148801"/>
                  <a:pt x="4817790" y="157112"/>
                  <a:pt x="4800905" y="173733"/>
                </a:cubicBezTo>
                <a:cubicBezTo>
                  <a:pt x="4784020" y="190354"/>
                  <a:pt x="4775577" y="210538"/>
                  <a:pt x="4775577" y="234282"/>
                </a:cubicBezTo>
                <a:lnTo>
                  <a:pt x="4775577" y="777248"/>
                </a:lnTo>
                <a:cubicBezTo>
                  <a:pt x="4775577" y="800993"/>
                  <a:pt x="4784020" y="821176"/>
                  <a:pt x="4800905" y="837797"/>
                </a:cubicBezTo>
                <a:cubicBezTo>
                  <a:pt x="4817790" y="854419"/>
                  <a:pt x="4838105" y="862730"/>
                  <a:pt x="4861850" y="862730"/>
                </a:cubicBezTo>
                <a:cubicBezTo>
                  <a:pt x="4885595" y="862730"/>
                  <a:pt x="4905778" y="854419"/>
                  <a:pt x="4922399" y="837797"/>
                </a:cubicBezTo>
                <a:cubicBezTo>
                  <a:pt x="4939021" y="821176"/>
                  <a:pt x="4947331" y="800993"/>
                  <a:pt x="4947331" y="777248"/>
                </a:cubicBezTo>
                <a:lnTo>
                  <a:pt x="4947331" y="234282"/>
                </a:lnTo>
                <a:cubicBezTo>
                  <a:pt x="4947331" y="210538"/>
                  <a:pt x="4939021" y="190354"/>
                  <a:pt x="4922399" y="173733"/>
                </a:cubicBezTo>
                <a:cubicBezTo>
                  <a:pt x="4905778" y="157112"/>
                  <a:pt x="4885595" y="148801"/>
                  <a:pt x="4861850" y="148801"/>
                </a:cubicBezTo>
                <a:close/>
                <a:moveTo>
                  <a:pt x="7315201" y="12664"/>
                </a:moveTo>
                <a:lnTo>
                  <a:pt x="7464793" y="12664"/>
                </a:lnTo>
                <a:lnTo>
                  <a:pt x="7464793" y="855606"/>
                </a:lnTo>
                <a:lnTo>
                  <a:pt x="7722821" y="855606"/>
                </a:lnTo>
                <a:lnTo>
                  <a:pt x="7722821" y="1004407"/>
                </a:lnTo>
                <a:lnTo>
                  <a:pt x="7315201" y="1004407"/>
                </a:lnTo>
                <a:close/>
                <a:moveTo>
                  <a:pt x="6762750" y="12664"/>
                </a:moveTo>
                <a:lnTo>
                  <a:pt x="6912343" y="12664"/>
                </a:lnTo>
                <a:lnTo>
                  <a:pt x="6912343" y="855606"/>
                </a:lnTo>
                <a:lnTo>
                  <a:pt x="7170371" y="855606"/>
                </a:lnTo>
                <a:lnTo>
                  <a:pt x="7170371" y="1004407"/>
                </a:lnTo>
                <a:lnTo>
                  <a:pt x="6762750" y="1004407"/>
                </a:lnTo>
                <a:close/>
                <a:moveTo>
                  <a:pt x="6226501" y="12664"/>
                </a:moveTo>
                <a:lnTo>
                  <a:pt x="6432277" y="12664"/>
                </a:lnTo>
                <a:lnTo>
                  <a:pt x="6598479" y="1004407"/>
                </a:lnTo>
                <a:lnTo>
                  <a:pt x="6441194" y="1004407"/>
                </a:lnTo>
                <a:lnTo>
                  <a:pt x="6406195" y="776457"/>
                </a:lnTo>
                <a:lnTo>
                  <a:pt x="6250011" y="776457"/>
                </a:lnTo>
                <a:lnTo>
                  <a:pt x="6213665" y="1004407"/>
                </a:lnTo>
                <a:lnTo>
                  <a:pt x="6057901" y="1004407"/>
                </a:lnTo>
                <a:close/>
                <a:moveTo>
                  <a:pt x="5276850" y="12664"/>
                </a:moveTo>
                <a:lnTo>
                  <a:pt x="5512716" y="12664"/>
                </a:lnTo>
                <a:cubicBezTo>
                  <a:pt x="5596087" y="12664"/>
                  <a:pt x="5657296" y="35617"/>
                  <a:pt x="5696343" y="81524"/>
                </a:cubicBezTo>
                <a:cubicBezTo>
                  <a:pt x="5730641" y="121626"/>
                  <a:pt x="5747790" y="177559"/>
                  <a:pt x="5747790" y="249321"/>
                </a:cubicBezTo>
                <a:lnTo>
                  <a:pt x="5747790" y="393373"/>
                </a:lnTo>
                <a:cubicBezTo>
                  <a:pt x="5747790" y="463552"/>
                  <a:pt x="5721143" y="522914"/>
                  <a:pt x="5667849" y="571459"/>
                </a:cubicBezTo>
                <a:lnTo>
                  <a:pt x="5778646" y="1004407"/>
                </a:lnTo>
                <a:lnTo>
                  <a:pt x="5616872" y="1004407"/>
                </a:lnTo>
                <a:lnTo>
                  <a:pt x="5526171" y="630821"/>
                </a:lnTo>
                <a:cubicBezTo>
                  <a:pt x="5521950" y="630821"/>
                  <a:pt x="5517465" y="630821"/>
                  <a:pt x="5512716" y="630821"/>
                </a:cubicBezTo>
                <a:lnTo>
                  <a:pt x="5426443" y="630821"/>
                </a:lnTo>
                <a:lnTo>
                  <a:pt x="5426443" y="1004407"/>
                </a:lnTo>
                <a:lnTo>
                  <a:pt x="5276850" y="1004407"/>
                </a:lnTo>
                <a:close/>
                <a:moveTo>
                  <a:pt x="1435426" y="12664"/>
                </a:moveTo>
                <a:lnTo>
                  <a:pt x="1641203" y="12664"/>
                </a:lnTo>
                <a:lnTo>
                  <a:pt x="1807405" y="1004407"/>
                </a:lnTo>
                <a:lnTo>
                  <a:pt x="1650119" y="1004407"/>
                </a:lnTo>
                <a:lnTo>
                  <a:pt x="1615120" y="776457"/>
                </a:lnTo>
                <a:lnTo>
                  <a:pt x="1458936" y="776457"/>
                </a:lnTo>
                <a:lnTo>
                  <a:pt x="1422589" y="1004407"/>
                </a:lnTo>
                <a:lnTo>
                  <a:pt x="1266826" y="1004407"/>
                </a:lnTo>
                <a:close/>
                <a:moveTo>
                  <a:pt x="628650" y="12664"/>
                </a:moveTo>
                <a:lnTo>
                  <a:pt x="778243" y="12664"/>
                </a:lnTo>
                <a:lnTo>
                  <a:pt x="778243" y="433739"/>
                </a:lnTo>
                <a:lnTo>
                  <a:pt x="958704" y="433739"/>
                </a:lnTo>
                <a:lnTo>
                  <a:pt x="958704" y="12664"/>
                </a:lnTo>
                <a:lnTo>
                  <a:pt x="1108297" y="12664"/>
                </a:lnTo>
                <a:lnTo>
                  <a:pt x="1108297" y="1004407"/>
                </a:lnTo>
                <a:lnTo>
                  <a:pt x="958704" y="1004407"/>
                </a:lnTo>
                <a:lnTo>
                  <a:pt x="958704" y="584123"/>
                </a:lnTo>
                <a:lnTo>
                  <a:pt x="778243" y="584123"/>
                </a:lnTo>
                <a:lnTo>
                  <a:pt x="778243" y="1004407"/>
                </a:lnTo>
                <a:lnTo>
                  <a:pt x="628650" y="1004407"/>
                </a:lnTo>
                <a:close/>
                <a:moveTo>
                  <a:pt x="0" y="12664"/>
                </a:moveTo>
                <a:lnTo>
                  <a:pt x="466983" y="12664"/>
                </a:lnTo>
                <a:lnTo>
                  <a:pt x="466983" y="163048"/>
                </a:lnTo>
                <a:lnTo>
                  <a:pt x="308684" y="163048"/>
                </a:lnTo>
                <a:lnTo>
                  <a:pt x="308684" y="1004407"/>
                </a:lnTo>
                <a:lnTo>
                  <a:pt x="159091" y="1004407"/>
                </a:lnTo>
                <a:lnTo>
                  <a:pt x="159091" y="163048"/>
                </a:lnTo>
                <a:lnTo>
                  <a:pt x="0" y="163048"/>
                </a:lnTo>
                <a:close/>
                <a:moveTo>
                  <a:pt x="4057651" y="11872"/>
                </a:moveTo>
                <a:lnTo>
                  <a:pt x="4483475" y="11872"/>
                </a:lnTo>
                <a:lnTo>
                  <a:pt x="4483475" y="162256"/>
                </a:lnTo>
                <a:lnTo>
                  <a:pt x="4207243" y="162256"/>
                </a:lnTo>
                <a:lnTo>
                  <a:pt x="4207243" y="432948"/>
                </a:lnTo>
                <a:lnTo>
                  <a:pt x="4409074" y="432948"/>
                </a:lnTo>
                <a:lnTo>
                  <a:pt x="4409074" y="583332"/>
                </a:lnTo>
                <a:lnTo>
                  <a:pt x="4207243" y="583332"/>
                </a:lnTo>
                <a:lnTo>
                  <a:pt x="4207243" y="1004407"/>
                </a:lnTo>
                <a:lnTo>
                  <a:pt x="4057651" y="1004407"/>
                </a:lnTo>
                <a:close/>
                <a:moveTo>
                  <a:pt x="2657476" y="11872"/>
                </a:moveTo>
                <a:lnTo>
                  <a:pt x="2807068" y="11872"/>
                </a:lnTo>
                <a:lnTo>
                  <a:pt x="2807068" y="365671"/>
                </a:lnTo>
                <a:lnTo>
                  <a:pt x="2989903" y="11872"/>
                </a:lnTo>
                <a:lnTo>
                  <a:pt x="3149390" y="11872"/>
                </a:lnTo>
                <a:lnTo>
                  <a:pt x="2944627" y="416710"/>
                </a:lnTo>
                <a:lnTo>
                  <a:pt x="3184747" y="1004407"/>
                </a:lnTo>
                <a:lnTo>
                  <a:pt x="3008899" y="1004407"/>
                </a:lnTo>
                <a:lnTo>
                  <a:pt x="2851837" y="601437"/>
                </a:lnTo>
                <a:lnTo>
                  <a:pt x="2807068" y="689788"/>
                </a:lnTo>
                <a:lnTo>
                  <a:pt x="2807068" y="1004407"/>
                </a:lnTo>
                <a:lnTo>
                  <a:pt x="2657476" y="1004407"/>
                </a:lnTo>
                <a:close/>
                <a:moveTo>
                  <a:pt x="1971676" y="11872"/>
                </a:moveTo>
                <a:lnTo>
                  <a:pt x="2139621" y="11872"/>
                </a:lnTo>
                <a:lnTo>
                  <a:pt x="2338138" y="678917"/>
                </a:lnTo>
                <a:lnTo>
                  <a:pt x="2338138" y="11872"/>
                </a:lnTo>
                <a:lnTo>
                  <a:pt x="2487730" y="11872"/>
                </a:lnTo>
                <a:lnTo>
                  <a:pt x="2487730" y="1004407"/>
                </a:lnTo>
                <a:lnTo>
                  <a:pt x="2327057" y="1004407"/>
                </a:lnTo>
                <a:lnTo>
                  <a:pt x="2121268" y="368837"/>
                </a:lnTo>
                <a:lnTo>
                  <a:pt x="2121268" y="1004407"/>
                </a:lnTo>
                <a:lnTo>
                  <a:pt x="1971676" y="1004407"/>
                </a:lnTo>
                <a:close/>
                <a:moveTo>
                  <a:pt x="4865807" y="0"/>
                </a:moveTo>
                <a:cubicBezTo>
                  <a:pt x="4931765" y="0"/>
                  <a:pt x="4987830" y="23217"/>
                  <a:pt x="5034000" y="69651"/>
                </a:cubicBezTo>
                <a:cubicBezTo>
                  <a:pt x="5080171" y="116086"/>
                  <a:pt x="5103256" y="172018"/>
                  <a:pt x="5103256" y="237448"/>
                </a:cubicBezTo>
                <a:lnTo>
                  <a:pt x="5103256" y="778831"/>
                </a:lnTo>
                <a:cubicBezTo>
                  <a:pt x="5103256" y="844789"/>
                  <a:pt x="5080039" y="900853"/>
                  <a:pt x="5033605" y="947024"/>
                </a:cubicBezTo>
                <a:cubicBezTo>
                  <a:pt x="4987170" y="993194"/>
                  <a:pt x="4931238" y="1016280"/>
                  <a:pt x="4865807" y="1016280"/>
                </a:cubicBezTo>
                <a:cubicBezTo>
                  <a:pt x="4799850" y="1016280"/>
                  <a:pt x="4743917" y="993062"/>
                  <a:pt x="4698011" y="946628"/>
                </a:cubicBezTo>
                <a:cubicBezTo>
                  <a:pt x="4652104" y="900194"/>
                  <a:pt x="4629151" y="844261"/>
                  <a:pt x="4629151" y="778831"/>
                </a:cubicBezTo>
                <a:lnTo>
                  <a:pt x="4629151" y="237448"/>
                </a:lnTo>
                <a:cubicBezTo>
                  <a:pt x="4629151" y="171491"/>
                  <a:pt x="4652368" y="115426"/>
                  <a:pt x="4698802" y="69256"/>
                </a:cubicBezTo>
                <a:cubicBezTo>
                  <a:pt x="4745237" y="23085"/>
                  <a:pt x="4800905" y="0"/>
                  <a:pt x="4865807" y="0"/>
                </a:cubicBezTo>
                <a:close/>
                <a:moveTo>
                  <a:pt x="3513230" y="0"/>
                </a:moveTo>
                <a:cubicBezTo>
                  <a:pt x="3566525" y="0"/>
                  <a:pt x="3612167" y="11872"/>
                  <a:pt x="3650159" y="35617"/>
                </a:cubicBezTo>
                <a:cubicBezTo>
                  <a:pt x="3679708" y="54085"/>
                  <a:pt x="3703585" y="79941"/>
                  <a:pt x="3721790" y="113184"/>
                </a:cubicBezTo>
                <a:cubicBezTo>
                  <a:pt x="3739994" y="146427"/>
                  <a:pt x="3750943" y="184682"/>
                  <a:pt x="3754636" y="227951"/>
                </a:cubicBezTo>
                <a:lnTo>
                  <a:pt x="3611376" y="254070"/>
                </a:lnTo>
                <a:cubicBezTo>
                  <a:pt x="3607154" y="213440"/>
                  <a:pt x="3595546" y="181780"/>
                  <a:pt x="3576550" y="159090"/>
                </a:cubicBezTo>
                <a:cubicBezTo>
                  <a:pt x="3562831" y="142733"/>
                  <a:pt x="3543043" y="134554"/>
                  <a:pt x="3517188" y="134554"/>
                </a:cubicBezTo>
                <a:cubicBezTo>
                  <a:pt x="3489750" y="134554"/>
                  <a:pt x="3468907" y="146690"/>
                  <a:pt x="3454660" y="170963"/>
                </a:cubicBezTo>
                <a:cubicBezTo>
                  <a:pt x="3443051" y="190486"/>
                  <a:pt x="3437247" y="214759"/>
                  <a:pt x="3437247" y="243780"/>
                </a:cubicBezTo>
                <a:cubicBezTo>
                  <a:pt x="3437247" y="289159"/>
                  <a:pt x="3456771" y="335330"/>
                  <a:pt x="3495818" y="382292"/>
                </a:cubicBezTo>
                <a:cubicBezTo>
                  <a:pt x="3510592" y="400233"/>
                  <a:pt x="3532754" y="421339"/>
                  <a:pt x="3562303" y="445612"/>
                </a:cubicBezTo>
                <a:cubicBezTo>
                  <a:pt x="3597129" y="474633"/>
                  <a:pt x="3620082" y="494948"/>
                  <a:pt x="3631163" y="506557"/>
                </a:cubicBezTo>
                <a:cubicBezTo>
                  <a:pt x="3668099" y="543493"/>
                  <a:pt x="3696593" y="579902"/>
                  <a:pt x="3716645" y="615783"/>
                </a:cubicBezTo>
                <a:cubicBezTo>
                  <a:pt x="3726143" y="632668"/>
                  <a:pt x="3733794" y="648234"/>
                  <a:pt x="3739598" y="662481"/>
                </a:cubicBezTo>
                <a:cubicBezTo>
                  <a:pt x="3753845" y="697835"/>
                  <a:pt x="3761232" y="729495"/>
                  <a:pt x="3761760" y="757461"/>
                </a:cubicBezTo>
                <a:cubicBezTo>
                  <a:pt x="3762815" y="826585"/>
                  <a:pt x="3744874" y="885683"/>
                  <a:pt x="3707938" y="934756"/>
                </a:cubicBezTo>
                <a:cubicBezTo>
                  <a:pt x="3683665" y="967998"/>
                  <a:pt x="3649367" y="991479"/>
                  <a:pt x="3605044" y="1005199"/>
                </a:cubicBezTo>
                <a:cubicBezTo>
                  <a:pt x="3581299" y="1012586"/>
                  <a:pt x="3553597" y="1016280"/>
                  <a:pt x="3521937" y="1016280"/>
                </a:cubicBezTo>
                <a:cubicBezTo>
                  <a:pt x="3463367" y="1016280"/>
                  <a:pt x="3414821" y="1001769"/>
                  <a:pt x="3376302" y="972747"/>
                </a:cubicBezTo>
                <a:cubicBezTo>
                  <a:pt x="3344115" y="949003"/>
                  <a:pt x="3318655" y="916683"/>
                  <a:pt x="3299923" y="875789"/>
                </a:cubicBezTo>
                <a:cubicBezTo>
                  <a:pt x="3281191" y="834895"/>
                  <a:pt x="3270241" y="788065"/>
                  <a:pt x="3267076" y="735299"/>
                </a:cubicBezTo>
                <a:lnTo>
                  <a:pt x="3409545" y="725009"/>
                </a:lnTo>
                <a:cubicBezTo>
                  <a:pt x="3415877" y="782822"/>
                  <a:pt x="3431179" y="824721"/>
                  <a:pt x="3455452" y="850709"/>
                </a:cubicBezTo>
                <a:cubicBezTo>
                  <a:pt x="3473392" y="870331"/>
                  <a:pt x="3493971" y="879615"/>
                  <a:pt x="3517188" y="878559"/>
                </a:cubicBezTo>
                <a:cubicBezTo>
                  <a:pt x="3549903" y="877504"/>
                  <a:pt x="3576023" y="861394"/>
                  <a:pt x="3595546" y="830229"/>
                </a:cubicBezTo>
                <a:cubicBezTo>
                  <a:pt x="3605571" y="814918"/>
                  <a:pt x="3610584" y="793004"/>
                  <a:pt x="3610584" y="764485"/>
                </a:cubicBezTo>
                <a:cubicBezTo>
                  <a:pt x="3610584" y="723286"/>
                  <a:pt x="3591852" y="682355"/>
                  <a:pt x="3554388" y="641692"/>
                </a:cubicBezTo>
                <a:cubicBezTo>
                  <a:pt x="3524839" y="613701"/>
                  <a:pt x="3480516" y="571715"/>
                  <a:pt x="3421417" y="515733"/>
                </a:cubicBezTo>
                <a:cubicBezTo>
                  <a:pt x="3371817" y="467666"/>
                  <a:pt x="3336727" y="424621"/>
                  <a:pt x="3316148" y="386596"/>
                </a:cubicBezTo>
                <a:cubicBezTo>
                  <a:pt x="3293987" y="343814"/>
                  <a:pt x="3282905" y="297338"/>
                  <a:pt x="3282905" y="247169"/>
                </a:cubicBezTo>
                <a:cubicBezTo>
                  <a:pt x="3282905" y="156856"/>
                  <a:pt x="3313246" y="88462"/>
                  <a:pt x="3373927" y="41986"/>
                </a:cubicBezTo>
                <a:cubicBezTo>
                  <a:pt x="3411392" y="13995"/>
                  <a:pt x="3457826" y="0"/>
                  <a:pt x="35132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300" dirty="0">
              <a:solidFill>
                <a:schemeClr val="bg1"/>
              </a:solidFill>
              <a:latin typeface="Bebas" pitchFamily="2" charset="0"/>
            </a:endParaRPr>
          </a:p>
        </p:txBody>
      </p:sp>
      <p:sp>
        <p:nvSpPr>
          <p:cNvPr id="56" name="椭圆 55"/>
          <p:cNvSpPr/>
          <p:nvPr userDrawn="1"/>
        </p:nvSpPr>
        <p:spPr>
          <a:xfrm>
            <a:off x="4825750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 userDrawn="1"/>
        </p:nvSpPr>
        <p:spPr>
          <a:xfrm>
            <a:off x="7146086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3736096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千库网</a:t>
            </a:r>
            <a:endParaRPr lang="en-US" altLang="zh-CN" dirty="0"/>
          </a:p>
        </p:txBody>
      </p:sp>
      <p:sp>
        <p:nvSpPr>
          <p:cNvPr id="59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4270222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5286641"/>
            <a:ext cx="10858500" cy="541635"/>
          </a:xfrm>
        </p:spPr>
        <p:txBody>
          <a:bodyPr>
            <a:normAutofit/>
          </a:bodyPr>
          <a:lstStyle>
            <a:lvl1pPr algn="ctr">
              <a:defRPr sz="32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1" name="副标题 2"/>
          <p:cNvSpPr>
            <a:spLocks noGrp="1"/>
          </p:cNvSpPr>
          <p:nvPr>
            <p:ph type="subTitle" idx="1"/>
          </p:nvPr>
        </p:nvSpPr>
        <p:spPr>
          <a:xfrm>
            <a:off x="666750" y="5840173"/>
            <a:ext cx="10845800" cy="29627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769" y="1080300"/>
            <a:ext cx="8952832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/>
              <a:t>Minzu University of China</a:t>
            </a:r>
            <a:endParaRPr lang="en-US" altLang="zh-CN" dirty="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9705827" y="793500"/>
            <a:ext cx="2073088" cy="502928"/>
            <a:chOff x="6914501" y="1215189"/>
            <a:chExt cx="2073088" cy="502928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10" t="19473" r="6021" b="25790"/>
            <a:stretch>
              <a:fillRect/>
            </a:stretch>
          </p:blipFill>
          <p:spPr>
            <a:xfrm>
              <a:off x="7567863" y="1263317"/>
              <a:ext cx="1419726" cy="42922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67" t="2490" r="10550" b="2490"/>
            <a:stretch>
              <a:fillRect/>
            </a:stretch>
          </p:blipFill>
          <p:spPr>
            <a:xfrm>
              <a:off x="6914501" y="1215189"/>
              <a:ext cx="511963" cy="50292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599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735682A8-D6B6-4FDA-A495-4D437BAFBB60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0ABDD927-E55F-4D12-BD2D-8ABE6C912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树, 天空, 户外, 道路&#10;&#10;自动生成的说明"/>
          <p:cNvPicPr>
            <a:picLocks noChangeAspect="1"/>
          </p:cNvPicPr>
          <p:nvPr userDrawn="1"/>
        </p:nvPicPr>
        <p:blipFill rotWithShape="1">
          <a:blip r:embed="rId10" cstate="screen">
            <a:alphaModFix amt="20000"/>
          </a:blip>
          <a:srcRect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660400" y="817563"/>
            <a:ext cx="108585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35f8ada8-d1d5-484b-a646-0693bbf3215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9"/>
            </p:custDataLst>
          </p:nvPr>
        </p:nvGrpSpPr>
        <p:grpSpPr>
          <a:xfrm>
            <a:off x="10054544" y="286022"/>
            <a:ext cx="1464356" cy="442149"/>
            <a:chOff x="3126770" y="2552633"/>
            <a:chExt cx="5689224" cy="1717810"/>
          </a:xfrm>
          <a:solidFill>
            <a:schemeClr val="accent1"/>
          </a:solidFill>
        </p:grpSpPr>
        <p:sp>
          <p:nvSpPr>
            <p:cNvPr id="12" name="íṣlîḍé"/>
            <p:cNvSpPr/>
            <p:nvPr/>
          </p:nvSpPr>
          <p:spPr bwMode="auto">
            <a:xfrm>
              <a:off x="3126770" y="2552633"/>
              <a:ext cx="1713720" cy="1717810"/>
            </a:xfrm>
            <a:custGeom>
              <a:avLst/>
              <a:gdLst>
                <a:gd name="T0" fmla="*/ 266 w 531"/>
                <a:gd name="T1" fmla="*/ 0 h 531"/>
                <a:gd name="T2" fmla="*/ 266 w 531"/>
                <a:gd name="T3" fmla="*/ 0 h 531"/>
                <a:gd name="T4" fmla="*/ 266 w 531"/>
                <a:gd name="T5" fmla="*/ 0 h 531"/>
                <a:gd name="T6" fmla="*/ 454 w 531"/>
                <a:gd name="T7" fmla="*/ 78 h 531"/>
                <a:gd name="T8" fmla="*/ 531 w 531"/>
                <a:gd name="T9" fmla="*/ 265 h 531"/>
                <a:gd name="T10" fmla="*/ 531 w 531"/>
                <a:gd name="T11" fmla="*/ 265 h 531"/>
                <a:gd name="T12" fmla="*/ 531 w 531"/>
                <a:gd name="T13" fmla="*/ 265 h 531"/>
                <a:gd name="T14" fmla="*/ 531 w 531"/>
                <a:gd name="T15" fmla="*/ 265 h 531"/>
                <a:gd name="T16" fmla="*/ 531 w 531"/>
                <a:gd name="T17" fmla="*/ 265 h 531"/>
                <a:gd name="T18" fmla="*/ 454 w 531"/>
                <a:gd name="T19" fmla="*/ 453 h 531"/>
                <a:gd name="T20" fmla="*/ 266 w 531"/>
                <a:gd name="T21" fmla="*/ 531 h 531"/>
                <a:gd name="T22" fmla="*/ 266 w 531"/>
                <a:gd name="T23" fmla="*/ 531 h 531"/>
                <a:gd name="T24" fmla="*/ 266 w 531"/>
                <a:gd name="T25" fmla="*/ 531 h 531"/>
                <a:gd name="T26" fmla="*/ 266 w 531"/>
                <a:gd name="T27" fmla="*/ 531 h 531"/>
                <a:gd name="T28" fmla="*/ 266 w 531"/>
                <a:gd name="T29" fmla="*/ 531 h 531"/>
                <a:gd name="T30" fmla="*/ 78 w 531"/>
                <a:gd name="T31" fmla="*/ 453 h 531"/>
                <a:gd name="T32" fmla="*/ 0 w 531"/>
                <a:gd name="T33" fmla="*/ 265 h 531"/>
                <a:gd name="T34" fmla="*/ 0 w 531"/>
                <a:gd name="T35" fmla="*/ 265 h 531"/>
                <a:gd name="T36" fmla="*/ 0 w 531"/>
                <a:gd name="T37" fmla="*/ 265 h 531"/>
                <a:gd name="T38" fmla="*/ 0 w 531"/>
                <a:gd name="T39" fmla="*/ 265 h 531"/>
                <a:gd name="T40" fmla="*/ 0 w 531"/>
                <a:gd name="T41" fmla="*/ 265 h 531"/>
                <a:gd name="T42" fmla="*/ 78 w 531"/>
                <a:gd name="T43" fmla="*/ 78 h 531"/>
                <a:gd name="T44" fmla="*/ 266 w 531"/>
                <a:gd name="T45" fmla="*/ 0 h 531"/>
                <a:gd name="T46" fmla="*/ 266 w 531"/>
                <a:gd name="T47" fmla="*/ 0 h 531"/>
                <a:gd name="T48" fmla="*/ 266 w 531"/>
                <a:gd name="T49" fmla="*/ 0 h 531"/>
                <a:gd name="T50" fmla="*/ 266 w 531"/>
                <a:gd name="T51" fmla="*/ 6 h 531"/>
                <a:gd name="T52" fmla="*/ 266 w 531"/>
                <a:gd name="T53" fmla="*/ 6 h 531"/>
                <a:gd name="T54" fmla="*/ 266 w 531"/>
                <a:gd name="T55" fmla="*/ 6 h 531"/>
                <a:gd name="T56" fmla="*/ 266 w 531"/>
                <a:gd name="T57" fmla="*/ 6 h 531"/>
                <a:gd name="T58" fmla="*/ 266 w 531"/>
                <a:gd name="T59" fmla="*/ 6 h 531"/>
                <a:gd name="T60" fmla="*/ 82 w 531"/>
                <a:gd name="T61" fmla="*/ 82 h 531"/>
                <a:gd name="T62" fmla="*/ 6 w 531"/>
                <a:gd name="T63" fmla="*/ 265 h 531"/>
                <a:gd name="T64" fmla="*/ 6 w 531"/>
                <a:gd name="T65" fmla="*/ 265 h 531"/>
                <a:gd name="T66" fmla="*/ 6 w 531"/>
                <a:gd name="T67" fmla="*/ 265 h 531"/>
                <a:gd name="T68" fmla="*/ 6 w 531"/>
                <a:gd name="T69" fmla="*/ 265 h 531"/>
                <a:gd name="T70" fmla="*/ 6 w 531"/>
                <a:gd name="T71" fmla="*/ 265 h 531"/>
                <a:gd name="T72" fmla="*/ 82 w 531"/>
                <a:gd name="T73" fmla="*/ 449 h 531"/>
                <a:gd name="T74" fmla="*/ 266 w 531"/>
                <a:gd name="T75" fmla="*/ 525 h 531"/>
                <a:gd name="T76" fmla="*/ 266 w 531"/>
                <a:gd name="T77" fmla="*/ 525 h 531"/>
                <a:gd name="T78" fmla="*/ 266 w 531"/>
                <a:gd name="T79" fmla="*/ 525 h 531"/>
                <a:gd name="T80" fmla="*/ 266 w 531"/>
                <a:gd name="T81" fmla="*/ 525 h 531"/>
                <a:gd name="T82" fmla="*/ 266 w 531"/>
                <a:gd name="T83" fmla="*/ 525 h 531"/>
                <a:gd name="T84" fmla="*/ 449 w 531"/>
                <a:gd name="T85" fmla="*/ 449 h 531"/>
                <a:gd name="T86" fmla="*/ 525 w 531"/>
                <a:gd name="T87" fmla="*/ 265 h 531"/>
                <a:gd name="T88" fmla="*/ 525 w 531"/>
                <a:gd name="T89" fmla="*/ 265 h 531"/>
                <a:gd name="T90" fmla="*/ 525 w 531"/>
                <a:gd name="T91" fmla="*/ 265 h 531"/>
                <a:gd name="T92" fmla="*/ 525 w 531"/>
                <a:gd name="T93" fmla="*/ 265 h 531"/>
                <a:gd name="T94" fmla="*/ 525 w 531"/>
                <a:gd name="T95" fmla="*/ 265 h 531"/>
                <a:gd name="T96" fmla="*/ 449 w 531"/>
                <a:gd name="T97" fmla="*/ 82 h 531"/>
                <a:gd name="T98" fmla="*/ 266 w 531"/>
                <a:gd name="T99" fmla="*/ 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31" h="531">
                  <a:moveTo>
                    <a:pt x="266" y="0"/>
                  </a:move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339" y="0"/>
                    <a:pt x="405" y="30"/>
                    <a:pt x="454" y="78"/>
                  </a:cubicBezTo>
                  <a:cubicBezTo>
                    <a:pt x="502" y="126"/>
                    <a:pt x="531" y="192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339"/>
                    <a:pt x="502" y="405"/>
                    <a:pt x="454" y="453"/>
                  </a:cubicBezTo>
                  <a:cubicBezTo>
                    <a:pt x="405" y="501"/>
                    <a:pt x="339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193" y="531"/>
                    <a:pt x="126" y="501"/>
                    <a:pt x="78" y="453"/>
                  </a:cubicBezTo>
                  <a:cubicBezTo>
                    <a:pt x="30" y="405"/>
                    <a:pt x="0" y="339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192"/>
                    <a:pt x="30" y="126"/>
                    <a:pt x="78" y="78"/>
                  </a:cubicBezTo>
                  <a:cubicBezTo>
                    <a:pt x="126" y="30"/>
                    <a:pt x="193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lose/>
                  <a:moveTo>
                    <a:pt x="266" y="6"/>
                  </a:move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194" y="6"/>
                    <a:pt x="129" y="35"/>
                    <a:pt x="82" y="82"/>
                  </a:cubicBezTo>
                  <a:cubicBezTo>
                    <a:pt x="35" y="129"/>
                    <a:pt x="6" y="194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337"/>
                    <a:pt x="35" y="402"/>
                    <a:pt x="82" y="449"/>
                  </a:cubicBezTo>
                  <a:cubicBezTo>
                    <a:pt x="129" y="496"/>
                    <a:pt x="194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337" y="525"/>
                    <a:pt x="402" y="496"/>
                    <a:pt x="449" y="449"/>
                  </a:cubicBezTo>
                  <a:cubicBezTo>
                    <a:pt x="496" y="402"/>
                    <a:pt x="525" y="337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194"/>
                    <a:pt x="496" y="129"/>
                    <a:pt x="449" y="82"/>
                  </a:cubicBezTo>
                  <a:cubicBezTo>
                    <a:pt x="402" y="35"/>
                    <a:pt x="337" y="6"/>
                    <a:pt x="26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ṧlïḑe"/>
            <p:cNvSpPr/>
            <p:nvPr/>
          </p:nvSpPr>
          <p:spPr bwMode="auto">
            <a:xfrm>
              <a:off x="3346268" y="2769404"/>
              <a:ext cx="1277451" cy="1281541"/>
            </a:xfrm>
            <a:custGeom>
              <a:avLst/>
              <a:gdLst>
                <a:gd name="T0" fmla="*/ 198 w 396"/>
                <a:gd name="T1" fmla="*/ 0 h 396"/>
                <a:gd name="T2" fmla="*/ 198 w 396"/>
                <a:gd name="T3" fmla="*/ 0 h 396"/>
                <a:gd name="T4" fmla="*/ 198 w 396"/>
                <a:gd name="T5" fmla="*/ 0 h 396"/>
                <a:gd name="T6" fmla="*/ 338 w 396"/>
                <a:gd name="T7" fmla="*/ 58 h 396"/>
                <a:gd name="T8" fmla="*/ 396 w 396"/>
                <a:gd name="T9" fmla="*/ 198 h 396"/>
                <a:gd name="T10" fmla="*/ 396 w 396"/>
                <a:gd name="T11" fmla="*/ 198 h 396"/>
                <a:gd name="T12" fmla="*/ 396 w 396"/>
                <a:gd name="T13" fmla="*/ 198 h 396"/>
                <a:gd name="T14" fmla="*/ 396 w 396"/>
                <a:gd name="T15" fmla="*/ 198 h 396"/>
                <a:gd name="T16" fmla="*/ 396 w 396"/>
                <a:gd name="T17" fmla="*/ 198 h 396"/>
                <a:gd name="T18" fmla="*/ 338 w 396"/>
                <a:gd name="T19" fmla="*/ 338 h 396"/>
                <a:gd name="T20" fmla="*/ 198 w 396"/>
                <a:gd name="T21" fmla="*/ 396 h 396"/>
                <a:gd name="T22" fmla="*/ 198 w 396"/>
                <a:gd name="T23" fmla="*/ 396 h 396"/>
                <a:gd name="T24" fmla="*/ 198 w 396"/>
                <a:gd name="T25" fmla="*/ 396 h 396"/>
                <a:gd name="T26" fmla="*/ 198 w 396"/>
                <a:gd name="T27" fmla="*/ 396 h 396"/>
                <a:gd name="T28" fmla="*/ 198 w 396"/>
                <a:gd name="T29" fmla="*/ 396 h 396"/>
                <a:gd name="T30" fmla="*/ 58 w 396"/>
                <a:gd name="T31" fmla="*/ 338 h 396"/>
                <a:gd name="T32" fmla="*/ 0 w 396"/>
                <a:gd name="T33" fmla="*/ 198 h 396"/>
                <a:gd name="T34" fmla="*/ 0 w 396"/>
                <a:gd name="T35" fmla="*/ 198 h 396"/>
                <a:gd name="T36" fmla="*/ 0 w 396"/>
                <a:gd name="T37" fmla="*/ 198 h 396"/>
                <a:gd name="T38" fmla="*/ 0 w 396"/>
                <a:gd name="T39" fmla="*/ 198 h 396"/>
                <a:gd name="T40" fmla="*/ 0 w 396"/>
                <a:gd name="T41" fmla="*/ 198 h 396"/>
                <a:gd name="T42" fmla="*/ 58 w 396"/>
                <a:gd name="T43" fmla="*/ 58 h 396"/>
                <a:gd name="T44" fmla="*/ 198 w 396"/>
                <a:gd name="T45" fmla="*/ 0 h 396"/>
                <a:gd name="T46" fmla="*/ 198 w 396"/>
                <a:gd name="T47" fmla="*/ 0 h 396"/>
                <a:gd name="T48" fmla="*/ 198 w 396"/>
                <a:gd name="T49" fmla="*/ 0 h 396"/>
                <a:gd name="T50" fmla="*/ 198 w 396"/>
                <a:gd name="T51" fmla="*/ 6 h 396"/>
                <a:gd name="T52" fmla="*/ 198 w 396"/>
                <a:gd name="T53" fmla="*/ 6 h 396"/>
                <a:gd name="T54" fmla="*/ 198 w 396"/>
                <a:gd name="T55" fmla="*/ 6 h 396"/>
                <a:gd name="T56" fmla="*/ 198 w 396"/>
                <a:gd name="T57" fmla="*/ 6 h 396"/>
                <a:gd name="T58" fmla="*/ 198 w 396"/>
                <a:gd name="T59" fmla="*/ 6 h 396"/>
                <a:gd name="T60" fmla="*/ 62 w 396"/>
                <a:gd name="T61" fmla="*/ 62 h 396"/>
                <a:gd name="T62" fmla="*/ 6 w 396"/>
                <a:gd name="T63" fmla="*/ 198 h 396"/>
                <a:gd name="T64" fmla="*/ 6 w 396"/>
                <a:gd name="T65" fmla="*/ 198 h 396"/>
                <a:gd name="T66" fmla="*/ 6 w 396"/>
                <a:gd name="T67" fmla="*/ 198 h 396"/>
                <a:gd name="T68" fmla="*/ 6 w 396"/>
                <a:gd name="T69" fmla="*/ 198 h 396"/>
                <a:gd name="T70" fmla="*/ 6 w 396"/>
                <a:gd name="T71" fmla="*/ 198 h 396"/>
                <a:gd name="T72" fmla="*/ 62 w 396"/>
                <a:gd name="T73" fmla="*/ 334 h 396"/>
                <a:gd name="T74" fmla="*/ 198 w 396"/>
                <a:gd name="T75" fmla="*/ 391 h 396"/>
                <a:gd name="T76" fmla="*/ 198 w 396"/>
                <a:gd name="T77" fmla="*/ 391 h 396"/>
                <a:gd name="T78" fmla="*/ 198 w 396"/>
                <a:gd name="T79" fmla="*/ 391 h 396"/>
                <a:gd name="T80" fmla="*/ 198 w 396"/>
                <a:gd name="T81" fmla="*/ 391 h 396"/>
                <a:gd name="T82" fmla="*/ 198 w 396"/>
                <a:gd name="T83" fmla="*/ 391 h 396"/>
                <a:gd name="T84" fmla="*/ 334 w 396"/>
                <a:gd name="T85" fmla="*/ 334 h 396"/>
                <a:gd name="T86" fmla="*/ 390 w 396"/>
                <a:gd name="T87" fmla="*/ 198 h 396"/>
                <a:gd name="T88" fmla="*/ 390 w 396"/>
                <a:gd name="T89" fmla="*/ 198 h 396"/>
                <a:gd name="T90" fmla="*/ 390 w 396"/>
                <a:gd name="T91" fmla="*/ 198 h 396"/>
                <a:gd name="T92" fmla="*/ 390 w 396"/>
                <a:gd name="T93" fmla="*/ 198 h 396"/>
                <a:gd name="T94" fmla="*/ 390 w 396"/>
                <a:gd name="T95" fmla="*/ 198 h 396"/>
                <a:gd name="T96" fmla="*/ 334 w 396"/>
                <a:gd name="T97" fmla="*/ 62 h 396"/>
                <a:gd name="T98" fmla="*/ 198 w 396"/>
                <a:gd name="T99" fmla="*/ 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96" h="396">
                  <a:moveTo>
                    <a:pt x="198" y="0"/>
                  </a:move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53" y="0"/>
                    <a:pt x="302" y="22"/>
                    <a:pt x="338" y="58"/>
                  </a:cubicBezTo>
                  <a:cubicBezTo>
                    <a:pt x="374" y="94"/>
                    <a:pt x="396" y="144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253"/>
                    <a:pt x="374" y="303"/>
                    <a:pt x="338" y="338"/>
                  </a:cubicBezTo>
                  <a:cubicBezTo>
                    <a:pt x="302" y="374"/>
                    <a:pt x="253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43" y="396"/>
                    <a:pt x="94" y="374"/>
                    <a:pt x="58" y="338"/>
                  </a:cubicBezTo>
                  <a:cubicBezTo>
                    <a:pt x="22" y="303"/>
                    <a:pt x="0" y="253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44"/>
                    <a:pt x="22" y="94"/>
                    <a:pt x="58" y="58"/>
                  </a:cubicBezTo>
                  <a:cubicBezTo>
                    <a:pt x="94" y="22"/>
                    <a:pt x="143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lose/>
                  <a:moveTo>
                    <a:pt x="198" y="6"/>
                  </a:move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45" y="6"/>
                    <a:pt x="97" y="28"/>
                    <a:pt x="62" y="62"/>
                  </a:cubicBezTo>
                  <a:cubicBezTo>
                    <a:pt x="27" y="97"/>
                    <a:pt x="6" y="145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251"/>
                    <a:pt x="27" y="299"/>
                    <a:pt x="62" y="334"/>
                  </a:cubicBezTo>
                  <a:cubicBezTo>
                    <a:pt x="97" y="369"/>
                    <a:pt x="145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251" y="391"/>
                    <a:pt x="299" y="369"/>
                    <a:pt x="334" y="334"/>
                  </a:cubicBezTo>
                  <a:cubicBezTo>
                    <a:pt x="369" y="299"/>
                    <a:pt x="390" y="251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45"/>
                    <a:pt x="369" y="97"/>
                    <a:pt x="334" y="62"/>
                  </a:cubicBezTo>
                  <a:cubicBezTo>
                    <a:pt x="299" y="28"/>
                    <a:pt x="251" y="6"/>
                    <a:pt x="19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í$1iḓe"/>
            <p:cNvSpPr/>
            <p:nvPr/>
          </p:nvSpPr>
          <p:spPr bwMode="auto">
            <a:xfrm>
              <a:off x="3610756" y="2938459"/>
              <a:ext cx="738931" cy="957066"/>
            </a:xfrm>
            <a:custGeom>
              <a:avLst/>
              <a:gdLst>
                <a:gd name="T0" fmla="*/ 168 w 229"/>
                <a:gd name="T1" fmla="*/ 184 h 296"/>
                <a:gd name="T2" fmla="*/ 223 w 229"/>
                <a:gd name="T3" fmla="*/ 184 h 296"/>
                <a:gd name="T4" fmla="*/ 223 w 229"/>
                <a:gd name="T5" fmla="*/ 220 h 296"/>
                <a:gd name="T6" fmla="*/ 185 w 229"/>
                <a:gd name="T7" fmla="*/ 220 h 296"/>
                <a:gd name="T8" fmla="*/ 168 w 229"/>
                <a:gd name="T9" fmla="*/ 204 h 296"/>
                <a:gd name="T10" fmla="*/ 168 w 229"/>
                <a:gd name="T11" fmla="*/ 184 h 296"/>
                <a:gd name="T12" fmla="*/ 226 w 229"/>
                <a:gd name="T13" fmla="*/ 37 h 296"/>
                <a:gd name="T14" fmla="*/ 191 w 229"/>
                <a:gd name="T15" fmla="*/ 0 h 296"/>
                <a:gd name="T16" fmla="*/ 34 w 229"/>
                <a:gd name="T17" fmla="*/ 0 h 296"/>
                <a:gd name="T18" fmla="*/ 0 w 229"/>
                <a:gd name="T19" fmla="*/ 35 h 296"/>
                <a:gd name="T20" fmla="*/ 0 w 229"/>
                <a:gd name="T21" fmla="*/ 248 h 296"/>
                <a:gd name="T22" fmla="*/ 37 w 229"/>
                <a:gd name="T23" fmla="*/ 294 h 296"/>
                <a:gd name="T24" fmla="*/ 120 w 229"/>
                <a:gd name="T25" fmla="*/ 294 h 296"/>
                <a:gd name="T26" fmla="*/ 133 w 229"/>
                <a:gd name="T27" fmla="*/ 278 h 296"/>
                <a:gd name="T28" fmla="*/ 148 w 229"/>
                <a:gd name="T29" fmla="*/ 295 h 296"/>
                <a:gd name="T30" fmla="*/ 191 w 229"/>
                <a:gd name="T31" fmla="*/ 295 h 296"/>
                <a:gd name="T32" fmla="*/ 229 w 229"/>
                <a:gd name="T33" fmla="*/ 257 h 296"/>
                <a:gd name="T34" fmla="*/ 162 w 229"/>
                <a:gd name="T35" fmla="*/ 257 h 296"/>
                <a:gd name="T36" fmla="*/ 148 w 229"/>
                <a:gd name="T37" fmla="*/ 238 h 296"/>
                <a:gd name="T38" fmla="*/ 137 w 229"/>
                <a:gd name="T39" fmla="*/ 253 h 296"/>
                <a:gd name="T40" fmla="*/ 125 w 229"/>
                <a:gd name="T41" fmla="*/ 258 h 296"/>
                <a:gd name="T42" fmla="*/ 67 w 229"/>
                <a:gd name="T43" fmla="*/ 258 h 296"/>
                <a:gd name="T44" fmla="*/ 35 w 229"/>
                <a:gd name="T45" fmla="*/ 224 h 296"/>
                <a:gd name="T46" fmla="*/ 35 w 229"/>
                <a:gd name="T47" fmla="*/ 52 h 296"/>
                <a:gd name="T48" fmla="*/ 47 w 229"/>
                <a:gd name="T49" fmla="*/ 37 h 296"/>
                <a:gd name="T50" fmla="*/ 226 w 229"/>
                <a:gd name="T51" fmla="*/ 37 h 296"/>
                <a:gd name="T52" fmla="*/ 168 w 229"/>
                <a:gd name="T53" fmla="*/ 109 h 296"/>
                <a:gd name="T54" fmla="*/ 223 w 229"/>
                <a:gd name="T55" fmla="*/ 109 h 296"/>
                <a:gd name="T56" fmla="*/ 223 w 229"/>
                <a:gd name="T57" fmla="*/ 148 h 296"/>
                <a:gd name="T58" fmla="*/ 168 w 229"/>
                <a:gd name="T59" fmla="*/ 148 h 296"/>
                <a:gd name="T60" fmla="*/ 168 w 229"/>
                <a:gd name="T61" fmla="*/ 109 h 296"/>
                <a:gd name="T62" fmla="*/ 74 w 229"/>
                <a:gd name="T63" fmla="*/ 109 h 296"/>
                <a:gd name="T64" fmla="*/ 132 w 229"/>
                <a:gd name="T65" fmla="*/ 109 h 296"/>
                <a:gd name="T66" fmla="*/ 132 w 229"/>
                <a:gd name="T67" fmla="*/ 148 h 296"/>
                <a:gd name="T68" fmla="*/ 74 w 229"/>
                <a:gd name="T69" fmla="*/ 148 h 296"/>
                <a:gd name="T70" fmla="*/ 74 w 229"/>
                <a:gd name="T71" fmla="*/ 109 h 296"/>
                <a:gd name="T72" fmla="*/ 74 w 229"/>
                <a:gd name="T73" fmla="*/ 184 h 296"/>
                <a:gd name="T74" fmla="*/ 132 w 229"/>
                <a:gd name="T75" fmla="*/ 184 h 296"/>
                <a:gd name="T76" fmla="*/ 132 w 229"/>
                <a:gd name="T77" fmla="*/ 204 h 296"/>
                <a:gd name="T78" fmla="*/ 115 w 229"/>
                <a:gd name="T79" fmla="*/ 220 h 296"/>
                <a:gd name="T80" fmla="*/ 83 w 229"/>
                <a:gd name="T81" fmla="*/ 220 h 296"/>
                <a:gd name="T82" fmla="*/ 74 w 229"/>
                <a:gd name="T83" fmla="*/ 210 h 296"/>
                <a:gd name="T84" fmla="*/ 74 w 229"/>
                <a:gd name="T85" fmla="*/ 184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9" h="296">
                  <a:moveTo>
                    <a:pt x="168" y="184"/>
                  </a:moveTo>
                  <a:cubicBezTo>
                    <a:pt x="223" y="184"/>
                    <a:pt x="223" y="184"/>
                    <a:pt x="223" y="184"/>
                  </a:cubicBezTo>
                  <a:cubicBezTo>
                    <a:pt x="223" y="220"/>
                    <a:pt x="223" y="220"/>
                    <a:pt x="223" y="220"/>
                  </a:cubicBezTo>
                  <a:cubicBezTo>
                    <a:pt x="185" y="220"/>
                    <a:pt x="185" y="220"/>
                    <a:pt x="185" y="220"/>
                  </a:cubicBezTo>
                  <a:cubicBezTo>
                    <a:pt x="176" y="220"/>
                    <a:pt x="168" y="213"/>
                    <a:pt x="168" y="204"/>
                  </a:cubicBezTo>
                  <a:cubicBezTo>
                    <a:pt x="168" y="184"/>
                    <a:pt x="168" y="184"/>
                    <a:pt x="168" y="184"/>
                  </a:cubicBezTo>
                  <a:close/>
                  <a:moveTo>
                    <a:pt x="226" y="37"/>
                  </a:move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68" y="0"/>
                    <a:pt x="34" y="0"/>
                  </a:cubicBezTo>
                  <a:cubicBezTo>
                    <a:pt x="0" y="0"/>
                    <a:pt x="0" y="35"/>
                    <a:pt x="0" y="35"/>
                  </a:cubicBezTo>
                  <a:cubicBezTo>
                    <a:pt x="0" y="35"/>
                    <a:pt x="0" y="204"/>
                    <a:pt x="0" y="248"/>
                  </a:cubicBezTo>
                  <a:cubicBezTo>
                    <a:pt x="0" y="292"/>
                    <a:pt x="37" y="294"/>
                    <a:pt x="37" y="294"/>
                  </a:cubicBezTo>
                  <a:cubicBezTo>
                    <a:pt x="37" y="294"/>
                    <a:pt x="111" y="296"/>
                    <a:pt x="120" y="294"/>
                  </a:cubicBezTo>
                  <a:cubicBezTo>
                    <a:pt x="129" y="292"/>
                    <a:pt x="133" y="278"/>
                    <a:pt x="133" y="278"/>
                  </a:cubicBezTo>
                  <a:cubicBezTo>
                    <a:pt x="136" y="294"/>
                    <a:pt x="148" y="295"/>
                    <a:pt x="148" y="295"/>
                  </a:cubicBezTo>
                  <a:cubicBezTo>
                    <a:pt x="191" y="295"/>
                    <a:pt x="191" y="295"/>
                    <a:pt x="191" y="295"/>
                  </a:cubicBezTo>
                  <a:cubicBezTo>
                    <a:pt x="229" y="257"/>
                    <a:pt x="229" y="257"/>
                    <a:pt x="229" y="257"/>
                  </a:cubicBezTo>
                  <a:cubicBezTo>
                    <a:pt x="229" y="257"/>
                    <a:pt x="174" y="259"/>
                    <a:pt x="162" y="257"/>
                  </a:cubicBezTo>
                  <a:cubicBezTo>
                    <a:pt x="151" y="255"/>
                    <a:pt x="148" y="238"/>
                    <a:pt x="148" y="238"/>
                  </a:cubicBezTo>
                  <a:cubicBezTo>
                    <a:pt x="148" y="238"/>
                    <a:pt x="143" y="248"/>
                    <a:pt x="137" y="253"/>
                  </a:cubicBezTo>
                  <a:cubicBezTo>
                    <a:pt x="132" y="258"/>
                    <a:pt x="125" y="258"/>
                    <a:pt x="125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33" y="254"/>
                    <a:pt x="35" y="224"/>
                    <a:pt x="35" y="224"/>
                  </a:cubicBezTo>
                  <a:cubicBezTo>
                    <a:pt x="35" y="224"/>
                    <a:pt x="35" y="65"/>
                    <a:pt x="35" y="52"/>
                  </a:cubicBezTo>
                  <a:cubicBezTo>
                    <a:pt x="36" y="38"/>
                    <a:pt x="47" y="37"/>
                    <a:pt x="47" y="37"/>
                  </a:cubicBezTo>
                  <a:cubicBezTo>
                    <a:pt x="226" y="37"/>
                    <a:pt x="226" y="37"/>
                    <a:pt x="226" y="37"/>
                  </a:cubicBezTo>
                  <a:close/>
                  <a:moveTo>
                    <a:pt x="168" y="109"/>
                  </a:moveTo>
                  <a:cubicBezTo>
                    <a:pt x="223" y="109"/>
                    <a:pt x="223" y="109"/>
                    <a:pt x="223" y="109"/>
                  </a:cubicBezTo>
                  <a:cubicBezTo>
                    <a:pt x="223" y="148"/>
                    <a:pt x="223" y="148"/>
                    <a:pt x="223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09"/>
                    <a:pt x="168" y="109"/>
                    <a:pt x="168" y="109"/>
                  </a:cubicBezTo>
                  <a:close/>
                  <a:moveTo>
                    <a:pt x="74" y="109"/>
                  </a:moveTo>
                  <a:cubicBezTo>
                    <a:pt x="132" y="109"/>
                    <a:pt x="132" y="109"/>
                    <a:pt x="132" y="109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4" y="109"/>
                    <a:pt x="74" y="109"/>
                    <a:pt x="74" y="109"/>
                  </a:cubicBezTo>
                  <a:close/>
                  <a:moveTo>
                    <a:pt x="74" y="184"/>
                  </a:moveTo>
                  <a:cubicBezTo>
                    <a:pt x="132" y="184"/>
                    <a:pt x="132" y="184"/>
                    <a:pt x="132" y="184"/>
                  </a:cubicBezTo>
                  <a:cubicBezTo>
                    <a:pt x="132" y="204"/>
                    <a:pt x="132" y="204"/>
                    <a:pt x="132" y="204"/>
                  </a:cubicBezTo>
                  <a:cubicBezTo>
                    <a:pt x="132" y="213"/>
                    <a:pt x="124" y="220"/>
                    <a:pt x="115" y="220"/>
                  </a:cubicBezTo>
                  <a:cubicBezTo>
                    <a:pt x="83" y="220"/>
                    <a:pt x="83" y="220"/>
                    <a:pt x="83" y="220"/>
                  </a:cubicBezTo>
                  <a:cubicBezTo>
                    <a:pt x="78" y="220"/>
                    <a:pt x="74" y="215"/>
                    <a:pt x="74" y="210"/>
                  </a:cubicBezTo>
                  <a:lnTo>
                    <a:pt x="74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íŝ1ïḍê"/>
            <p:cNvSpPr/>
            <p:nvPr/>
          </p:nvSpPr>
          <p:spPr bwMode="auto">
            <a:xfrm>
              <a:off x="3579399" y="4005955"/>
              <a:ext cx="128154" cy="118611"/>
            </a:xfrm>
            <a:custGeom>
              <a:avLst/>
              <a:gdLst>
                <a:gd name="T0" fmla="*/ 21 w 40"/>
                <a:gd name="T1" fmla="*/ 11 h 37"/>
                <a:gd name="T2" fmla="*/ 11 w 40"/>
                <a:gd name="T3" fmla="*/ 6 h 37"/>
                <a:gd name="T4" fmla="*/ 7 w 40"/>
                <a:gd name="T5" fmla="*/ 13 h 37"/>
                <a:gd name="T6" fmla="*/ 17 w 40"/>
                <a:gd name="T7" fmla="*/ 18 h 37"/>
                <a:gd name="T8" fmla="*/ 18 w 40"/>
                <a:gd name="T9" fmla="*/ 16 h 37"/>
                <a:gd name="T10" fmla="*/ 21 w 40"/>
                <a:gd name="T11" fmla="*/ 11 h 37"/>
                <a:gd name="T12" fmla="*/ 36 w 40"/>
                <a:gd name="T13" fmla="*/ 14 h 37"/>
                <a:gd name="T14" fmla="*/ 37 w 40"/>
                <a:gd name="T15" fmla="*/ 15 h 37"/>
                <a:gd name="T16" fmla="*/ 39 w 40"/>
                <a:gd name="T17" fmla="*/ 16 h 37"/>
                <a:gd name="T18" fmla="*/ 40 w 40"/>
                <a:gd name="T19" fmla="*/ 17 h 37"/>
                <a:gd name="T20" fmla="*/ 35 w 40"/>
                <a:gd name="T21" fmla="*/ 25 h 37"/>
                <a:gd name="T22" fmla="*/ 31 w 40"/>
                <a:gd name="T23" fmla="*/ 32 h 37"/>
                <a:gd name="T24" fmla="*/ 31 w 40"/>
                <a:gd name="T25" fmla="*/ 32 h 37"/>
                <a:gd name="T26" fmla="*/ 28 w 40"/>
                <a:gd name="T27" fmla="*/ 31 h 37"/>
                <a:gd name="T28" fmla="*/ 27 w 40"/>
                <a:gd name="T29" fmla="*/ 30 h 37"/>
                <a:gd name="T30" fmla="*/ 28 w 40"/>
                <a:gd name="T31" fmla="*/ 28 h 37"/>
                <a:gd name="T32" fmla="*/ 19 w 40"/>
                <a:gd name="T33" fmla="*/ 24 h 37"/>
                <a:gd name="T34" fmla="*/ 15 w 40"/>
                <a:gd name="T35" fmla="*/ 32 h 37"/>
                <a:gd name="T36" fmla="*/ 12 w 40"/>
                <a:gd name="T37" fmla="*/ 36 h 37"/>
                <a:gd name="T38" fmla="*/ 12 w 40"/>
                <a:gd name="T39" fmla="*/ 36 h 37"/>
                <a:gd name="T40" fmla="*/ 8 w 40"/>
                <a:gd name="T41" fmla="*/ 34 h 37"/>
                <a:gd name="T42" fmla="*/ 8 w 40"/>
                <a:gd name="T43" fmla="*/ 34 h 37"/>
                <a:gd name="T44" fmla="*/ 15 w 40"/>
                <a:gd name="T45" fmla="*/ 22 h 37"/>
                <a:gd name="T46" fmla="*/ 5 w 40"/>
                <a:gd name="T47" fmla="*/ 16 h 37"/>
                <a:gd name="T48" fmla="*/ 5 w 40"/>
                <a:gd name="T49" fmla="*/ 18 h 37"/>
                <a:gd name="T50" fmla="*/ 4 w 40"/>
                <a:gd name="T51" fmla="*/ 19 h 37"/>
                <a:gd name="T52" fmla="*/ 4 w 40"/>
                <a:gd name="T53" fmla="*/ 19 h 37"/>
                <a:gd name="T54" fmla="*/ 2 w 40"/>
                <a:gd name="T55" fmla="*/ 18 h 37"/>
                <a:gd name="T56" fmla="*/ 1 w 40"/>
                <a:gd name="T57" fmla="*/ 17 h 37"/>
                <a:gd name="T58" fmla="*/ 0 w 40"/>
                <a:gd name="T59" fmla="*/ 17 h 37"/>
                <a:gd name="T60" fmla="*/ 1 w 40"/>
                <a:gd name="T61" fmla="*/ 16 h 37"/>
                <a:gd name="T62" fmla="*/ 2 w 40"/>
                <a:gd name="T63" fmla="*/ 14 h 37"/>
                <a:gd name="T64" fmla="*/ 5 w 40"/>
                <a:gd name="T65" fmla="*/ 8 h 37"/>
                <a:gd name="T66" fmla="*/ 9 w 40"/>
                <a:gd name="T67" fmla="*/ 1 h 37"/>
                <a:gd name="T68" fmla="*/ 10 w 40"/>
                <a:gd name="T69" fmla="*/ 0 h 37"/>
                <a:gd name="T70" fmla="*/ 13 w 40"/>
                <a:gd name="T71" fmla="*/ 2 h 37"/>
                <a:gd name="T72" fmla="*/ 23 w 40"/>
                <a:gd name="T73" fmla="*/ 7 h 37"/>
                <a:gd name="T74" fmla="*/ 26 w 40"/>
                <a:gd name="T75" fmla="*/ 2 h 37"/>
                <a:gd name="T76" fmla="*/ 26 w 40"/>
                <a:gd name="T77" fmla="*/ 1 h 37"/>
                <a:gd name="T78" fmla="*/ 26 w 40"/>
                <a:gd name="T79" fmla="*/ 0 h 37"/>
                <a:gd name="T80" fmla="*/ 29 w 40"/>
                <a:gd name="T81" fmla="*/ 2 h 37"/>
                <a:gd name="T82" fmla="*/ 30 w 40"/>
                <a:gd name="T83" fmla="*/ 3 h 37"/>
                <a:gd name="T84" fmla="*/ 30 w 40"/>
                <a:gd name="T85" fmla="*/ 4 h 37"/>
                <a:gd name="T86" fmla="*/ 29 w 40"/>
                <a:gd name="T87" fmla="*/ 5 h 37"/>
                <a:gd name="T88" fmla="*/ 26 w 40"/>
                <a:gd name="T89" fmla="*/ 9 h 37"/>
                <a:gd name="T90" fmla="*/ 36 w 40"/>
                <a:gd name="T91" fmla="*/ 14 h 37"/>
                <a:gd name="T92" fmla="*/ 30 w 40"/>
                <a:gd name="T93" fmla="*/ 25 h 37"/>
                <a:gd name="T94" fmla="*/ 21 w 40"/>
                <a:gd name="T95" fmla="*/ 20 h 37"/>
                <a:gd name="T96" fmla="*/ 22 w 40"/>
                <a:gd name="T97" fmla="*/ 18 h 37"/>
                <a:gd name="T98" fmla="*/ 25 w 40"/>
                <a:gd name="T99" fmla="*/ 13 h 37"/>
                <a:gd name="T100" fmla="*/ 34 w 40"/>
                <a:gd name="T101" fmla="*/ 18 h 37"/>
                <a:gd name="T102" fmla="*/ 30 w 40"/>
                <a:gd name="T10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" h="37">
                  <a:moveTo>
                    <a:pt x="21" y="11"/>
                  </a:moveTo>
                  <a:cubicBezTo>
                    <a:pt x="11" y="6"/>
                    <a:pt x="11" y="6"/>
                    <a:pt x="11" y="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1" y="11"/>
                    <a:pt x="21" y="11"/>
                    <a:pt x="21" y="11"/>
                  </a:cubicBezTo>
                  <a:close/>
                  <a:moveTo>
                    <a:pt x="36" y="14"/>
                  </a:moveTo>
                  <a:cubicBezTo>
                    <a:pt x="36" y="15"/>
                    <a:pt x="37" y="15"/>
                    <a:pt x="37" y="15"/>
                  </a:cubicBezTo>
                  <a:cubicBezTo>
                    <a:pt x="38" y="16"/>
                    <a:pt x="39" y="16"/>
                    <a:pt x="39" y="16"/>
                  </a:cubicBezTo>
                  <a:cubicBezTo>
                    <a:pt x="40" y="16"/>
                    <a:pt x="40" y="16"/>
                    <a:pt x="40" y="17"/>
                  </a:cubicBezTo>
                  <a:cubicBezTo>
                    <a:pt x="38" y="20"/>
                    <a:pt x="36" y="23"/>
                    <a:pt x="35" y="25"/>
                  </a:cubicBezTo>
                  <a:cubicBezTo>
                    <a:pt x="34" y="28"/>
                    <a:pt x="33" y="30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6"/>
                    <a:pt x="16" y="29"/>
                    <a:pt x="15" y="32"/>
                  </a:cubicBezTo>
                  <a:cubicBezTo>
                    <a:pt x="13" y="34"/>
                    <a:pt x="13" y="36"/>
                    <a:pt x="12" y="36"/>
                  </a:cubicBezTo>
                  <a:cubicBezTo>
                    <a:pt x="12" y="36"/>
                    <a:pt x="12" y="37"/>
                    <a:pt x="12" y="36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8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8"/>
                    <a:pt x="3" y="18"/>
                    <a:pt x="2" y="18"/>
                  </a:cubicBezTo>
                  <a:cubicBezTo>
                    <a:pt x="2" y="18"/>
                    <a:pt x="2" y="18"/>
                    <a:pt x="1" y="17"/>
                  </a:cubicBezTo>
                  <a:cubicBezTo>
                    <a:pt x="1" y="17"/>
                    <a:pt x="1" y="17"/>
                    <a:pt x="0" y="17"/>
                  </a:cubicBezTo>
                  <a:cubicBezTo>
                    <a:pt x="0" y="17"/>
                    <a:pt x="0" y="16"/>
                    <a:pt x="1" y="16"/>
                  </a:cubicBezTo>
                  <a:cubicBezTo>
                    <a:pt x="1" y="15"/>
                    <a:pt x="1" y="15"/>
                    <a:pt x="2" y="14"/>
                  </a:cubicBezTo>
                  <a:cubicBezTo>
                    <a:pt x="3" y="13"/>
                    <a:pt x="3" y="11"/>
                    <a:pt x="5" y="8"/>
                  </a:cubicBezTo>
                  <a:cubicBezTo>
                    <a:pt x="6" y="6"/>
                    <a:pt x="8" y="3"/>
                    <a:pt x="9" y="1"/>
                  </a:cubicBezTo>
                  <a:cubicBezTo>
                    <a:pt x="9" y="0"/>
                    <a:pt x="9" y="0"/>
                    <a:pt x="10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7" y="1"/>
                    <a:pt x="28" y="2"/>
                    <a:pt x="29" y="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1" y="3"/>
                    <a:pt x="30" y="4"/>
                    <a:pt x="30" y="4"/>
                  </a:cubicBezTo>
                  <a:cubicBezTo>
                    <a:pt x="30" y="4"/>
                    <a:pt x="29" y="4"/>
                    <a:pt x="29" y="5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36" y="14"/>
                    <a:pt x="36" y="14"/>
                    <a:pt x="36" y="14"/>
                  </a:cubicBezTo>
                  <a:close/>
                  <a:moveTo>
                    <a:pt x="30" y="25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34" y="18"/>
                    <a:pt x="34" y="18"/>
                    <a:pt x="34" y="18"/>
                  </a:cubicBezTo>
                  <a:lnTo>
                    <a:pt x="30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ï$ľîḋè"/>
            <p:cNvSpPr/>
            <p:nvPr/>
          </p:nvSpPr>
          <p:spPr bwMode="auto">
            <a:xfrm>
              <a:off x="3707553" y="4053672"/>
              <a:ext cx="132244" cy="136334"/>
            </a:xfrm>
            <a:custGeom>
              <a:avLst/>
              <a:gdLst>
                <a:gd name="T0" fmla="*/ 15 w 41"/>
                <a:gd name="T1" fmla="*/ 8 h 42"/>
                <a:gd name="T2" fmla="*/ 19 w 41"/>
                <a:gd name="T3" fmla="*/ 19 h 42"/>
                <a:gd name="T4" fmla="*/ 22 w 41"/>
                <a:gd name="T5" fmla="*/ 10 h 42"/>
                <a:gd name="T6" fmla="*/ 37 w 41"/>
                <a:gd name="T7" fmla="*/ 9 h 42"/>
                <a:gd name="T8" fmla="*/ 38 w 41"/>
                <a:gd name="T9" fmla="*/ 10 h 42"/>
                <a:gd name="T10" fmla="*/ 36 w 41"/>
                <a:gd name="T11" fmla="*/ 23 h 42"/>
                <a:gd name="T12" fmla="*/ 40 w 41"/>
                <a:gd name="T13" fmla="*/ 24 h 42"/>
                <a:gd name="T14" fmla="*/ 40 w 41"/>
                <a:gd name="T15" fmla="*/ 27 h 42"/>
                <a:gd name="T16" fmla="*/ 39 w 41"/>
                <a:gd name="T17" fmla="*/ 28 h 42"/>
                <a:gd name="T18" fmla="*/ 25 w 41"/>
                <a:gd name="T19" fmla="*/ 24 h 42"/>
                <a:gd name="T20" fmla="*/ 28 w 41"/>
                <a:gd name="T21" fmla="*/ 31 h 42"/>
                <a:gd name="T22" fmla="*/ 36 w 41"/>
                <a:gd name="T23" fmla="*/ 38 h 42"/>
                <a:gd name="T24" fmla="*/ 38 w 41"/>
                <a:gd name="T25" fmla="*/ 40 h 42"/>
                <a:gd name="T26" fmla="*/ 30 w 41"/>
                <a:gd name="T27" fmla="*/ 39 h 42"/>
                <a:gd name="T28" fmla="*/ 22 w 41"/>
                <a:gd name="T29" fmla="*/ 29 h 42"/>
                <a:gd name="T30" fmla="*/ 13 w 41"/>
                <a:gd name="T31" fmla="*/ 32 h 42"/>
                <a:gd name="T32" fmla="*/ 2 w 41"/>
                <a:gd name="T33" fmla="*/ 35 h 42"/>
                <a:gd name="T34" fmla="*/ 0 w 41"/>
                <a:gd name="T35" fmla="*/ 31 h 42"/>
                <a:gd name="T36" fmla="*/ 3 w 41"/>
                <a:gd name="T37" fmla="*/ 30 h 42"/>
                <a:gd name="T38" fmla="*/ 17 w 41"/>
                <a:gd name="T39" fmla="*/ 22 h 42"/>
                <a:gd name="T40" fmla="*/ 4 w 41"/>
                <a:gd name="T41" fmla="*/ 20 h 42"/>
                <a:gd name="T42" fmla="*/ 3 w 41"/>
                <a:gd name="T43" fmla="*/ 19 h 42"/>
                <a:gd name="T44" fmla="*/ 5 w 41"/>
                <a:gd name="T45" fmla="*/ 15 h 42"/>
                <a:gd name="T46" fmla="*/ 9 w 41"/>
                <a:gd name="T47" fmla="*/ 17 h 42"/>
                <a:gd name="T48" fmla="*/ 13 w 41"/>
                <a:gd name="T49" fmla="*/ 4 h 42"/>
                <a:gd name="T50" fmla="*/ 16 w 41"/>
                <a:gd name="T51" fmla="*/ 5 h 42"/>
                <a:gd name="T52" fmla="*/ 24 w 41"/>
                <a:gd name="T53" fmla="*/ 2 h 42"/>
                <a:gd name="T54" fmla="*/ 24 w 41"/>
                <a:gd name="T55" fmla="*/ 0 h 42"/>
                <a:gd name="T56" fmla="*/ 26 w 41"/>
                <a:gd name="T57" fmla="*/ 1 h 42"/>
                <a:gd name="T58" fmla="*/ 29 w 41"/>
                <a:gd name="T59" fmla="*/ 2 h 42"/>
                <a:gd name="T60" fmla="*/ 28 w 41"/>
                <a:gd name="T61" fmla="*/ 3 h 42"/>
                <a:gd name="T62" fmla="*/ 35 w 41"/>
                <a:gd name="T63" fmla="*/ 9 h 42"/>
                <a:gd name="T64" fmla="*/ 34 w 41"/>
                <a:gd name="T65" fmla="*/ 13 h 42"/>
                <a:gd name="T66" fmla="*/ 25 w 41"/>
                <a:gd name="T67" fmla="*/ 16 h 42"/>
                <a:gd name="T68" fmla="*/ 32 w 41"/>
                <a:gd name="T69" fmla="*/ 2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1" h="42">
                  <a:moveTo>
                    <a:pt x="22" y="10"/>
                  </a:moveTo>
                  <a:cubicBezTo>
                    <a:pt x="15" y="8"/>
                    <a:pt x="15" y="8"/>
                    <a:pt x="15" y="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0" y="18"/>
                    <a:pt x="20" y="16"/>
                    <a:pt x="21" y="15"/>
                  </a:cubicBezTo>
                  <a:cubicBezTo>
                    <a:pt x="21" y="13"/>
                    <a:pt x="22" y="12"/>
                    <a:pt x="22" y="10"/>
                  </a:cubicBezTo>
                  <a:close/>
                  <a:moveTo>
                    <a:pt x="35" y="9"/>
                  </a:moveTo>
                  <a:cubicBezTo>
                    <a:pt x="36" y="9"/>
                    <a:pt x="36" y="9"/>
                    <a:pt x="37" y="9"/>
                  </a:cubicBezTo>
                  <a:cubicBezTo>
                    <a:pt x="38" y="9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2"/>
                    <a:pt x="37" y="14"/>
                    <a:pt x="37" y="16"/>
                  </a:cubicBezTo>
                  <a:cubicBezTo>
                    <a:pt x="36" y="19"/>
                    <a:pt x="36" y="21"/>
                    <a:pt x="36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7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6" y="26"/>
                    <a:pt x="26" y="27"/>
                    <a:pt x="27" y="29"/>
                  </a:cubicBezTo>
                  <a:cubicBezTo>
                    <a:pt x="27" y="30"/>
                    <a:pt x="28" y="31"/>
                    <a:pt x="28" y="31"/>
                  </a:cubicBezTo>
                  <a:cubicBezTo>
                    <a:pt x="29" y="33"/>
                    <a:pt x="30" y="34"/>
                    <a:pt x="32" y="36"/>
                  </a:cubicBezTo>
                  <a:cubicBezTo>
                    <a:pt x="33" y="36"/>
                    <a:pt x="35" y="37"/>
                    <a:pt x="36" y="38"/>
                  </a:cubicBezTo>
                  <a:cubicBezTo>
                    <a:pt x="37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7" y="40"/>
                    <a:pt x="36" y="41"/>
                    <a:pt x="34" y="42"/>
                  </a:cubicBezTo>
                  <a:cubicBezTo>
                    <a:pt x="34" y="42"/>
                    <a:pt x="32" y="41"/>
                    <a:pt x="30" y="39"/>
                  </a:cubicBezTo>
                  <a:cubicBezTo>
                    <a:pt x="27" y="37"/>
                    <a:pt x="25" y="35"/>
                    <a:pt x="24" y="33"/>
                  </a:cubicBezTo>
                  <a:cubicBezTo>
                    <a:pt x="23" y="32"/>
                    <a:pt x="23" y="30"/>
                    <a:pt x="22" y="29"/>
                  </a:cubicBezTo>
                  <a:cubicBezTo>
                    <a:pt x="22" y="27"/>
                    <a:pt x="21" y="26"/>
                    <a:pt x="21" y="24"/>
                  </a:cubicBezTo>
                  <a:cubicBezTo>
                    <a:pt x="19" y="28"/>
                    <a:pt x="16" y="30"/>
                    <a:pt x="13" y="32"/>
                  </a:cubicBezTo>
                  <a:cubicBezTo>
                    <a:pt x="10" y="33"/>
                    <a:pt x="8" y="34"/>
                    <a:pt x="5" y="35"/>
                  </a:cubicBezTo>
                  <a:cubicBezTo>
                    <a:pt x="3" y="35"/>
                    <a:pt x="2" y="35"/>
                    <a:pt x="2" y="35"/>
                  </a:cubicBezTo>
                  <a:cubicBezTo>
                    <a:pt x="2" y="34"/>
                    <a:pt x="1" y="33"/>
                    <a:pt x="0" y="3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31"/>
                    <a:pt x="1" y="30"/>
                    <a:pt x="3" y="30"/>
                  </a:cubicBezTo>
                  <a:cubicBezTo>
                    <a:pt x="6" y="30"/>
                    <a:pt x="8" y="29"/>
                    <a:pt x="10" y="28"/>
                  </a:cubicBezTo>
                  <a:cubicBezTo>
                    <a:pt x="13" y="27"/>
                    <a:pt x="16" y="25"/>
                    <a:pt x="17" y="22"/>
                  </a:cubicBezTo>
                  <a:cubicBezTo>
                    <a:pt x="16" y="22"/>
                    <a:pt x="14" y="21"/>
                    <a:pt x="11" y="21"/>
                  </a:cubicBezTo>
                  <a:cubicBezTo>
                    <a:pt x="9" y="21"/>
                    <a:pt x="7" y="20"/>
                    <a:pt x="4" y="20"/>
                  </a:cubicBezTo>
                  <a:cubicBezTo>
                    <a:pt x="4" y="20"/>
                    <a:pt x="4" y="19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5"/>
                    <a:pt x="4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3" y="4"/>
                  </a:cubicBezTo>
                  <a:cubicBezTo>
                    <a:pt x="13" y="4"/>
                    <a:pt x="14" y="4"/>
                    <a:pt x="15" y="4"/>
                  </a:cubicBezTo>
                  <a:cubicBezTo>
                    <a:pt x="16" y="4"/>
                    <a:pt x="16" y="5"/>
                    <a:pt x="16" y="5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1"/>
                    <a:pt x="24" y="1"/>
                  </a:cubicBezTo>
                  <a:cubicBezTo>
                    <a:pt x="24" y="1"/>
                    <a:pt x="24" y="0"/>
                    <a:pt x="24" y="0"/>
                  </a:cubicBezTo>
                  <a:cubicBezTo>
                    <a:pt x="25" y="0"/>
                    <a:pt x="25" y="0"/>
                    <a:pt x="25" y="1"/>
                  </a:cubicBezTo>
                  <a:cubicBezTo>
                    <a:pt x="25" y="1"/>
                    <a:pt x="26" y="1"/>
                    <a:pt x="26" y="1"/>
                  </a:cubicBezTo>
                  <a:cubicBezTo>
                    <a:pt x="27" y="1"/>
                    <a:pt x="28" y="1"/>
                    <a:pt x="28" y="1"/>
                  </a:cubicBezTo>
                  <a:cubicBezTo>
                    <a:pt x="29" y="1"/>
                    <a:pt x="29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35" y="9"/>
                    <a:pt x="35" y="9"/>
                    <a:pt x="35" y="9"/>
                  </a:cubicBezTo>
                  <a:close/>
                  <a:moveTo>
                    <a:pt x="32" y="22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2"/>
                    <a:pt x="25" y="14"/>
                    <a:pt x="25" y="16"/>
                  </a:cubicBezTo>
                  <a:cubicBezTo>
                    <a:pt x="24" y="17"/>
                    <a:pt x="24" y="19"/>
                    <a:pt x="23" y="20"/>
                  </a:cubicBezTo>
                  <a:lnTo>
                    <a:pt x="32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ṧlíďè"/>
            <p:cNvSpPr/>
            <p:nvPr/>
          </p:nvSpPr>
          <p:spPr bwMode="auto">
            <a:xfrm>
              <a:off x="3872518" y="4083665"/>
              <a:ext cx="113157" cy="118611"/>
            </a:xfrm>
            <a:custGeom>
              <a:avLst/>
              <a:gdLst>
                <a:gd name="T0" fmla="*/ 6 w 35"/>
                <a:gd name="T1" fmla="*/ 12 h 37"/>
                <a:gd name="T2" fmla="*/ 16 w 35"/>
                <a:gd name="T3" fmla="*/ 17 h 37"/>
                <a:gd name="T4" fmla="*/ 16 w 35"/>
                <a:gd name="T5" fmla="*/ 13 h 37"/>
                <a:gd name="T6" fmla="*/ 31 w 35"/>
                <a:gd name="T7" fmla="*/ 1 h 37"/>
                <a:gd name="T8" fmla="*/ 32 w 35"/>
                <a:gd name="T9" fmla="*/ 13 h 37"/>
                <a:gd name="T10" fmla="*/ 28 w 35"/>
                <a:gd name="T11" fmla="*/ 13 h 37"/>
                <a:gd name="T12" fmla="*/ 20 w 35"/>
                <a:gd name="T13" fmla="*/ 13 h 37"/>
                <a:gd name="T14" fmla="*/ 20 w 35"/>
                <a:gd name="T15" fmla="*/ 18 h 37"/>
                <a:gd name="T16" fmla="*/ 32 w 35"/>
                <a:gd name="T17" fmla="*/ 18 h 37"/>
                <a:gd name="T18" fmla="*/ 33 w 35"/>
                <a:gd name="T19" fmla="*/ 18 h 37"/>
                <a:gd name="T20" fmla="*/ 33 w 35"/>
                <a:gd name="T21" fmla="*/ 22 h 37"/>
                <a:gd name="T22" fmla="*/ 20 w 35"/>
                <a:gd name="T23" fmla="*/ 21 h 37"/>
                <a:gd name="T24" fmla="*/ 21 w 35"/>
                <a:gd name="T25" fmla="*/ 24 h 37"/>
                <a:gd name="T26" fmla="*/ 30 w 35"/>
                <a:gd name="T27" fmla="*/ 32 h 37"/>
                <a:gd name="T28" fmla="*/ 31 w 35"/>
                <a:gd name="T29" fmla="*/ 28 h 37"/>
                <a:gd name="T30" fmla="*/ 33 w 35"/>
                <a:gd name="T31" fmla="*/ 29 h 37"/>
                <a:gd name="T32" fmla="*/ 35 w 35"/>
                <a:gd name="T33" fmla="*/ 30 h 37"/>
                <a:gd name="T34" fmla="*/ 31 w 35"/>
                <a:gd name="T35" fmla="*/ 37 h 37"/>
                <a:gd name="T36" fmla="*/ 22 w 35"/>
                <a:gd name="T37" fmla="*/ 32 h 37"/>
                <a:gd name="T38" fmla="*/ 17 w 35"/>
                <a:gd name="T39" fmla="*/ 21 h 37"/>
                <a:gd name="T40" fmla="*/ 5 w 35"/>
                <a:gd name="T41" fmla="*/ 31 h 37"/>
                <a:gd name="T42" fmla="*/ 17 w 35"/>
                <a:gd name="T43" fmla="*/ 29 h 37"/>
                <a:gd name="T44" fmla="*/ 18 w 35"/>
                <a:gd name="T45" fmla="*/ 29 h 37"/>
                <a:gd name="T46" fmla="*/ 17 w 35"/>
                <a:gd name="T47" fmla="*/ 33 h 37"/>
                <a:gd name="T48" fmla="*/ 3 w 35"/>
                <a:gd name="T49" fmla="*/ 36 h 37"/>
                <a:gd name="T50" fmla="*/ 2 w 35"/>
                <a:gd name="T51" fmla="*/ 36 h 37"/>
                <a:gd name="T52" fmla="*/ 0 w 35"/>
                <a:gd name="T53" fmla="*/ 32 h 37"/>
                <a:gd name="T54" fmla="*/ 1 w 35"/>
                <a:gd name="T55" fmla="*/ 25 h 37"/>
                <a:gd name="T56" fmla="*/ 2 w 35"/>
                <a:gd name="T57" fmla="*/ 2 h 37"/>
                <a:gd name="T58" fmla="*/ 2 w 35"/>
                <a:gd name="T59" fmla="*/ 0 h 37"/>
                <a:gd name="T60" fmla="*/ 4 w 35"/>
                <a:gd name="T61" fmla="*/ 0 h 37"/>
                <a:gd name="T62" fmla="*/ 28 w 35"/>
                <a:gd name="T63" fmla="*/ 9 h 37"/>
                <a:gd name="T64" fmla="*/ 6 w 35"/>
                <a:gd name="T65" fmla="*/ 4 h 37"/>
                <a:gd name="T66" fmla="*/ 28 w 35"/>
                <a:gd name="T67" fmla="*/ 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37">
                  <a:moveTo>
                    <a:pt x="16" y="13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6"/>
                    <a:pt x="16" y="15"/>
                  </a:cubicBezTo>
                  <a:cubicBezTo>
                    <a:pt x="16" y="14"/>
                    <a:pt x="16" y="13"/>
                    <a:pt x="16" y="13"/>
                  </a:cubicBezTo>
                  <a:close/>
                  <a:moveTo>
                    <a:pt x="29" y="1"/>
                  </a:moveTo>
                  <a:cubicBezTo>
                    <a:pt x="31" y="1"/>
                    <a:pt x="31" y="1"/>
                    <a:pt x="31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8"/>
                    <a:pt x="32" y="12"/>
                    <a:pt x="32" y="13"/>
                  </a:cubicBezTo>
                  <a:cubicBezTo>
                    <a:pt x="32" y="13"/>
                    <a:pt x="31" y="13"/>
                    <a:pt x="31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4"/>
                    <a:pt x="20" y="14"/>
                    <a:pt x="20" y="15"/>
                  </a:cubicBezTo>
                  <a:cubicBezTo>
                    <a:pt x="20" y="16"/>
                    <a:pt x="20" y="17"/>
                    <a:pt x="20" y="18"/>
                  </a:cubicBezTo>
                  <a:cubicBezTo>
                    <a:pt x="22" y="18"/>
                    <a:pt x="23" y="18"/>
                    <a:pt x="24" y="18"/>
                  </a:cubicBezTo>
                  <a:cubicBezTo>
                    <a:pt x="29" y="18"/>
                    <a:pt x="32" y="18"/>
                    <a:pt x="32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2" y="22"/>
                    <a:pt x="32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3"/>
                  </a:cubicBezTo>
                  <a:cubicBezTo>
                    <a:pt x="21" y="23"/>
                    <a:pt x="21" y="24"/>
                    <a:pt x="21" y="24"/>
                  </a:cubicBezTo>
                  <a:cubicBezTo>
                    <a:pt x="22" y="26"/>
                    <a:pt x="23" y="28"/>
                    <a:pt x="25" y="29"/>
                  </a:cubicBezTo>
                  <a:cubicBezTo>
                    <a:pt x="28" y="32"/>
                    <a:pt x="29" y="32"/>
                    <a:pt x="30" y="32"/>
                  </a:cubicBezTo>
                  <a:cubicBezTo>
                    <a:pt x="30" y="32"/>
                    <a:pt x="31" y="31"/>
                    <a:pt x="31" y="29"/>
                  </a:cubicBezTo>
                  <a:cubicBezTo>
                    <a:pt x="31" y="29"/>
                    <a:pt x="31" y="29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8"/>
                    <a:pt x="33" y="29"/>
                    <a:pt x="33" y="29"/>
                  </a:cubicBezTo>
                  <a:cubicBezTo>
                    <a:pt x="34" y="29"/>
                    <a:pt x="34" y="29"/>
                    <a:pt x="35" y="29"/>
                  </a:cubicBezTo>
                  <a:cubicBezTo>
                    <a:pt x="35" y="29"/>
                    <a:pt x="35" y="30"/>
                    <a:pt x="35" y="30"/>
                  </a:cubicBezTo>
                  <a:cubicBezTo>
                    <a:pt x="35" y="31"/>
                    <a:pt x="35" y="32"/>
                    <a:pt x="34" y="34"/>
                  </a:cubicBezTo>
                  <a:cubicBezTo>
                    <a:pt x="33" y="36"/>
                    <a:pt x="32" y="37"/>
                    <a:pt x="31" y="37"/>
                  </a:cubicBezTo>
                  <a:cubicBezTo>
                    <a:pt x="30" y="37"/>
                    <a:pt x="29" y="37"/>
                    <a:pt x="28" y="36"/>
                  </a:cubicBezTo>
                  <a:cubicBezTo>
                    <a:pt x="25" y="35"/>
                    <a:pt x="23" y="34"/>
                    <a:pt x="22" y="32"/>
                  </a:cubicBezTo>
                  <a:cubicBezTo>
                    <a:pt x="20" y="30"/>
                    <a:pt x="18" y="28"/>
                    <a:pt x="17" y="25"/>
                  </a:cubicBezTo>
                  <a:cubicBezTo>
                    <a:pt x="17" y="24"/>
                    <a:pt x="17" y="22"/>
                    <a:pt x="17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7" y="31"/>
                    <a:pt x="9" y="31"/>
                    <a:pt x="11" y="30"/>
                  </a:cubicBezTo>
                  <a:cubicBezTo>
                    <a:pt x="12" y="30"/>
                    <a:pt x="14" y="30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5" y="33"/>
                    <a:pt x="13" y="34"/>
                    <a:pt x="11" y="34"/>
                  </a:cubicBezTo>
                  <a:cubicBezTo>
                    <a:pt x="8" y="35"/>
                    <a:pt x="6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2" y="36"/>
                    <a:pt x="2" y="36"/>
                  </a:cubicBezTo>
                  <a:cubicBezTo>
                    <a:pt x="2" y="36"/>
                    <a:pt x="1" y="36"/>
                    <a:pt x="1" y="34"/>
                  </a:cubicBezTo>
                  <a:cubicBezTo>
                    <a:pt x="0" y="33"/>
                    <a:pt x="0" y="32"/>
                    <a:pt x="0" y="32"/>
                  </a:cubicBezTo>
                  <a:cubicBezTo>
                    <a:pt x="0" y="32"/>
                    <a:pt x="1" y="31"/>
                    <a:pt x="1" y="30"/>
                  </a:cubicBezTo>
                  <a:cubicBezTo>
                    <a:pt x="1" y="29"/>
                    <a:pt x="1" y="27"/>
                    <a:pt x="1" y="25"/>
                  </a:cubicBezTo>
                  <a:cubicBezTo>
                    <a:pt x="1" y="22"/>
                    <a:pt x="1" y="19"/>
                    <a:pt x="1" y="15"/>
                  </a:cubicBezTo>
                  <a:cubicBezTo>
                    <a:pt x="1" y="11"/>
                    <a:pt x="2" y="6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29" y="1"/>
                    <a:pt x="29" y="1"/>
                    <a:pt x="29" y="1"/>
                  </a:cubicBezTo>
                  <a:close/>
                  <a:moveTo>
                    <a:pt x="28" y="9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8"/>
                    <a:pt x="6" y="8"/>
                    <a:pt x="6" y="8"/>
                  </a:cubicBezTo>
                  <a:lnTo>
                    <a:pt x="2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ïṣḷiḋè"/>
            <p:cNvSpPr/>
            <p:nvPr/>
          </p:nvSpPr>
          <p:spPr bwMode="auto">
            <a:xfrm>
              <a:off x="4011579" y="4076849"/>
              <a:ext cx="134971" cy="125427"/>
            </a:xfrm>
            <a:custGeom>
              <a:avLst/>
              <a:gdLst>
                <a:gd name="T0" fmla="*/ 1 w 42"/>
                <a:gd name="T1" fmla="*/ 11 h 39"/>
                <a:gd name="T2" fmla="*/ 1 w 42"/>
                <a:gd name="T3" fmla="*/ 7 h 39"/>
                <a:gd name="T4" fmla="*/ 9 w 42"/>
                <a:gd name="T5" fmla="*/ 7 h 39"/>
                <a:gd name="T6" fmla="*/ 17 w 42"/>
                <a:gd name="T7" fmla="*/ 6 h 39"/>
                <a:gd name="T8" fmla="*/ 17 w 42"/>
                <a:gd name="T9" fmla="*/ 10 h 39"/>
                <a:gd name="T10" fmla="*/ 9 w 42"/>
                <a:gd name="T11" fmla="*/ 10 h 39"/>
                <a:gd name="T12" fmla="*/ 9 w 42"/>
                <a:gd name="T13" fmla="*/ 15 h 39"/>
                <a:gd name="T14" fmla="*/ 16 w 42"/>
                <a:gd name="T15" fmla="*/ 16 h 39"/>
                <a:gd name="T16" fmla="*/ 14 w 42"/>
                <a:gd name="T17" fmla="*/ 37 h 39"/>
                <a:gd name="T18" fmla="*/ 9 w 42"/>
                <a:gd name="T19" fmla="*/ 36 h 39"/>
                <a:gd name="T20" fmla="*/ 9 w 42"/>
                <a:gd name="T21" fmla="*/ 35 h 39"/>
                <a:gd name="T22" fmla="*/ 12 w 42"/>
                <a:gd name="T23" fmla="*/ 34 h 39"/>
                <a:gd name="T24" fmla="*/ 13 w 42"/>
                <a:gd name="T25" fmla="*/ 18 h 39"/>
                <a:gd name="T26" fmla="*/ 9 w 42"/>
                <a:gd name="T27" fmla="*/ 25 h 39"/>
                <a:gd name="T28" fmla="*/ 7 w 42"/>
                <a:gd name="T29" fmla="*/ 39 h 39"/>
                <a:gd name="T30" fmla="*/ 4 w 42"/>
                <a:gd name="T31" fmla="*/ 35 h 39"/>
                <a:gd name="T32" fmla="*/ 5 w 42"/>
                <a:gd name="T33" fmla="*/ 19 h 39"/>
                <a:gd name="T34" fmla="*/ 10 w 42"/>
                <a:gd name="T35" fmla="*/ 3 h 39"/>
                <a:gd name="T36" fmla="*/ 6 w 42"/>
                <a:gd name="T37" fmla="*/ 0 h 39"/>
                <a:gd name="T38" fmla="*/ 7 w 42"/>
                <a:gd name="T39" fmla="*/ 6 h 39"/>
                <a:gd name="T40" fmla="*/ 11 w 42"/>
                <a:gd name="T41" fmla="*/ 5 h 39"/>
                <a:gd name="T42" fmla="*/ 33 w 42"/>
                <a:gd name="T43" fmla="*/ 13 h 39"/>
                <a:gd name="T44" fmla="*/ 37 w 42"/>
                <a:gd name="T45" fmla="*/ 13 h 39"/>
                <a:gd name="T46" fmla="*/ 37 w 42"/>
                <a:gd name="T47" fmla="*/ 16 h 39"/>
                <a:gd name="T48" fmla="*/ 32 w 42"/>
                <a:gd name="T49" fmla="*/ 17 h 39"/>
                <a:gd name="T50" fmla="*/ 36 w 42"/>
                <a:gd name="T51" fmla="*/ 21 h 39"/>
                <a:gd name="T52" fmla="*/ 40 w 42"/>
                <a:gd name="T53" fmla="*/ 21 h 39"/>
                <a:gd name="T54" fmla="*/ 40 w 42"/>
                <a:gd name="T55" fmla="*/ 25 h 39"/>
                <a:gd name="T56" fmla="*/ 34 w 42"/>
                <a:gd name="T57" fmla="*/ 27 h 39"/>
                <a:gd name="T58" fmla="*/ 41 w 42"/>
                <a:gd name="T59" fmla="*/ 33 h 39"/>
                <a:gd name="T60" fmla="*/ 40 w 42"/>
                <a:gd name="T61" fmla="*/ 36 h 39"/>
                <a:gd name="T62" fmla="*/ 33 w 42"/>
                <a:gd name="T63" fmla="*/ 31 h 39"/>
                <a:gd name="T64" fmla="*/ 24 w 42"/>
                <a:gd name="T65" fmla="*/ 37 h 39"/>
                <a:gd name="T66" fmla="*/ 19 w 42"/>
                <a:gd name="T67" fmla="*/ 35 h 39"/>
                <a:gd name="T68" fmla="*/ 27 w 42"/>
                <a:gd name="T69" fmla="*/ 28 h 39"/>
                <a:gd name="T70" fmla="*/ 24 w 42"/>
                <a:gd name="T71" fmla="*/ 26 h 39"/>
                <a:gd name="T72" fmla="*/ 20 w 42"/>
                <a:gd name="T73" fmla="*/ 26 h 39"/>
                <a:gd name="T74" fmla="*/ 20 w 42"/>
                <a:gd name="T75" fmla="*/ 22 h 39"/>
                <a:gd name="T76" fmla="*/ 28 w 42"/>
                <a:gd name="T77" fmla="*/ 20 h 39"/>
                <a:gd name="T78" fmla="*/ 26 w 42"/>
                <a:gd name="T79" fmla="*/ 17 h 39"/>
                <a:gd name="T80" fmla="*/ 21 w 42"/>
                <a:gd name="T81" fmla="*/ 20 h 39"/>
                <a:gd name="T82" fmla="*/ 23 w 42"/>
                <a:gd name="T83" fmla="*/ 15 h 39"/>
                <a:gd name="T84" fmla="*/ 24 w 42"/>
                <a:gd name="T85" fmla="*/ 10 h 39"/>
                <a:gd name="T86" fmla="*/ 28 w 42"/>
                <a:gd name="T87" fmla="*/ 12 h 39"/>
                <a:gd name="T88" fmla="*/ 24 w 42"/>
                <a:gd name="T89" fmla="*/ 4 h 39"/>
                <a:gd name="T90" fmla="*/ 24 w 42"/>
                <a:gd name="T91" fmla="*/ 1 h 39"/>
                <a:gd name="T92" fmla="*/ 20 w 42"/>
                <a:gd name="T93" fmla="*/ 0 h 39"/>
                <a:gd name="T94" fmla="*/ 19 w 42"/>
                <a:gd name="T95" fmla="*/ 8 h 39"/>
                <a:gd name="T96" fmla="*/ 17 w 42"/>
                <a:gd name="T97" fmla="*/ 14 h 39"/>
                <a:gd name="T98" fmla="*/ 23 w 42"/>
                <a:gd name="T99" fmla="*/ 9 h 39"/>
                <a:gd name="T100" fmla="*/ 30 w 42"/>
                <a:gd name="T101" fmla="*/ 7 h 39"/>
                <a:gd name="T102" fmla="*/ 38 w 42"/>
                <a:gd name="T103" fmla="*/ 7 h 39"/>
                <a:gd name="T104" fmla="*/ 38 w 42"/>
                <a:gd name="T105" fmla="*/ 3 h 39"/>
                <a:gd name="T106" fmla="*/ 30 w 42"/>
                <a:gd name="T107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39">
                  <a:moveTo>
                    <a:pt x="4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3" y="7"/>
                    <a:pt x="5" y="7"/>
                  </a:cubicBezTo>
                  <a:cubicBezTo>
                    <a:pt x="7" y="7"/>
                    <a:pt x="8" y="7"/>
                    <a:pt x="9" y="7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6" y="6"/>
                  </a:cubicBezTo>
                  <a:cubicBezTo>
                    <a:pt x="16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6" y="10"/>
                    <a:pt x="16" y="10"/>
                  </a:cubicBezTo>
                  <a:cubicBezTo>
                    <a:pt x="15" y="10"/>
                    <a:pt x="14" y="10"/>
                    <a:pt x="12" y="10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1"/>
                    <a:pt x="8" y="12"/>
                    <a:pt x="8" y="12"/>
                  </a:cubicBezTo>
                  <a:cubicBezTo>
                    <a:pt x="8" y="13"/>
                    <a:pt x="9" y="14"/>
                    <a:pt x="9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5"/>
                    <a:pt x="16" y="16"/>
                  </a:cubicBezTo>
                  <a:cubicBezTo>
                    <a:pt x="17" y="19"/>
                    <a:pt x="17" y="22"/>
                    <a:pt x="17" y="26"/>
                  </a:cubicBezTo>
                  <a:cubicBezTo>
                    <a:pt x="17" y="31"/>
                    <a:pt x="17" y="33"/>
                    <a:pt x="17" y="34"/>
                  </a:cubicBezTo>
                  <a:cubicBezTo>
                    <a:pt x="16" y="36"/>
                    <a:pt x="16" y="37"/>
                    <a:pt x="14" y="37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9" y="37"/>
                    <a:pt x="9" y="36"/>
                  </a:cubicBezTo>
                  <a:cubicBezTo>
                    <a:pt x="9" y="36"/>
                    <a:pt x="8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2" y="34"/>
                  </a:cubicBezTo>
                  <a:cubicBezTo>
                    <a:pt x="12" y="34"/>
                    <a:pt x="13" y="34"/>
                    <a:pt x="13" y="33"/>
                  </a:cubicBezTo>
                  <a:cubicBezTo>
                    <a:pt x="13" y="32"/>
                    <a:pt x="13" y="29"/>
                    <a:pt x="13" y="25"/>
                  </a:cubicBezTo>
                  <a:cubicBezTo>
                    <a:pt x="13" y="23"/>
                    <a:pt x="13" y="20"/>
                    <a:pt x="13" y="18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20"/>
                    <a:pt x="9" y="23"/>
                    <a:pt x="9" y="25"/>
                  </a:cubicBezTo>
                  <a:cubicBezTo>
                    <a:pt x="9" y="28"/>
                    <a:pt x="9" y="31"/>
                    <a:pt x="9" y="32"/>
                  </a:cubicBezTo>
                  <a:cubicBezTo>
                    <a:pt x="8" y="35"/>
                    <a:pt x="8" y="36"/>
                    <a:pt x="7" y="38"/>
                  </a:cubicBezTo>
                  <a:cubicBezTo>
                    <a:pt x="7" y="38"/>
                    <a:pt x="7" y="38"/>
                    <a:pt x="7" y="39"/>
                  </a:cubicBezTo>
                  <a:cubicBezTo>
                    <a:pt x="6" y="38"/>
                    <a:pt x="5" y="38"/>
                    <a:pt x="4" y="38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6"/>
                    <a:pt x="4" y="36"/>
                    <a:pt x="4" y="35"/>
                  </a:cubicBezTo>
                  <a:cubicBezTo>
                    <a:pt x="4" y="34"/>
                    <a:pt x="4" y="33"/>
                    <a:pt x="5" y="31"/>
                  </a:cubicBezTo>
                  <a:cubicBezTo>
                    <a:pt x="5" y="30"/>
                    <a:pt x="5" y="28"/>
                    <a:pt x="5" y="26"/>
                  </a:cubicBezTo>
                  <a:cubicBezTo>
                    <a:pt x="5" y="24"/>
                    <a:pt x="5" y="22"/>
                    <a:pt x="5" y="19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11" y="5"/>
                  </a:moveTo>
                  <a:cubicBezTo>
                    <a:pt x="11" y="5"/>
                    <a:pt x="11" y="5"/>
                    <a:pt x="10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0"/>
                    <a:pt x="5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2"/>
                    <a:pt x="6" y="4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8" y="6"/>
                    <a:pt x="8" y="6"/>
                    <a:pt x="9" y="6"/>
                  </a:cubicBezTo>
                  <a:cubicBezTo>
                    <a:pt x="10" y="6"/>
                    <a:pt x="11" y="6"/>
                    <a:pt x="11" y="5"/>
                  </a:cubicBezTo>
                  <a:close/>
                  <a:moveTo>
                    <a:pt x="27" y="13"/>
                  </a:moveTo>
                  <a:cubicBezTo>
                    <a:pt x="30" y="13"/>
                    <a:pt x="30" y="13"/>
                    <a:pt x="30" y="13"/>
                  </a:cubicBezTo>
                  <a:cubicBezTo>
                    <a:pt x="31" y="13"/>
                    <a:pt x="32" y="13"/>
                    <a:pt x="33" y="13"/>
                  </a:cubicBezTo>
                  <a:cubicBezTo>
                    <a:pt x="35" y="13"/>
                    <a:pt x="36" y="13"/>
                    <a:pt x="36" y="13"/>
                  </a:cubicBezTo>
                  <a:cubicBezTo>
                    <a:pt x="36" y="12"/>
                    <a:pt x="37" y="12"/>
                    <a:pt x="37" y="12"/>
                  </a:cubicBezTo>
                  <a:cubicBezTo>
                    <a:pt x="37" y="12"/>
                    <a:pt x="37" y="13"/>
                    <a:pt x="37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6" y="17"/>
                    <a:pt x="35" y="17"/>
                    <a:pt x="34" y="17"/>
                  </a:cubicBezTo>
                  <a:cubicBezTo>
                    <a:pt x="33" y="17"/>
                    <a:pt x="32" y="17"/>
                    <a:pt x="32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8"/>
                    <a:pt x="32" y="19"/>
                    <a:pt x="32" y="20"/>
                  </a:cubicBezTo>
                  <a:cubicBezTo>
                    <a:pt x="32" y="21"/>
                    <a:pt x="32" y="21"/>
                    <a:pt x="32" y="22"/>
                  </a:cubicBezTo>
                  <a:cubicBezTo>
                    <a:pt x="33" y="22"/>
                    <a:pt x="35" y="21"/>
                    <a:pt x="36" y="21"/>
                  </a:cubicBezTo>
                  <a:cubicBezTo>
                    <a:pt x="37" y="21"/>
                    <a:pt x="38" y="21"/>
                    <a:pt x="39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5"/>
                    <a:pt x="37" y="25"/>
                    <a:pt x="36" y="25"/>
                  </a:cubicBezTo>
                  <a:cubicBezTo>
                    <a:pt x="35" y="25"/>
                    <a:pt x="34" y="25"/>
                    <a:pt x="33" y="25"/>
                  </a:cubicBezTo>
                  <a:cubicBezTo>
                    <a:pt x="34" y="26"/>
                    <a:pt x="34" y="27"/>
                    <a:pt x="34" y="27"/>
                  </a:cubicBezTo>
                  <a:cubicBezTo>
                    <a:pt x="35" y="29"/>
                    <a:pt x="36" y="29"/>
                    <a:pt x="37" y="30"/>
                  </a:cubicBezTo>
                  <a:cubicBezTo>
                    <a:pt x="38" y="31"/>
                    <a:pt x="39" y="32"/>
                    <a:pt x="40" y="32"/>
                  </a:cubicBezTo>
                  <a:cubicBezTo>
                    <a:pt x="40" y="32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4"/>
                    <a:pt x="42" y="34"/>
                    <a:pt x="41" y="34"/>
                  </a:cubicBezTo>
                  <a:cubicBezTo>
                    <a:pt x="40" y="35"/>
                    <a:pt x="40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6" y="35"/>
                    <a:pt x="35" y="34"/>
                    <a:pt x="34" y="33"/>
                  </a:cubicBezTo>
                  <a:cubicBezTo>
                    <a:pt x="34" y="33"/>
                    <a:pt x="33" y="32"/>
                    <a:pt x="33" y="31"/>
                  </a:cubicBezTo>
                  <a:cubicBezTo>
                    <a:pt x="32" y="31"/>
                    <a:pt x="32" y="30"/>
                    <a:pt x="31" y="29"/>
                  </a:cubicBezTo>
                  <a:cubicBezTo>
                    <a:pt x="30" y="31"/>
                    <a:pt x="29" y="33"/>
                    <a:pt x="28" y="34"/>
                  </a:cubicBezTo>
                  <a:cubicBezTo>
                    <a:pt x="27" y="36"/>
                    <a:pt x="25" y="36"/>
                    <a:pt x="24" y="37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7"/>
                    <a:pt x="21" y="37"/>
                    <a:pt x="20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4"/>
                    <a:pt x="20" y="34"/>
                  </a:cubicBezTo>
                  <a:cubicBezTo>
                    <a:pt x="21" y="34"/>
                    <a:pt x="22" y="33"/>
                    <a:pt x="23" y="33"/>
                  </a:cubicBezTo>
                  <a:cubicBezTo>
                    <a:pt x="25" y="32"/>
                    <a:pt x="27" y="30"/>
                    <a:pt x="27" y="28"/>
                  </a:cubicBezTo>
                  <a:cubicBezTo>
                    <a:pt x="27" y="28"/>
                    <a:pt x="28" y="27"/>
                    <a:pt x="28" y="27"/>
                  </a:cubicBezTo>
                  <a:cubicBezTo>
                    <a:pt x="28" y="27"/>
                    <a:pt x="28" y="26"/>
                    <a:pt x="28" y="26"/>
                  </a:cubicBezTo>
                  <a:cubicBezTo>
                    <a:pt x="26" y="26"/>
                    <a:pt x="25" y="26"/>
                    <a:pt x="24" y="26"/>
                  </a:cubicBezTo>
                  <a:cubicBezTo>
                    <a:pt x="23" y="26"/>
                    <a:pt x="22" y="26"/>
                    <a:pt x="21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7"/>
                    <a:pt x="20" y="27"/>
                    <a:pt x="20" y="26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2" y="22"/>
                    <a:pt x="23" y="22"/>
                    <a:pt x="25" y="22"/>
                  </a:cubicBezTo>
                  <a:cubicBezTo>
                    <a:pt x="26" y="22"/>
                    <a:pt x="27" y="22"/>
                    <a:pt x="28" y="22"/>
                  </a:cubicBezTo>
                  <a:cubicBezTo>
                    <a:pt x="28" y="21"/>
                    <a:pt x="28" y="21"/>
                    <a:pt x="28" y="20"/>
                  </a:cubicBezTo>
                  <a:cubicBezTo>
                    <a:pt x="28" y="19"/>
                    <a:pt x="28" y="19"/>
                    <a:pt x="28" y="18"/>
                  </a:cubicBezTo>
                  <a:cubicBezTo>
                    <a:pt x="28" y="18"/>
                    <a:pt x="28" y="17"/>
                    <a:pt x="28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20"/>
                    <a:pt x="24" y="21"/>
                    <a:pt x="24" y="21"/>
                  </a:cubicBezTo>
                  <a:cubicBezTo>
                    <a:pt x="24" y="21"/>
                    <a:pt x="23" y="21"/>
                    <a:pt x="23" y="21"/>
                  </a:cubicBezTo>
                  <a:cubicBezTo>
                    <a:pt x="23" y="21"/>
                    <a:pt x="22" y="21"/>
                    <a:pt x="21" y="20"/>
                  </a:cubicBezTo>
                  <a:cubicBezTo>
                    <a:pt x="21" y="20"/>
                    <a:pt x="20" y="20"/>
                    <a:pt x="20" y="20"/>
                  </a:cubicBezTo>
                  <a:cubicBezTo>
                    <a:pt x="20" y="19"/>
                    <a:pt x="21" y="19"/>
                    <a:pt x="21" y="18"/>
                  </a:cubicBezTo>
                  <a:cubicBezTo>
                    <a:pt x="22" y="17"/>
                    <a:pt x="22" y="16"/>
                    <a:pt x="23" y="15"/>
                  </a:cubicBezTo>
                  <a:cubicBezTo>
                    <a:pt x="23" y="13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6" y="10"/>
                    <a:pt x="27" y="10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7" y="13"/>
                    <a:pt x="27" y="13"/>
                    <a:pt x="27" y="13"/>
                  </a:cubicBezTo>
                  <a:close/>
                  <a:moveTo>
                    <a:pt x="24" y="4"/>
                  </a:moveTo>
                  <a:cubicBezTo>
                    <a:pt x="24" y="3"/>
                    <a:pt x="24" y="3"/>
                    <a:pt x="24" y="3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2"/>
                    <a:pt x="20" y="3"/>
                    <a:pt x="20" y="4"/>
                  </a:cubicBezTo>
                  <a:cubicBezTo>
                    <a:pt x="19" y="5"/>
                    <a:pt x="19" y="6"/>
                    <a:pt x="19" y="8"/>
                  </a:cubicBezTo>
                  <a:cubicBezTo>
                    <a:pt x="19" y="9"/>
                    <a:pt x="18" y="10"/>
                    <a:pt x="17" y="11"/>
                  </a:cubicBezTo>
                  <a:cubicBezTo>
                    <a:pt x="17" y="12"/>
                    <a:pt x="16" y="13"/>
                    <a:pt x="16" y="14"/>
                  </a:cubicBezTo>
                  <a:cubicBezTo>
                    <a:pt x="16" y="14"/>
                    <a:pt x="17" y="14"/>
                    <a:pt x="17" y="14"/>
                  </a:cubicBezTo>
                  <a:cubicBezTo>
                    <a:pt x="19" y="15"/>
                    <a:pt x="19" y="15"/>
                    <a:pt x="20" y="15"/>
                  </a:cubicBezTo>
                  <a:cubicBezTo>
                    <a:pt x="20" y="15"/>
                    <a:pt x="20" y="14"/>
                    <a:pt x="21" y="13"/>
                  </a:cubicBezTo>
                  <a:cubicBezTo>
                    <a:pt x="22" y="11"/>
                    <a:pt x="22" y="10"/>
                    <a:pt x="23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8"/>
                    <a:pt x="26" y="8"/>
                    <a:pt x="27" y="8"/>
                  </a:cubicBezTo>
                  <a:cubicBezTo>
                    <a:pt x="28" y="8"/>
                    <a:pt x="29" y="7"/>
                    <a:pt x="30" y="7"/>
                  </a:cubicBezTo>
                  <a:cubicBezTo>
                    <a:pt x="31" y="7"/>
                    <a:pt x="32" y="7"/>
                    <a:pt x="34" y="7"/>
                  </a:cubicBezTo>
                  <a:cubicBezTo>
                    <a:pt x="36" y="7"/>
                    <a:pt x="37" y="7"/>
                    <a:pt x="37" y="7"/>
                  </a:cubicBezTo>
                  <a:cubicBezTo>
                    <a:pt x="37" y="7"/>
                    <a:pt x="38" y="7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2" y="3"/>
                    <a:pt x="31" y="3"/>
                    <a:pt x="30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íṥļidè"/>
            <p:cNvSpPr/>
            <p:nvPr/>
          </p:nvSpPr>
          <p:spPr bwMode="auto">
            <a:xfrm>
              <a:off x="4158820" y="4044128"/>
              <a:ext cx="136334" cy="132244"/>
            </a:xfrm>
            <a:custGeom>
              <a:avLst/>
              <a:gdLst>
                <a:gd name="T0" fmla="*/ 19 w 42"/>
                <a:gd name="T1" fmla="*/ 11 h 41"/>
                <a:gd name="T2" fmla="*/ 25 w 42"/>
                <a:gd name="T3" fmla="*/ 9 h 41"/>
                <a:gd name="T4" fmla="*/ 34 w 42"/>
                <a:gd name="T5" fmla="*/ 6 h 41"/>
                <a:gd name="T6" fmla="*/ 34 w 42"/>
                <a:gd name="T7" fmla="*/ 6 h 41"/>
                <a:gd name="T8" fmla="*/ 35 w 42"/>
                <a:gd name="T9" fmla="*/ 6 h 41"/>
                <a:gd name="T10" fmla="*/ 35 w 42"/>
                <a:gd name="T11" fmla="*/ 6 h 41"/>
                <a:gd name="T12" fmla="*/ 36 w 42"/>
                <a:gd name="T13" fmla="*/ 10 h 41"/>
                <a:gd name="T14" fmla="*/ 36 w 42"/>
                <a:gd name="T15" fmla="*/ 10 h 41"/>
                <a:gd name="T16" fmla="*/ 35 w 42"/>
                <a:gd name="T17" fmla="*/ 10 h 41"/>
                <a:gd name="T18" fmla="*/ 28 w 42"/>
                <a:gd name="T19" fmla="*/ 12 h 41"/>
                <a:gd name="T20" fmla="*/ 21 w 42"/>
                <a:gd name="T21" fmla="*/ 14 h 41"/>
                <a:gd name="T22" fmla="*/ 24 w 42"/>
                <a:gd name="T23" fmla="*/ 19 h 41"/>
                <a:gd name="T24" fmla="*/ 28 w 42"/>
                <a:gd name="T25" fmla="*/ 22 h 41"/>
                <a:gd name="T26" fmla="*/ 34 w 42"/>
                <a:gd name="T27" fmla="*/ 25 h 41"/>
                <a:gd name="T28" fmla="*/ 39 w 42"/>
                <a:gd name="T29" fmla="*/ 27 h 41"/>
                <a:gd name="T30" fmla="*/ 42 w 42"/>
                <a:gd name="T31" fmla="*/ 27 h 41"/>
                <a:gd name="T32" fmla="*/ 42 w 42"/>
                <a:gd name="T33" fmla="*/ 29 h 41"/>
                <a:gd name="T34" fmla="*/ 40 w 42"/>
                <a:gd name="T35" fmla="*/ 32 h 41"/>
                <a:gd name="T36" fmla="*/ 37 w 42"/>
                <a:gd name="T37" fmla="*/ 31 h 41"/>
                <a:gd name="T38" fmla="*/ 31 w 42"/>
                <a:gd name="T39" fmla="*/ 29 h 41"/>
                <a:gd name="T40" fmla="*/ 24 w 42"/>
                <a:gd name="T41" fmla="*/ 25 h 41"/>
                <a:gd name="T42" fmla="*/ 22 w 42"/>
                <a:gd name="T43" fmla="*/ 23 h 41"/>
                <a:gd name="T44" fmla="*/ 20 w 42"/>
                <a:gd name="T45" fmla="*/ 20 h 41"/>
                <a:gd name="T46" fmla="*/ 20 w 42"/>
                <a:gd name="T47" fmla="*/ 21 h 41"/>
                <a:gd name="T48" fmla="*/ 17 w 42"/>
                <a:gd name="T49" fmla="*/ 32 h 41"/>
                <a:gd name="T50" fmla="*/ 12 w 42"/>
                <a:gd name="T51" fmla="*/ 39 h 41"/>
                <a:gd name="T52" fmla="*/ 10 w 42"/>
                <a:gd name="T53" fmla="*/ 41 h 41"/>
                <a:gd name="T54" fmla="*/ 7 w 42"/>
                <a:gd name="T55" fmla="*/ 40 h 41"/>
                <a:gd name="T56" fmla="*/ 6 w 42"/>
                <a:gd name="T57" fmla="*/ 38 h 41"/>
                <a:gd name="T58" fmla="*/ 6 w 42"/>
                <a:gd name="T59" fmla="*/ 38 h 41"/>
                <a:gd name="T60" fmla="*/ 8 w 42"/>
                <a:gd name="T61" fmla="*/ 36 h 41"/>
                <a:gd name="T62" fmla="*/ 13 w 42"/>
                <a:gd name="T63" fmla="*/ 30 h 41"/>
                <a:gd name="T64" fmla="*/ 16 w 42"/>
                <a:gd name="T65" fmla="*/ 20 h 41"/>
                <a:gd name="T66" fmla="*/ 16 w 42"/>
                <a:gd name="T67" fmla="*/ 16 h 41"/>
                <a:gd name="T68" fmla="*/ 2 w 42"/>
                <a:gd name="T69" fmla="*/ 20 h 41"/>
                <a:gd name="T70" fmla="*/ 2 w 42"/>
                <a:gd name="T71" fmla="*/ 20 h 41"/>
                <a:gd name="T72" fmla="*/ 1 w 42"/>
                <a:gd name="T73" fmla="*/ 20 h 41"/>
                <a:gd name="T74" fmla="*/ 0 w 42"/>
                <a:gd name="T75" fmla="*/ 17 h 41"/>
                <a:gd name="T76" fmla="*/ 1 w 42"/>
                <a:gd name="T77" fmla="*/ 16 h 41"/>
                <a:gd name="T78" fmla="*/ 1 w 42"/>
                <a:gd name="T79" fmla="*/ 16 h 41"/>
                <a:gd name="T80" fmla="*/ 15 w 42"/>
                <a:gd name="T81" fmla="*/ 12 h 41"/>
                <a:gd name="T82" fmla="*/ 14 w 42"/>
                <a:gd name="T83" fmla="*/ 8 h 41"/>
                <a:gd name="T84" fmla="*/ 13 w 42"/>
                <a:gd name="T85" fmla="*/ 5 h 41"/>
                <a:gd name="T86" fmla="*/ 13 w 42"/>
                <a:gd name="T87" fmla="*/ 4 h 41"/>
                <a:gd name="T88" fmla="*/ 13 w 42"/>
                <a:gd name="T89" fmla="*/ 3 h 41"/>
                <a:gd name="T90" fmla="*/ 12 w 42"/>
                <a:gd name="T91" fmla="*/ 2 h 41"/>
                <a:gd name="T92" fmla="*/ 12 w 42"/>
                <a:gd name="T93" fmla="*/ 2 h 41"/>
                <a:gd name="T94" fmla="*/ 12 w 42"/>
                <a:gd name="T95" fmla="*/ 1 h 41"/>
                <a:gd name="T96" fmla="*/ 13 w 42"/>
                <a:gd name="T97" fmla="*/ 1 h 41"/>
                <a:gd name="T98" fmla="*/ 13 w 42"/>
                <a:gd name="T99" fmla="*/ 1 h 41"/>
                <a:gd name="T100" fmla="*/ 16 w 42"/>
                <a:gd name="T101" fmla="*/ 0 h 41"/>
                <a:gd name="T102" fmla="*/ 17 w 42"/>
                <a:gd name="T103" fmla="*/ 0 h 41"/>
                <a:gd name="T104" fmla="*/ 17 w 42"/>
                <a:gd name="T105" fmla="*/ 1 h 41"/>
                <a:gd name="T106" fmla="*/ 17 w 42"/>
                <a:gd name="T107" fmla="*/ 2 h 41"/>
                <a:gd name="T108" fmla="*/ 18 w 42"/>
                <a:gd name="T109" fmla="*/ 4 h 41"/>
                <a:gd name="T110" fmla="*/ 19 w 42"/>
                <a:gd name="T111" fmla="*/ 1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2" h="41">
                  <a:moveTo>
                    <a:pt x="19" y="11"/>
                  </a:moveTo>
                  <a:cubicBezTo>
                    <a:pt x="21" y="10"/>
                    <a:pt x="23" y="10"/>
                    <a:pt x="25" y="9"/>
                  </a:cubicBezTo>
                  <a:cubicBezTo>
                    <a:pt x="30" y="7"/>
                    <a:pt x="33" y="6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6"/>
                    <a:pt x="34" y="6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4" y="11"/>
                    <a:pt x="31" y="11"/>
                    <a:pt x="28" y="12"/>
                  </a:cubicBezTo>
                  <a:cubicBezTo>
                    <a:pt x="25" y="13"/>
                    <a:pt x="22" y="14"/>
                    <a:pt x="21" y="14"/>
                  </a:cubicBezTo>
                  <a:cubicBezTo>
                    <a:pt x="22" y="16"/>
                    <a:pt x="23" y="18"/>
                    <a:pt x="24" y="19"/>
                  </a:cubicBezTo>
                  <a:cubicBezTo>
                    <a:pt x="25" y="20"/>
                    <a:pt x="26" y="21"/>
                    <a:pt x="28" y="22"/>
                  </a:cubicBezTo>
                  <a:cubicBezTo>
                    <a:pt x="29" y="23"/>
                    <a:pt x="31" y="24"/>
                    <a:pt x="34" y="25"/>
                  </a:cubicBezTo>
                  <a:cubicBezTo>
                    <a:pt x="36" y="26"/>
                    <a:pt x="37" y="26"/>
                    <a:pt x="39" y="27"/>
                  </a:cubicBezTo>
                  <a:cubicBezTo>
                    <a:pt x="40" y="27"/>
                    <a:pt x="41" y="27"/>
                    <a:pt x="42" y="27"/>
                  </a:cubicBezTo>
                  <a:cubicBezTo>
                    <a:pt x="42" y="28"/>
                    <a:pt x="42" y="28"/>
                    <a:pt x="42" y="29"/>
                  </a:cubicBezTo>
                  <a:cubicBezTo>
                    <a:pt x="42" y="30"/>
                    <a:pt x="41" y="31"/>
                    <a:pt x="40" y="32"/>
                  </a:cubicBezTo>
                  <a:cubicBezTo>
                    <a:pt x="40" y="32"/>
                    <a:pt x="39" y="32"/>
                    <a:pt x="37" y="31"/>
                  </a:cubicBezTo>
                  <a:cubicBezTo>
                    <a:pt x="35" y="31"/>
                    <a:pt x="33" y="30"/>
                    <a:pt x="31" y="29"/>
                  </a:cubicBezTo>
                  <a:cubicBezTo>
                    <a:pt x="28" y="28"/>
                    <a:pt x="26" y="27"/>
                    <a:pt x="24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1" y="22"/>
                    <a:pt x="21" y="21"/>
                    <a:pt x="20" y="20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5"/>
                    <a:pt x="19" y="29"/>
                    <a:pt x="17" y="32"/>
                  </a:cubicBezTo>
                  <a:cubicBezTo>
                    <a:pt x="16" y="35"/>
                    <a:pt x="14" y="37"/>
                    <a:pt x="12" y="39"/>
                  </a:cubicBezTo>
                  <a:cubicBezTo>
                    <a:pt x="11" y="41"/>
                    <a:pt x="10" y="41"/>
                    <a:pt x="10" y="41"/>
                  </a:cubicBezTo>
                  <a:cubicBezTo>
                    <a:pt x="9" y="41"/>
                    <a:pt x="8" y="40"/>
                    <a:pt x="7" y="40"/>
                  </a:cubicBezTo>
                  <a:cubicBezTo>
                    <a:pt x="6" y="39"/>
                    <a:pt x="6" y="39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7" y="37"/>
                    <a:pt x="8" y="36"/>
                  </a:cubicBezTo>
                  <a:cubicBezTo>
                    <a:pt x="10" y="34"/>
                    <a:pt x="12" y="32"/>
                    <a:pt x="13" y="30"/>
                  </a:cubicBezTo>
                  <a:cubicBezTo>
                    <a:pt x="15" y="27"/>
                    <a:pt x="16" y="24"/>
                    <a:pt x="16" y="20"/>
                  </a:cubicBezTo>
                  <a:cubicBezTo>
                    <a:pt x="16" y="19"/>
                    <a:pt x="16" y="17"/>
                    <a:pt x="16" y="16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1" y="20"/>
                    <a:pt x="1" y="2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9"/>
                    <a:pt x="14" y="8"/>
                  </a:cubicBezTo>
                  <a:cubicBezTo>
                    <a:pt x="14" y="7"/>
                    <a:pt x="14" y="6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18" y="7"/>
                    <a:pt x="19" y="9"/>
                    <a:pt x="19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íŝ1ïďè"/>
            <p:cNvSpPr/>
            <p:nvPr/>
          </p:nvSpPr>
          <p:spPr bwMode="auto">
            <a:xfrm>
              <a:off x="4295154" y="3975961"/>
              <a:ext cx="132244" cy="133607"/>
            </a:xfrm>
            <a:custGeom>
              <a:avLst/>
              <a:gdLst>
                <a:gd name="T0" fmla="*/ 7 w 41"/>
                <a:gd name="T1" fmla="*/ 16 h 41"/>
                <a:gd name="T2" fmla="*/ 3 w 41"/>
                <a:gd name="T3" fmla="*/ 17 h 41"/>
                <a:gd name="T4" fmla="*/ 0 w 41"/>
                <a:gd name="T5" fmla="*/ 14 h 41"/>
                <a:gd name="T6" fmla="*/ 2 w 41"/>
                <a:gd name="T7" fmla="*/ 11 h 41"/>
                <a:gd name="T8" fmla="*/ 7 w 41"/>
                <a:gd name="T9" fmla="*/ 13 h 41"/>
                <a:gd name="T10" fmla="*/ 16 w 41"/>
                <a:gd name="T11" fmla="*/ 10 h 41"/>
                <a:gd name="T12" fmla="*/ 11 w 41"/>
                <a:gd name="T13" fmla="*/ 5 h 41"/>
                <a:gd name="T14" fmla="*/ 9 w 41"/>
                <a:gd name="T15" fmla="*/ 6 h 41"/>
                <a:gd name="T16" fmla="*/ 8 w 41"/>
                <a:gd name="T17" fmla="*/ 8 h 41"/>
                <a:gd name="T18" fmla="*/ 13 w 41"/>
                <a:gd name="T19" fmla="*/ 12 h 41"/>
                <a:gd name="T20" fmla="*/ 16 w 41"/>
                <a:gd name="T21" fmla="*/ 10 h 41"/>
                <a:gd name="T22" fmla="*/ 2 w 41"/>
                <a:gd name="T23" fmla="*/ 21 h 41"/>
                <a:gd name="T24" fmla="*/ 0 w 41"/>
                <a:gd name="T25" fmla="*/ 23 h 41"/>
                <a:gd name="T26" fmla="*/ 4 w 41"/>
                <a:gd name="T27" fmla="*/ 30 h 41"/>
                <a:gd name="T28" fmla="*/ 6 w 41"/>
                <a:gd name="T29" fmla="*/ 29 h 41"/>
                <a:gd name="T30" fmla="*/ 7 w 41"/>
                <a:gd name="T31" fmla="*/ 28 h 41"/>
                <a:gd name="T32" fmla="*/ 5 w 41"/>
                <a:gd name="T33" fmla="*/ 24 h 41"/>
                <a:gd name="T34" fmla="*/ 32 w 41"/>
                <a:gd name="T35" fmla="*/ 15 h 41"/>
                <a:gd name="T36" fmla="*/ 36 w 41"/>
                <a:gd name="T37" fmla="*/ 14 h 41"/>
                <a:gd name="T38" fmla="*/ 34 w 41"/>
                <a:gd name="T39" fmla="*/ 10 h 41"/>
                <a:gd name="T40" fmla="*/ 32 w 41"/>
                <a:gd name="T41" fmla="*/ 6 h 41"/>
                <a:gd name="T42" fmla="*/ 25 w 41"/>
                <a:gd name="T43" fmla="*/ 1 h 41"/>
                <a:gd name="T44" fmla="*/ 25 w 41"/>
                <a:gd name="T45" fmla="*/ 2 h 41"/>
                <a:gd name="T46" fmla="*/ 24 w 41"/>
                <a:gd name="T47" fmla="*/ 9 h 41"/>
                <a:gd name="T48" fmla="*/ 19 w 41"/>
                <a:gd name="T49" fmla="*/ 10 h 41"/>
                <a:gd name="T50" fmla="*/ 20 w 41"/>
                <a:gd name="T51" fmla="*/ 6 h 41"/>
                <a:gd name="T52" fmla="*/ 20 w 41"/>
                <a:gd name="T53" fmla="*/ 2 h 41"/>
                <a:gd name="T54" fmla="*/ 20 w 41"/>
                <a:gd name="T55" fmla="*/ 0 h 41"/>
                <a:gd name="T56" fmla="*/ 25 w 41"/>
                <a:gd name="T57" fmla="*/ 1 h 41"/>
                <a:gd name="T58" fmla="*/ 23 w 41"/>
                <a:gd name="T59" fmla="*/ 27 h 41"/>
                <a:gd name="T60" fmla="*/ 22 w 41"/>
                <a:gd name="T61" fmla="*/ 29 h 41"/>
                <a:gd name="T62" fmla="*/ 22 w 41"/>
                <a:gd name="T63" fmla="*/ 30 h 41"/>
                <a:gd name="T64" fmla="*/ 8 w 41"/>
                <a:gd name="T65" fmla="*/ 37 h 41"/>
                <a:gd name="T66" fmla="*/ 7 w 41"/>
                <a:gd name="T67" fmla="*/ 37 h 41"/>
                <a:gd name="T68" fmla="*/ 9 w 41"/>
                <a:gd name="T69" fmla="*/ 40 h 41"/>
                <a:gd name="T70" fmla="*/ 17 w 41"/>
                <a:gd name="T71" fmla="*/ 36 h 41"/>
                <a:gd name="T72" fmla="*/ 24 w 41"/>
                <a:gd name="T73" fmla="*/ 34 h 41"/>
                <a:gd name="T74" fmla="*/ 25 w 41"/>
                <a:gd name="T75" fmla="*/ 36 h 41"/>
                <a:gd name="T76" fmla="*/ 25 w 41"/>
                <a:gd name="T77" fmla="*/ 38 h 41"/>
                <a:gd name="T78" fmla="*/ 23 w 41"/>
                <a:gd name="T79" fmla="*/ 38 h 41"/>
                <a:gd name="T80" fmla="*/ 23 w 41"/>
                <a:gd name="T81" fmla="*/ 39 h 41"/>
                <a:gd name="T82" fmla="*/ 26 w 41"/>
                <a:gd name="T83" fmla="*/ 40 h 41"/>
                <a:gd name="T84" fmla="*/ 29 w 41"/>
                <a:gd name="T85" fmla="*/ 38 h 41"/>
                <a:gd name="T86" fmla="*/ 29 w 41"/>
                <a:gd name="T87" fmla="*/ 35 h 41"/>
                <a:gd name="T88" fmla="*/ 40 w 41"/>
                <a:gd name="T89" fmla="*/ 24 h 41"/>
                <a:gd name="T90" fmla="*/ 41 w 41"/>
                <a:gd name="T91" fmla="*/ 24 h 41"/>
                <a:gd name="T92" fmla="*/ 40 w 41"/>
                <a:gd name="T93" fmla="*/ 21 h 41"/>
                <a:gd name="T94" fmla="*/ 39 w 41"/>
                <a:gd name="T95" fmla="*/ 21 h 41"/>
                <a:gd name="T96" fmla="*/ 26 w 41"/>
                <a:gd name="T97" fmla="*/ 27 h 41"/>
                <a:gd name="T98" fmla="*/ 30 w 41"/>
                <a:gd name="T99" fmla="*/ 18 h 41"/>
                <a:gd name="T100" fmla="*/ 28 w 41"/>
                <a:gd name="T101" fmla="*/ 16 h 41"/>
                <a:gd name="T102" fmla="*/ 27 w 41"/>
                <a:gd name="T103" fmla="*/ 17 h 41"/>
                <a:gd name="T104" fmla="*/ 22 w 41"/>
                <a:gd name="T105" fmla="*/ 20 h 41"/>
                <a:gd name="T106" fmla="*/ 13 w 41"/>
                <a:gd name="T107" fmla="*/ 24 h 41"/>
                <a:gd name="T108" fmla="*/ 9 w 41"/>
                <a:gd name="T109" fmla="*/ 27 h 41"/>
                <a:gd name="T110" fmla="*/ 11 w 41"/>
                <a:gd name="T111" fmla="*/ 30 h 41"/>
                <a:gd name="T112" fmla="*/ 14 w 41"/>
                <a:gd name="T113" fmla="*/ 27 h 41"/>
                <a:gd name="T114" fmla="*/ 25 w 41"/>
                <a:gd name="T115" fmla="*/ 2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" h="41">
                  <a:moveTo>
                    <a:pt x="8" y="15"/>
                  </a:moveTo>
                  <a:cubicBezTo>
                    <a:pt x="8" y="15"/>
                    <a:pt x="8" y="16"/>
                    <a:pt x="7" y="16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8"/>
                    <a:pt x="4" y="17"/>
                    <a:pt x="3" y="17"/>
                  </a:cubicBezTo>
                  <a:cubicBezTo>
                    <a:pt x="2" y="16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2" y="12"/>
                    <a:pt x="2" y="11"/>
                    <a:pt x="2" y="11"/>
                  </a:cubicBezTo>
                  <a:cubicBezTo>
                    <a:pt x="2" y="11"/>
                    <a:pt x="2" y="11"/>
                    <a:pt x="3" y="11"/>
                  </a:cubicBezTo>
                  <a:cubicBezTo>
                    <a:pt x="4" y="11"/>
                    <a:pt x="5" y="12"/>
                    <a:pt x="7" y="13"/>
                  </a:cubicBezTo>
                  <a:cubicBezTo>
                    <a:pt x="8" y="14"/>
                    <a:pt x="9" y="15"/>
                    <a:pt x="8" y="15"/>
                  </a:cubicBezTo>
                  <a:close/>
                  <a:moveTo>
                    <a:pt x="16" y="10"/>
                  </a:moveTo>
                  <a:cubicBezTo>
                    <a:pt x="17" y="10"/>
                    <a:pt x="16" y="9"/>
                    <a:pt x="15" y="8"/>
                  </a:cubicBezTo>
                  <a:cubicBezTo>
                    <a:pt x="14" y="7"/>
                    <a:pt x="13" y="6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0" y="6"/>
                    <a:pt x="9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9"/>
                    <a:pt x="10" y="10"/>
                    <a:pt x="11" y="11"/>
                  </a:cubicBezTo>
                  <a:cubicBezTo>
                    <a:pt x="13" y="12"/>
                    <a:pt x="13" y="13"/>
                    <a:pt x="13" y="12"/>
                  </a:cubicBezTo>
                  <a:cubicBezTo>
                    <a:pt x="13" y="12"/>
                    <a:pt x="14" y="12"/>
                    <a:pt x="15" y="11"/>
                  </a:cubicBezTo>
                  <a:cubicBezTo>
                    <a:pt x="16" y="11"/>
                    <a:pt x="16" y="10"/>
                    <a:pt x="16" y="10"/>
                  </a:cubicBezTo>
                  <a:close/>
                  <a:moveTo>
                    <a:pt x="29" y="8"/>
                  </a:moveTo>
                  <a:cubicBezTo>
                    <a:pt x="2" y="21"/>
                    <a:pt x="2" y="21"/>
                    <a:pt x="2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3"/>
                  </a:cubicBezTo>
                  <a:cubicBezTo>
                    <a:pt x="2" y="27"/>
                    <a:pt x="3" y="29"/>
                    <a:pt x="3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5" y="30"/>
                    <a:pt x="5" y="30"/>
                    <a:pt x="6" y="29"/>
                  </a:cubicBezTo>
                  <a:cubicBezTo>
                    <a:pt x="6" y="29"/>
                    <a:pt x="7" y="29"/>
                    <a:pt x="7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6"/>
                    <a:pt x="33" y="16"/>
                    <a:pt x="33" y="16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36" y="14"/>
                    <a:pt x="36" y="13"/>
                  </a:cubicBezTo>
                  <a:cubicBezTo>
                    <a:pt x="35" y="13"/>
                    <a:pt x="35" y="12"/>
                    <a:pt x="34" y="10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29" y="8"/>
                    <a:pt x="29" y="8"/>
                    <a:pt x="29" y="8"/>
                  </a:cubicBezTo>
                  <a:close/>
                  <a:moveTo>
                    <a:pt x="25" y="1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5" y="1"/>
                    <a:pt x="25" y="2"/>
                    <a:pt x="25" y="2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8"/>
                    <a:pt x="24" y="9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9"/>
                    <a:pt x="19" y="9"/>
                  </a:cubicBezTo>
                  <a:cubicBezTo>
                    <a:pt x="20" y="8"/>
                    <a:pt x="20" y="7"/>
                    <a:pt x="20" y="6"/>
                  </a:cubicBezTo>
                  <a:cubicBezTo>
                    <a:pt x="20" y="5"/>
                    <a:pt x="20" y="4"/>
                    <a:pt x="20" y="4"/>
                  </a:cubicBezTo>
                  <a:cubicBezTo>
                    <a:pt x="20" y="3"/>
                    <a:pt x="20" y="2"/>
                    <a:pt x="20" y="2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21" y="0"/>
                    <a:pt x="21" y="0"/>
                    <a:pt x="23" y="0"/>
                  </a:cubicBezTo>
                  <a:cubicBezTo>
                    <a:pt x="24" y="0"/>
                    <a:pt x="25" y="0"/>
                    <a:pt x="25" y="1"/>
                  </a:cubicBezTo>
                  <a:close/>
                  <a:moveTo>
                    <a:pt x="25" y="22"/>
                  </a:moveTo>
                  <a:cubicBezTo>
                    <a:pt x="25" y="24"/>
                    <a:pt x="24" y="25"/>
                    <a:pt x="23" y="27"/>
                  </a:cubicBezTo>
                  <a:cubicBezTo>
                    <a:pt x="22" y="27"/>
                    <a:pt x="22" y="28"/>
                    <a:pt x="22" y="29"/>
                  </a:cubicBezTo>
                  <a:cubicBezTo>
                    <a:pt x="21" y="29"/>
                    <a:pt x="21" y="29"/>
                    <a:pt x="22" y="29"/>
                  </a:cubicBezTo>
                  <a:cubicBezTo>
                    <a:pt x="22" y="29"/>
                    <a:pt x="22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31"/>
                    <a:pt x="18" y="32"/>
                    <a:pt x="15" y="33"/>
                  </a:cubicBezTo>
                  <a:cubicBezTo>
                    <a:pt x="11" y="35"/>
                    <a:pt x="9" y="36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10" y="40"/>
                    <a:pt x="10" y="40"/>
                  </a:cubicBezTo>
                  <a:cubicBezTo>
                    <a:pt x="13" y="38"/>
                    <a:pt x="15" y="37"/>
                    <a:pt x="17" y="36"/>
                  </a:cubicBezTo>
                  <a:cubicBezTo>
                    <a:pt x="20" y="35"/>
                    <a:pt x="22" y="33"/>
                    <a:pt x="24" y="32"/>
                  </a:cubicBezTo>
                  <a:cubicBezTo>
                    <a:pt x="24" y="33"/>
                    <a:pt x="24" y="33"/>
                    <a:pt x="24" y="34"/>
                  </a:cubicBezTo>
                  <a:cubicBezTo>
                    <a:pt x="25" y="34"/>
                    <a:pt x="25" y="35"/>
                    <a:pt x="25" y="35"/>
                  </a:cubicBezTo>
                  <a:cubicBezTo>
                    <a:pt x="25" y="35"/>
                    <a:pt x="25" y="35"/>
                    <a:pt x="25" y="36"/>
                  </a:cubicBezTo>
                  <a:cubicBezTo>
                    <a:pt x="26" y="36"/>
                    <a:pt x="26" y="37"/>
                    <a:pt x="26" y="37"/>
                  </a:cubicBezTo>
                  <a:cubicBezTo>
                    <a:pt x="25" y="37"/>
                    <a:pt x="25" y="37"/>
                    <a:pt x="25" y="38"/>
                  </a:cubicBezTo>
                  <a:cubicBezTo>
                    <a:pt x="25" y="38"/>
                    <a:pt x="24" y="38"/>
                    <a:pt x="24" y="38"/>
                  </a:cubicBezTo>
                  <a:cubicBezTo>
                    <a:pt x="24" y="38"/>
                    <a:pt x="23" y="38"/>
                    <a:pt x="23" y="38"/>
                  </a:cubicBezTo>
                  <a:cubicBezTo>
                    <a:pt x="23" y="38"/>
                    <a:pt x="23" y="39"/>
                    <a:pt x="23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4" y="40"/>
                    <a:pt x="25" y="40"/>
                    <a:pt x="25" y="41"/>
                  </a:cubicBezTo>
                  <a:cubicBezTo>
                    <a:pt x="25" y="41"/>
                    <a:pt x="26" y="41"/>
                    <a:pt x="26" y="40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9" y="39"/>
                    <a:pt x="29" y="39"/>
                    <a:pt x="29" y="38"/>
                  </a:cubicBezTo>
                  <a:cubicBezTo>
                    <a:pt x="30" y="38"/>
                    <a:pt x="30" y="37"/>
                    <a:pt x="30" y="36"/>
                  </a:cubicBezTo>
                  <a:cubicBezTo>
                    <a:pt x="30" y="36"/>
                    <a:pt x="30" y="35"/>
                    <a:pt x="29" y="35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2"/>
                    <a:pt x="36" y="23"/>
                    <a:pt x="33" y="24"/>
                  </a:cubicBezTo>
                  <a:cubicBezTo>
                    <a:pt x="30" y="26"/>
                    <a:pt x="28" y="27"/>
                    <a:pt x="26" y="27"/>
                  </a:cubicBezTo>
                  <a:cubicBezTo>
                    <a:pt x="27" y="26"/>
                    <a:pt x="28" y="25"/>
                    <a:pt x="28" y="24"/>
                  </a:cubicBezTo>
                  <a:cubicBezTo>
                    <a:pt x="29" y="22"/>
                    <a:pt x="30" y="20"/>
                    <a:pt x="30" y="18"/>
                  </a:cubicBezTo>
                  <a:cubicBezTo>
                    <a:pt x="30" y="18"/>
                    <a:pt x="30" y="17"/>
                    <a:pt x="29" y="17"/>
                  </a:cubicBezTo>
                  <a:cubicBezTo>
                    <a:pt x="29" y="16"/>
                    <a:pt x="28" y="16"/>
                    <a:pt x="28" y="16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1" y="20"/>
                    <a:pt x="20" y="21"/>
                    <a:pt x="18" y="22"/>
                  </a:cubicBezTo>
                  <a:cubicBezTo>
                    <a:pt x="17" y="22"/>
                    <a:pt x="15" y="23"/>
                    <a:pt x="13" y="24"/>
                  </a:cubicBezTo>
                  <a:cubicBezTo>
                    <a:pt x="11" y="25"/>
                    <a:pt x="10" y="26"/>
                    <a:pt x="9" y="26"/>
                  </a:cubicBezTo>
                  <a:cubicBezTo>
                    <a:pt x="9" y="26"/>
                    <a:pt x="8" y="26"/>
                    <a:pt x="9" y="27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30"/>
                    <a:pt x="10" y="30"/>
                    <a:pt x="11" y="30"/>
                  </a:cubicBezTo>
                  <a:cubicBezTo>
                    <a:pt x="11" y="30"/>
                    <a:pt x="11" y="29"/>
                    <a:pt x="11" y="29"/>
                  </a:cubicBezTo>
                  <a:cubicBezTo>
                    <a:pt x="12" y="29"/>
                    <a:pt x="13" y="28"/>
                    <a:pt x="14" y="27"/>
                  </a:cubicBezTo>
                  <a:cubicBezTo>
                    <a:pt x="16" y="26"/>
                    <a:pt x="18" y="25"/>
                    <a:pt x="20" y="25"/>
                  </a:cubicBezTo>
                  <a:lnTo>
                    <a:pt x="25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íṡlíḓe"/>
            <p:cNvSpPr/>
            <p:nvPr/>
          </p:nvSpPr>
          <p:spPr bwMode="auto">
            <a:xfrm>
              <a:off x="3178577" y="2608530"/>
              <a:ext cx="1603290" cy="1083856"/>
            </a:xfrm>
            <a:custGeom>
              <a:avLst/>
              <a:gdLst>
                <a:gd name="T0" fmla="*/ 41 w 497"/>
                <a:gd name="T1" fmla="*/ 282 h 335"/>
                <a:gd name="T2" fmla="*/ 37 w 497"/>
                <a:gd name="T3" fmla="*/ 306 h 335"/>
                <a:gd name="T4" fmla="*/ 50 w 497"/>
                <a:gd name="T5" fmla="*/ 317 h 335"/>
                <a:gd name="T6" fmla="*/ 46 w 497"/>
                <a:gd name="T7" fmla="*/ 300 h 335"/>
                <a:gd name="T8" fmla="*/ 40 w 497"/>
                <a:gd name="T9" fmla="*/ 273 h 335"/>
                <a:gd name="T10" fmla="*/ 2 w 497"/>
                <a:gd name="T11" fmla="*/ 219 h 335"/>
                <a:gd name="T12" fmla="*/ 1 w 497"/>
                <a:gd name="T13" fmla="*/ 241 h 335"/>
                <a:gd name="T14" fmla="*/ 7 w 497"/>
                <a:gd name="T15" fmla="*/ 246 h 335"/>
                <a:gd name="T16" fmla="*/ 41 w 497"/>
                <a:gd name="T17" fmla="*/ 213 h 335"/>
                <a:gd name="T18" fmla="*/ 18 w 497"/>
                <a:gd name="T19" fmla="*/ 177 h 335"/>
                <a:gd name="T20" fmla="*/ 15 w 497"/>
                <a:gd name="T21" fmla="*/ 187 h 335"/>
                <a:gd name="T22" fmla="*/ 46 w 497"/>
                <a:gd name="T23" fmla="*/ 147 h 335"/>
                <a:gd name="T24" fmla="*/ 38 w 497"/>
                <a:gd name="T25" fmla="*/ 162 h 335"/>
                <a:gd name="T26" fmla="*/ 58 w 497"/>
                <a:gd name="T27" fmla="*/ 162 h 335"/>
                <a:gd name="T28" fmla="*/ 63 w 497"/>
                <a:gd name="T29" fmla="*/ 84 h 335"/>
                <a:gd name="T30" fmla="*/ 76 w 497"/>
                <a:gd name="T31" fmla="*/ 114 h 335"/>
                <a:gd name="T32" fmla="*/ 65 w 497"/>
                <a:gd name="T33" fmla="*/ 118 h 335"/>
                <a:gd name="T34" fmla="*/ 63 w 497"/>
                <a:gd name="T35" fmla="*/ 84 h 335"/>
                <a:gd name="T36" fmla="*/ 91 w 497"/>
                <a:gd name="T37" fmla="*/ 65 h 335"/>
                <a:gd name="T38" fmla="*/ 90 w 497"/>
                <a:gd name="T39" fmla="*/ 57 h 335"/>
                <a:gd name="T40" fmla="*/ 107 w 497"/>
                <a:gd name="T41" fmla="*/ 43 h 335"/>
                <a:gd name="T42" fmla="*/ 140 w 497"/>
                <a:gd name="T43" fmla="*/ 68 h 335"/>
                <a:gd name="T44" fmla="*/ 138 w 497"/>
                <a:gd name="T45" fmla="*/ 25 h 335"/>
                <a:gd name="T46" fmla="*/ 164 w 497"/>
                <a:gd name="T47" fmla="*/ 14 h 335"/>
                <a:gd name="T48" fmla="*/ 193 w 497"/>
                <a:gd name="T49" fmla="*/ 45 h 335"/>
                <a:gd name="T50" fmla="*/ 198 w 497"/>
                <a:gd name="T51" fmla="*/ 27 h 335"/>
                <a:gd name="T52" fmla="*/ 195 w 497"/>
                <a:gd name="T53" fmla="*/ 12 h 335"/>
                <a:gd name="T54" fmla="*/ 193 w 497"/>
                <a:gd name="T55" fmla="*/ 45 h 335"/>
                <a:gd name="T56" fmla="*/ 242 w 497"/>
                <a:gd name="T57" fmla="*/ 16 h 335"/>
                <a:gd name="T58" fmla="*/ 244 w 497"/>
                <a:gd name="T59" fmla="*/ 23 h 335"/>
                <a:gd name="T60" fmla="*/ 256 w 497"/>
                <a:gd name="T61" fmla="*/ 29 h 335"/>
                <a:gd name="T62" fmla="*/ 257 w 497"/>
                <a:gd name="T63" fmla="*/ 9 h 335"/>
                <a:gd name="T64" fmla="*/ 236 w 497"/>
                <a:gd name="T65" fmla="*/ 38 h 335"/>
                <a:gd name="T66" fmla="*/ 269 w 497"/>
                <a:gd name="T67" fmla="*/ 12 h 335"/>
                <a:gd name="T68" fmla="*/ 280 w 497"/>
                <a:gd name="T69" fmla="*/ 35 h 335"/>
                <a:gd name="T70" fmla="*/ 297 w 497"/>
                <a:gd name="T71" fmla="*/ 31 h 335"/>
                <a:gd name="T72" fmla="*/ 285 w 497"/>
                <a:gd name="T73" fmla="*/ 8 h 335"/>
                <a:gd name="T74" fmla="*/ 314 w 497"/>
                <a:gd name="T75" fmla="*/ 8 h 335"/>
                <a:gd name="T76" fmla="*/ 330 w 497"/>
                <a:gd name="T77" fmla="*/ 20 h 335"/>
                <a:gd name="T78" fmla="*/ 348 w 497"/>
                <a:gd name="T79" fmla="*/ 27 h 335"/>
                <a:gd name="T80" fmla="*/ 330 w 497"/>
                <a:gd name="T81" fmla="*/ 20 h 335"/>
                <a:gd name="T82" fmla="*/ 379 w 497"/>
                <a:gd name="T83" fmla="*/ 36 h 335"/>
                <a:gd name="T84" fmla="*/ 374 w 497"/>
                <a:gd name="T85" fmla="*/ 64 h 335"/>
                <a:gd name="T86" fmla="*/ 430 w 497"/>
                <a:gd name="T87" fmla="*/ 107 h 335"/>
                <a:gd name="T88" fmla="*/ 427 w 497"/>
                <a:gd name="T89" fmla="*/ 84 h 335"/>
                <a:gd name="T90" fmla="*/ 427 w 497"/>
                <a:gd name="T91" fmla="*/ 84 h 335"/>
                <a:gd name="T92" fmla="*/ 466 w 497"/>
                <a:gd name="T93" fmla="*/ 128 h 335"/>
                <a:gd name="T94" fmla="*/ 453 w 497"/>
                <a:gd name="T95" fmla="*/ 135 h 335"/>
                <a:gd name="T96" fmla="*/ 477 w 497"/>
                <a:gd name="T97" fmla="*/ 187 h 335"/>
                <a:gd name="T98" fmla="*/ 464 w 497"/>
                <a:gd name="T99" fmla="*/ 191 h 335"/>
                <a:gd name="T100" fmla="*/ 479 w 497"/>
                <a:gd name="T101" fmla="*/ 169 h 335"/>
                <a:gd name="T102" fmla="*/ 472 w 497"/>
                <a:gd name="T103" fmla="*/ 207 h 335"/>
                <a:gd name="T104" fmla="*/ 497 w 497"/>
                <a:gd name="T105" fmla="*/ 225 h 335"/>
                <a:gd name="T106" fmla="*/ 493 w 497"/>
                <a:gd name="T107" fmla="*/ 203 h 335"/>
                <a:gd name="T108" fmla="*/ 497 w 497"/>
                <a:gd name="T109" fmla="*/ 249 h 335"/>
                <a:gd name="T110" fmla="*/ 497 w 497"/>
                <a:gd name="T111" fmla="*/ 249 h 335"/>
                <a:gd name="T112" fmla="*/ 463 w 497"/>
                <a:gd name="T113" fmla="*/ 287 h 335"/>
                <a:gd name="T114" fmla="*/ 458 w 497"/>
                <a:gd name="T115" fmla="*/ 260 h 335"/>
                <a:gd name="T116" fmla="*/ 456 w 497"/>
                <a:gd name="T117" fmla="*/ 282 h 335"/>
                <a:gd name="T118" fmla="*/ 451 w 497"/>
                <a:gd name="T119" fmla="*/ 327 h 335"/>
                <a:gd name="T120" fmla="*/ 484 w 497"/>
                <a:gd name="T121" fmla="*/ 326 h 335"/>
                <a:gd name="T122" fmla="*/ 475 w 497"/>
                <a:gd name="T123" fmla="*/ 32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7" h="335">
                  <a:moveTo>
                    <a:pt x="11" y="298"/>
                  </a:moveTo>
                  <a:cubicBezTo>
                    <a:pt x="12" y="298"/>
                    <a:pt x="12" y="298"/>
                    <a:pt x="12" y="298"/>
                  </a:cubicBezTo>
                  <a:cubicBezTo>
                    <a:pt x="43" y="290"/>
                    <a:pt x="43" y="290"/>
                    <a:pt x="43" y="290"/>
                  </a:cubicBezTo>
                  <a:cubicBezTo>
                    <a:pt x="41" y="282"/>
                    <a:pt x="41" y="282"/>
                    <a:pt x="41" y="282"/>
                  </a:cubicBezTo>
                  <a:cubicBezTo>
                    <a:pt x="4" y="292"/>
                    <a:pt x="4" y="292"/>
                    <a:pt x="4" y="292"/>
                  </a:cubicBezTo>
                  <a:cubicBezTo>
                    <a:pt x="8" y="305"/>
                    <a:pt x="8" y="305"/>
                    <a:pt x="8" y="305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12" y="321"/>
                    <a:pt x="12" y="321"/>
                    <a:pt x="12" y="321"/>
                  </a:cubicBezTo>
                  <a:cubicBezTo>
                    <a:pt x="15" y="334"/>
                    <a:pt x="15" y="334"/>
                    <a:pt x="15" y="334"/>
                  </a:cubicBezTo>
                  <a:cubicBezTo>
                    <a:pt x="52" y="324"/>
                    <a:pt x="52" y="324"/>
                    <a:pt x="52" y="324"/>
                  </a:cubicBezTo>
                  <a:cubicBezTo>
                    <a:pt x="50" y="317"/>
                    <a:pt x="50" y="317"/>
                    <a:pt x="50" y="317"/>
                  </a:cubicBezTo>
                  <a:cubicBezTo>
                    <a:pt x="19" y="325"/>
                    <a:pt x="19" y="325"/>
                    <a:pt x="19" y="325"/>
                  </a:cubicBezTo>
                  <a:cubicBezTo>
                    <a:pt x="18" y="325"/>
                    <a:pt x="18" y="325"/>
                    <a:pt x="18" y="325"/>
                  </a:cubicBezTo>
                  <a:cubicBezTo>
                    <a:pt x="48" y="307"/>
                    <a:pt x="48" y="307"/>
                    <a:pt x="48" y="307"/>
                  </a:cubicBezTo>
                  <a:cubicBezTo>
                    <a:pt x="46" y="300"/>
                    <a:pt x="46" y="300"/>
                    <a:pt x="46" y="300"/>
                  </a:cubicBezTo>
                  <a:cubicBezTo>
                    <a:pt x="11" y="298"/>
                    <a:pt x="11" y="298"/>
                    <a:pt x="11" y="298"/>
                  </a:cubicBezTo>
                  <a:close/>
                  <a:moveTo>
                    <a:pt x="2" y="268"/>
                  </a:moveTo>
                  <a:cubicBezTo>
                    <a:pt x="3" y="277"/>
                    <a:pt x="3" y="277"/>
                    <a:pt x="3" y="277"/>
                  </a:cubicBezTo>
                  <a:cubicBezTo>
                    <a:pt x="40" y="273"/>
                    <a:pt x="40" y="273"/>
                    <a:pt x="40" y="273"/>
                  </a:cubicBezTo>
                  <a:cubicBezTo>
                    <a:pt x="40" y="264"/>
                    <a:pt x="40" y="264"/>
                    <a:pt x="40" y="264"/>
                  </a:cubicBezTo>
                  <a:cubicBezTo>
                    <a:pt x="2" y="268"/>
                    <a:pt x="2" y="268"/>
                    <a:pt x="2" y="268"/>
                  </a:cubicBezTo>
                  <a:close/>
                  <a:moveTo>
                    <a:pt x="40" y="221"/>
                  </a:moveTo>
                  <a:cubicBezTo>
                    <a:pt x="2" y="219"/>
                    <a:pt x="2" y="219"/>
                    <a:pt x="2" y="219"/>
                  </a:cubicBezTo>
                  <a:cubicBezTo>
                    <a:pt x="2" y="227"/>
                    <a:pt x="2" y="227"/>
                    <a:pt x="2" y="227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2" y="228"/>
                    <a:pt x="32" y="228"/>
                    <a:pt x="32" y="228"/>
                  </a:cubicBezTo>
                  <a:cubicBezTo>
                    <a:pt x="1" y="241"/>
                    <a:pt x="1" y="241"/>
                    <a:pt x="1" y="241"/>
                  </a:cubicBezTo>
                  <a:cubicBezTo>
                    <a:pt x="0" y="253"/>
                    <a:pt x="0" y="253"/>
                    <a:pt x="0" y="253"/>
                  </a:cubicBezTo>
                  <a:cubicBezTo>
                    <a:pt x="39" y="255"/>
                    <a:pt x="39" y="255"/>
                    <a:pt x="39" y="255"/>
                  </a:cubicBezTo>
                  <a:cubicBezTo>
                    <a:pt x="39" y="247"/>
                    <a:pt x="39" y="247"/>
                    <a:pt x="39" y="247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39" y="232"/>
                    <a:pt x="39" y="232"/>
                    <a:pt x="39" y="232"/>
                  </a:cubicBezTo>
                  <a:cubicBezTo>
                    <a:pt x="40" y="221"/>
                    <a:pt x="40" y="221"/>
                    <a:pt x="40" y="221"/>
                  </a:cubicBezTo>
                  <a:close/>
                  <a:moveTo>
                    <a:pt x="41" y="213"/>
                  </a:moveTo>
                  <a:cubicBezTo>
                    <a:pt x="48" y="185"/>
                    <a:pt x="48" y="185"/>
                    <a:pt x="48" y="185"/>
                  </a:cubicBezTo>
                  <a:cubicBezTo>
                    <a:pt x="42" y="183"/>
                    <a:pt x="42" y="183"/>
                    <a:pt x="42" y="183"/>
                  </a:cubicBezTo>
                  <a:cubicBezTo>
                    <a:pt x="38" y="202"/>
                    <a:pt x="38" y="202"/>
                    <a:pt x="38" y="202"/>
                  </a:cubicBezTo>
                  <a:cubicBezTo>
                    <a:pt x="18" y="177"/>
                    <a:pt x="18" y="177"/>
                    <a:pt x="18" y="177"/>
                  </a:cubicBezTo>
                  <a:cubicBezTo>
                    <a:pt x="11" y="176"/>
                    <a:pt x="11" y="176"/>
                    <a:pt x="11" y="176"/>
                  </a:cubicBezTo>
                  <a:cubicBezTo>
                    <a:pt x="5" y="203"/>
                    <a:pt x="5" y="203"/>
                    <a:pt x="5" y="203"/>
                  </a:cubicBezTo>
                  <a:cubicBezTo>
                    <a:pt x="11" y="204"/>
                    <a:pt x="11" y="204"/>
                    <a:pt x="11" y="204"/>
                  </a:cubicBezTo>
                  <a:cubicBezTo>
                    <a:pt x="15" y="187"/>
                    <a:pt x="15" y="187"/>
                    <a:pt x="15" y="187"/>
                  </a:cubicBezTo>
                  <a:cubicBezTo>
                    <a:pt x="35" y="212"/>
                    <a:pt x="35" y="212"/>
                    <a:pt x="35" y="212"/>
                  </a:cubicBezTo>
                  <a:cubicBezTo>
                    <a:pt x="41" y="213"/>
                    <a:pt x="41" y="213"/>
                    <a:pt x="41" y="213"/>
                  </a:cubicBezTo>
                  <a:close/>
                  <a:moveTo>
                    <a:pt x="27" y="138"/>
                  </a:moveTo>
                  <a:cubicBezTo>
                    <a:pt x="46" y="147"/>
                    <a:pt x="46" y="147"/>
                    <a:pt x="46" y="147"/>
                  </a:cubicBezTo>
                  <a:cubicBezTo>
                    <a:pt x="50" y="148"/>
                    <a:pt x="52" y="150"/>
                    <a:pt x="53" y="152"/>
                  </a:cubicBezTo>
                  <a:cubicBezTo>
                    <a:pt x="54" y="154"/>
                    <a:pt x="54" y="156"/>
                    <a:pt x="53" y="159"/>
                  </a:cubicBezTo>
                  <a:cubicBezTo>
                    <a:pt x="52" y="162"/>
                    <a:pt x="50" y="164"/>
                    <a:pt x="48" y="164"/>
                  </a:cubicBezTo>
                  <a:cubicBezTo>
                    <a:pt x="46" y="165"/>
                    <a:pt x="43" y="164"/>
                    <a:pt x="38" y="162"/>
                  </a:cubicBezTo>
                  <a:cubicBezTo>
                    <a:pt x="20" y="153"/>
                    <a:pt x="20" y="153"/>
                    <a:pt x="20" y="153"/>
                  </a:cubicBezTo>
                  <a:cubicBezTo>
                    <a:pt x="16" y="160"/>
                    <a:pt x="16" y="160"/>
                    <a:pt x="16" y="160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46" y="174"/>
                    <a:pt x="53" y="171"/>
                    <a:pt x="58" y="162"/>
                  </a:cubicBezTo>
                  <a:cubicBezTo>
                    <a:pt x="62" y="152"/>
                    <a:pt x="60" y="145"/>
                    <a:pt x="52" y="140"/>
                  </a:cubicBezTo>
                  <a:cubicBezTo>
                    <a:pt x="30" y="130"/>
                    <a:pt x="30" y="130"/>
                    <a:pt x="30" y="130"/>
                  </a:cubicBezTo>
                  <a:cubicBezTo>
                    <a:pt x="27" y="138"/>
                    <a:pt x="27" y="138"/>
                    <a:pt x="27" y="138"/>
                  </a:cubicBezTo>
                  <a:close/>
                  <a:moveTo>
                    <a:pt x="63" y="84"/>
                  </a:moveTo>
                  <a:cubicBezTo>
                    <a:pt x="79" y="97"/>
                    <a:pt x="79" y="97"/>
                    <a:pt x="79" y="97"/>
                  </a:cubicBezTo>
                  <a:cubicBezTo>
                    <a:pt x="82" y="100"/>
                    <a:pt x="84" y="102"/>
                    <a:pt x="85" y="104"/>
                  </a:cubicBezTo>
                  <a:cubicBezTo>
                    <a:pt x="86" y="106"/>
                    <a:pt x="85" y="108"/>
                    <a:pt x="83" y="111"/>
                  </a:cubicBezTo>
                  <a:cubicBezTo>
                    <a:pt x="81" y="113"/>
                    <a:pt x="79" y="114"/>
                    <a:pt x="76" y="114"/>
                  </a:cubicBezTo>
                  <a:cubicBezTo>
                    <a:pt x="74" y="114"/>
                    <a:pt x="72" y="113"/>
                    <a:pt x="68" y="110"/>
                  </a:cubicBezTo>
                  <a:cubicBezTo>
                    <a:pt x="52" y="97"/>
                    <a:pt x="52" y="97"/>
                    <a:pt x="52" y="97"/>
                  </a:cubicBezTo>
                  <a:cubicBezTo>
                    <a:pt x="47" y="103"/>
                    <a:pt x="47" y="103"/>
                    <a:pt x="47" y="103"/>
                  </a:cubicBezTo>
                  <a:cubicBezTo>
                    <a:pt x="65" y="118"/>
                    <a:pt x="65" y="118"/>
                    <a:pt x="65" y="118"/>
                  </a:cubicBezTo>
                  <a:cubicBezTo>
                    <a:pt x="73" y="124"/>
                    <a:pt x="80" y="123"/>
                    <a:pt x="87" y="114"/>
                  </a:cubicBezTo>
                  <a:cubicBezTo>
                    <a:pt x="94" y="106"/>
                    <a:pt x="93" y="99"/>
                    <a:pt x="86" y="92"/>
                  </a:cubicBezTo>
                  <a:cubicBezTo>
                    <a:pt x="68" y="77"/>
                    <a:pt x="68" y="77"/>
                    <a:pt x="68" y="77"/>
                  </a:cubicBezTo>
                  <a:cubicBezTo>
                    <a:pt x="63" y="84"/>
                    <a:pt x="63" y="84"/>
                    <a:pt x="63" y="84"/>
                  </a:cubicBezTo>
                  <a:close/>
                  <a:moveTo>
                    <a:pt x="132" y="73"/>
                  </a:moveTo>
                  <a:cubicBezTo>
                    <a:pt x="123" y="80"/>
                    <a:pt x="123" y="80"/>
                    <a:pt x="123" y="80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1" y="65"/>
                    <a:pt x="81" y="65"/>
                    <a:pt x="81" y="65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32" y="73"/>
                    <a:pt x="132" y="73"/>
                    <a:pt x="132" y="73"/>
                  </a:cubicBezTo>
                  <a:close/>
                  <a:moveTo>
                    <a:pt x="129" y="31"/>
                  </a:moveTo>
                  <a:cubicBezTo>
                    <a:pt x="121" y="35"/>
                    <a:pt x="121" y="35"/>
                    <a:pt x="121" y="35"/>
                  </a:cubicBezTo>
                  <a:cubicBezTo>
                    <a:pt x="140" y="68"/>
                    <a:pt x="140" y="68"/>
                    <a:pt x="140" y="68"/>
                  </a:cubicBezTo>
                  <a:cubicBezTo>
                    <a:pt x="147" y="64"/>
                    <a:pt x="147" y="64"/>
                    <a:pt x="147" y="64"/>
                  </a:cubicBezTo>
                  <a:cubicBezTo>
                    <a:pt x="129" y="31"/>
                    <a:pt x="129" y="31"/>
                    <a:pt x="129" y="31"/>
                  </a:cubicBezTo>
                  <a:close/>
                  <a:moveTo>
                    <a:pt x="165" y="55"/>
                  </a:moveTo>
                  <a:cubicBezTo>
                    <a:pt x="138" y="25"/>
                    <a:pt x="138" y="25"/>
                    <a:pt x="138" y="25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67" y="46"/>
                    <a:pt x="167" y="46"/>
                    <a:pt x="167" y="46"/>
                  </a:cubicBezTo>
                  <a:cubicBezTo>
                    <a:pt x="167" y="45"/>
                    <a:pt x="167" y="45"/>
                    <a:pt x="167" y="45"/>
                  </a:cubicBezTo>
                  <a:cubicBezTo>
                    <a:pt x="164" y="14"/>
                    <a:pt x="164" y="14"/>
                    <a:pt x="164" y="14"/>
                  </a:cubicBezTo>
                  <a:cubicBezTo>
                    <a:pt x="172" y="11"/>
                    <a:pt x="172" y="11"/>
                    <a:pt x="172" y="1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65" y="55"/>
                    <a:pt x="165" y="55"/>
                    <a:pt x="165" y="55"/>
                  </a:cubicBezTo>
                  <a:close/>
                  <a:moveTo>
                    <a:pt x="193" y="45"/>
                  </a:moveTo>
                  <a:cubicBezTo>
                    <a:pt x="219" y="40"/>
                    <a:pt x="219" y="40"/>
                    <a:pt x="219" y="40"/>
                  </a:cubicBezTo>
                  <a:cubicBezTo>
                    <a:pt x="217" y="34"/>
                    <a:pt x="217" y="34"/>
                    <a:pt x="217" y="34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198" y="27"/>
                    <a:pt x="198" y="27"/>
                    <a:pt x="198" y="27"/>
                  </a:cubicBezTo>
                  <a:cubicBezTo>
                    <a:pt x="213" y="24"/>
                    <a:pt x="213" y="24"/>
                    <a:pt x="213" y="24"/>
                  </a:cubicBezTo>
                  <a:cubicBezTo>
                    <a:pt x="212" y="18"/>
                    <a:pt x="212" y="18"/>
                    <a:pt x="212" y="18"/>
                  </a:cubicBezTo>
                  <a:cubicBezTo>
                    <a:pt x="196" y="21"/>
                    <a:pt x="196" y="21"/>
                    <a:pt x="196" y="21"/>
                  </a:cubicBezTo>
                  <a:cubicBezTo>
                    <a:pt x="195" y="12"/>
                    <a:pt x="195" y="12"/>
                    <a:pt x="195" y="12"/>
                  </a:cubicBezTo>
                  <a:cubicBezTo>
                    <a:pt x="211" y="9"/>
                    <a:pt x="211" y="9"/>
                    <a:pt x="211" y="9"/>
                  </a:cubicBezTo>
                  <a:cubicBezTo>
                    <a:pt x="210" y="3"/>
                    <a:pt x="210" y="3"/>
                    <a:pt x="210" y="3"/>
                  </a:cubicBezTo>
                  <a:cubicBezTo>
                    <a:pt x="185" y="8"/>
                    <a:pt x="185" y="8"/>
                    <a:pt x="185" y="8"/>
                  </a:cubicBezTo>
                  <a:cubicBezTo>
                    <a:pt x="193" y="45"/>
                    <a:pt x="193" y="45"/>
                    <a:pt x="193" y="45"/>
                  </a:cubicBezTo>
                  <a:close/>
                  <a:moveTo>
                    <a:pt x="235" y="6"/>
                  </a:moveTo>
                  <a:cubicBezTo>
                    <a:pt x="242" y="6"/>
                    <a:pt x="242" y="6"/>
                    <a:pt x="242" y="6"/>
                  </a:cubicBezTo>
                  <a:cubicBezTo>
                    <a:pt x="246" y="6"/>
                    <a:pt x="248" y="7"/>
                    <a:pt x="248" y="11"/>
                  </a:cubicBezTo>
                  <a:cubicBezTo>
                    <a:pt x="248" y="14"/>
                    <a:pt x="246" y="16"/>
                    <a:pt x="242" y="16"/>
                  </a:cubicBezTo>
                  <a:cubicBezTo>
                    <a:pt x="236" y="16"/>
                    <a:pt x="236" y="16"/>
                    <a:pt x="236" y="16"/>
                  </a:cubicBezTo>
                  <a:cubicBezTo>
                    <a:pt x="235" y="6"/>
                    <a:pt x="235" y="6"/>
                    <a:pt x="235" y="6"/>
                  </a:cubicBezTo>
                  <a:close/>
                  <a:moveTo>
                    <a:pt x="236" y="23"/>
                  </a:moveTo>
                  <a:cubicBezTo>
                    <a:pt x="244" y="23"/>
                    <a:pt x="244" y="23"/>
                    <a:pt x="244" y="23"/>
                  </a:cubicBezTo>
                  <a:cubicBezTo>
                    <a:pt x="246" y="23"/>
                    <a:pt x="248" y="24"/>
                    <a:pt x="248" y="27"/>
                  </a:cubicBezTo>
                  <a:cubicBezTo>
                    <a:pt x="248" y="31"/>
                    <a:pt x="249" y="34"/>
                    <a:pt x="249" y="38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57" y="36"/>
                    <a:pt x="257" y="33"/>
                    <a:pt x="256" y="29"/>
                  </a:cubicBezTo>
                  <a:cubicBezTo>
                    <a:pt x="256" y="28"/>
                    <a:pt x="256" y="28"/>
                    <a:pt x="256" y="27"/>
                  </a:cubicBezTo>
                  <a:cubicBezTo>
                    <a:pt x="256" y="22"/>
                    <a:pt x="253" y="19"/>
                    <a:pt x="249" y="19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254" y="17"/>
                    <a:pt x="257" y="14"/>
                    <a:pt x="257" y="9"/>
                  </a:cubicBezTo>
                  <a:cubicBezTo>
                    <a:pt x="256" y="3"/>
                    <a:pt x="252" y="0"/>
                    <a:pt x="243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28" y="38"/>
                    <a:pt x="228" y="38"/>
                    <a:pt x="228" y="38"/>
                  </a:cubicBezTo>
                  <a:cubicBezTo>
                    <a:pt x="236" y="38"/>
                    <a:pt x="236" y="38"/>
                    <a:pt x="236" y="38"/>
                  </a:cubicBezTo>
                  <a:cubicBezTo>
                    <a:pt x="236" y="23"/>
                    <a:pt x="236" y="23"/>
                    <a:pt x="236" y="23"/>
                  </a:cubicBezTo>
                  <a:close/>
                  <a:moveTo>
                    <a:pt x="298" y="15"/>
                  </a:moveTo>
                  <a:cubicBezTo>
                    <a:pt x="298" y="8"/>
                    <a:pt x="295" y="4"/>
                    <a:pt x="287" y="2"/>
                  </a:cubicBezTo>
                  <a:cubicBezTo>
                    <a:pt x="277" y="1"/>
                    <a:pt x="271" y="4"/>
                    <a:pt x="269" y="12"/>
                  </a:cubicBezTo>
                  <a:cubicBezTo>
                    <a:pt x="268" y="17"/>
                    <a:pt x="272" y="21"/>
                    <a:pt x="280" y="24"/>
                  </a:cubicBezTo>
                  <a:cubicBezTo>
                    <a:pt x="280" y="25"/>
                    <a:pt x="281" y="25"/>
                    <a:pt x="281" y="25"/>
                  </a:cubicBezTo>
                  <a:cubicBezTo>
                    <a:pt x="286" y="27"/>
                    <a:pt x="288" y="29"/>
                    <a:pt x="288" y="31"/>
                  </a:cubicBezTo>
                  <a:cubicBezTo>
                    <a:pt x="287" y="34"/>
                    <a:pt x="284" y="36"/>
                    <a:pt x="280" y="35"/>
                  </a:cubicBezTo>
                  <a:cubicBezTo>
                    <a:pt x="275" y="34"/>
                    <a:pt x="274" y="32"/>
                    <a:pt x="274" y="27"/>
                  </a:cubicBezTo>
                  <a:cubicBezTo>
                    <a:pt x="266" y="26"/>
                    <a:pt x="266" y="26"/>
                    <a:pt x="266" y="26"/>
                  </a:cubicBezTo>
                  <a:cubicBezTo>
                    <a:pt x="265" y="34"/>
                    <a:pt x="269" y="39"/>
                    <a:pt x="279" y="41"/>
                  </a:cubicBezTo>
                  <a:cubicBezTo>
                    <a:pt x="289" y="42"/>
                    <a:pt x="295" y="39"/>
                    <a:pt x="297" y="31"/>
                  </a:cubicBezTo>
                  <a:cubicBezTo>
                    <a:pt x="298" y="26"/>
                    <a:pt x="294" y="21"/>
                    <a:pt x="285" y="18"/>
                  </a:cubicBezTo>
                  <a:cubicBezTo>
                    <a:pt x="285" y="18"/>
                    <a:pt x="284" y="18"/>
                    <a:pt x="284" y="18"/>
                  </a:cubicBezTo>
                  <a:cubicBezTo>
                    <a:pt x="279" y="17"/>
                    <a:pt x="277" y="15"/>
                    <a:pt x="278" y="12"/>
                  </a:cubicBezTo>
                  <a:cubicBezTo>
                    <a:pt x="279" y="9"/>
                    <a:pt x="281" y="7"/>
                    <a:pt x="285" y="8"/>
                  </a:cubicBezTo>
                  <a:cubicBezTo>
                    <a:pt x="289" y="8"/>
                    <a:pt x="290" y="11"/>
                    <a:pt x="290" y="14"/>
                  </a:cubicBezTo>
                  <a:cubicBezTo>
                    <a:pt x="298" y="15"/>
                    <a:pt x="298" y="15"/>
                    <a:pt x="298" y="15"/>
                  </a:cubicBezTo>
                  <a:close/>
                  <a:moveTo>
                    <a:pt x="322" y="11"/>
                  </a:moveTo>
                  <a:cubicBezTo>
                    <a:pt x="314" y="8"/>
                    <a:pt x="314" y="8"/>
                    <a:pt x="314" y="8"/>
                  </a:cubicBezTo>
                  <a:cubicBezTo>
                    <a:pt x="303" y="45"/>
                    <a:pt x="303" y="45"/>
                    <a:pt x="303" y="45"/>
                  </a:cubicBezTo>
                  <a:cubicBezTo>
                    <a:pt x="311" y="47"/>
                    <a:pt x="311" y="47"/>
                    <a:pt x="311" y="47"/>
                  </a:cubicBezTo>
                  <a:cubicBezTo>
                    <a:pt x="322" y="11"/>
                    <a:pt x="322" y="11"/>
                    <a:pt x="322" y="11"/>
                  </a:cubicBezTo>
                  <a:close/>
                  <a:moveTo>
                    <a:pt x="330" y="20"/>
                  </a:moveTo>
                  <a:cubicBezTo>
                    <a:pt x="340" y="24"/>
                    <a:pt x="340" y="24"/>
                    <a:pt x="340" y="24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36" y="56"/>
                    <a:pt x="336" y="56"/>
                    <a:pt x="336" y="56"/>
                  </a:cubicBezTo>
                  <a:cubicBezTo>
                    <a:pt x="348" y="27"/>
                    <a:pt x="348" y="27"/>
                    <a:pt x="348" y="27"/>
                  </a:cubicBezTo>
                  <a:cubicBezTo>
                    <a:pt x="358" y="31"/>
                    <a:pt x="358" y="31"/>
                    <a:pt x="358" y="31"/>
                  </a:cubicBezTo>
                  <a:cubicBezTo>
                    <a:pt x="361" y="25"/>
                    <a:pt x="361" y="25"/>
                    <a:pt x="361" y="25"/>
                  </a:cubicBezTo>
                  <a:cubicBezTo>
                    <a:pt x="332" y="14"/>
                    <a:pt x="332" y="14"/>
                    <a:pt x="332" y="14"/>
                  </a:cubicBezTo>
                  <a:cubicBezTo>
                    <a:pt x="330" y="20"/>
                    <a:pt x="330" y="20"/>
                    <a:pt x="330" y="20"/>
                  </a:cubicBezTo>
                  <a:close/>
                  <a:moveTo>
                    <a:pt x="361" y="70"/>
                  </a:moveTo>
                  <a:cubicBezTo>
                    <a:pt x="367" y="60"/>
                    <a:pt x="367" y="60"/>
                    <a:pt x="367" y="60"/>
                  </a:cubicBezTo>
                  <a:cubicBezTo>
                    <a:pt x="371" y="31"/>
                    <a:pt x="371" y="31"/>
                    <a:pt x="371" y="31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376" y="55"/>
                    <a:pt x="376" y="55"/>
                    <a:pt x="376" y="55"/>
                  </a:cubicBezTo>
                  <a:cubicBezTo>
                    <a:pt x="392" y="45"/>
                    <a:pt x="392" y="45"/>
                    <a:pt x="392" y="45"/>
                  </a:cubicBezTo>
                  <a:cubicBezTo>
                    <a:pt x="399" y="50"/>
                    <a:pt x="399" y="50"/>
                    <a:pt x="399" y="5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67" y="75"/>
                    <a:pt x="367" y="75"/>
                    <a:pt x="367" y="75"/>
                  </a:cubicBezTo>
                  <a:cubicBezTo>
                    <a:pt x="361" y="70"/>
                    <a:pt x="361" y="70"/>
                    <a:pt x="361" y="70"/>
                  </a:cubicBezTo>
                  <a:close/>
                  <a:moveTo>
                    <a:pt x="403" y="107"/>
                  </a:moveTo>
                  <a:cubicBezTo>
                    <a:pt x="412" y="115"/>
                    <a:pt x="420" y="115"/>
                    <a:pt x="430" y="107"/>
                  </a:cubicBezTo>
                  <a:cubicBezTo>
                    <a:pt x="439" y="97"/>
                    <a:pt x="440" y="88"/>
                    <a:pt x="432" y="80"/>
                  </a:cubicBezTo>
                  <a:cubicBezTo>
                    <a:pt x="423" y="71"/>
                    <a:pt x="414" y="71"/>
                    <a:pt x="405" y="80"/>
                  </a:cubicBezTo>
                  <a:cubicBezTo>
                    <a:pt x="396" y="89"/>
                    <a:pt x="395" y="98"/>
                    <a:pt x="403" y="107"/>
                  </a:cubicBezTo>
                  <a:close/>
                  <a:moveTo>
                    <a:pt x="427" y="84"/>
                  </a:moveTo>
                  <a:cubicBezTo>
                    <a:pt x="432" y="88"/>
                    <a:pt x="431" y="94"/>
                    <a:pt x="424" y="100"/>
                  </a:cubicBezTo>
                  <a:cubicBezTo>
                    <a:pt x="417" y="107"/>
                    <a:pt x="412" y="108"/>
                    <a:pt x="407" y="103"/>
                  </a:cubicBezTo>
                  <a:cubicBezTo>
                    <a:pt x="403" y="98"/>
                    <a:pt x="404" y="93"/>
                    <a:pt x="411" y="86"/>
                  </a:cubicBezTo>
                  <a:cubicBezTo>
                    <a:pt x="417" y="80"/>
                    <a:pt x="423" y="79"/>
                    <a:pt x="427" y="84"/>
                  </a:cubicBezTo>
                  <a:close/>
                  <a:moveTo>
                    <a:pt x="425" y="134"/>
                  </a:moveTo>
                  <a:cubicBezTo>
                    <a:pt x="421" y="127"/>
                    <a:pt x="421" y="127"/>
                    <a:pt x="421" y="127"/>
                  </a:cubicBezTo>
                  <a:cubicBezTo>
                    <a:pt x="453" y="107"/>
                    <a:pt x="453" y="107"/>
                    <a:pt x="453" y="107"/>
                  </a:cubicBezTo>
                  <a:cubicBezTo>
                    <a:pt x="466" y="128"/>
                    <a:pt x="466" y="128"/>
                    <a:pt x="466" y="128"/>
                  </a:cubicBezTo>
                  <a:cubicBezTo>
                    <a:pt x="461" y="132"/>
                    <a:pt x="461" y="132"/>
                    <a:pt x="461" y="132"/>
                  </a:cubicBezTo>
                  <a:cubicBezTo>
                    <a:pt x="452" y="118"/>
                    <a:pt x="452" y="118"/>
                    <a:pt x="452" y="118"/>
                  </a:cubicBezTo>
                  <a:cubicBezTo>
                    <a:pt x="444" y="122"/>
                    <a:pt x="444" y="122"/>
                    <a:pt x="444" y="122"/>
                  </a:cubicBezTo>
                  <a:cubicBezTo>
                    <a:pt x="453" y="135"/>
                    <a:pt x="453" y="135"/>
                    <a:pt x="453" y="135"/>
                  </a:cubicBezTo>
                  <a:cubicBezTo>
                    <a:pt x="447" y="139"/>
                    <a:pt x="447" y="139"/>
                    <a:pt x="447" y="139"/>
                  </a:cubicBezTo>
                  <a:cubicBezTo>
                    <a:pt x="439" y="126"/>
                    <a:pt x="439" y="126"/>
                    <a:pt x="439" y="126"/>
                  </a:cubicBezTo>
                  <a:cubicBezTo>
                    <a:pt x="425" y="134"/>
                    <a:pt x="425" y="134"/>
                    <a:pt x="425" y="134"/>
                  </a:cubicBezTo>
                  <a:close/>
                  <a:moveTo>
                    <a:pt x="477" y="187"/>
                  </a:moveTo>
                  <a:cubicBezTo>
                    <a:pt x="485" y="183"/>
                    <a:pt x="487" y="177"/>
                    <a:pt x="484" y="167"/>
                  </a:cubicBezTo>
                  <a:cubicBezTo>
                    <a:pt x="481" y="158"/>
                    <a:pt x="473" y="155"/>
                    <a:pt x="460" y="158"/>
                  </a:cubicBezTo>
                  <a:cubicBezTo>
                    <a:pt x="448" y="162"/>
                    <a:pt x="444" y="169"/>
                    <a:pt x="447" y="179"/>
                  </a:cubicBezTo>
                  <a:cubicBezTo>
                    <a:pt x="450" y="189"/>
                    <a:pt x="456" y="193"/>
                    <a:pt x="464" y="191"/>
                  </a:cubicBezTo>
                  <a:cubicBezTo>
                    <a:pt x="461" y="182"/>
                    <a:pt x="461" y="182"/>
                    <a:pt x="461" y="182"/>
                  </a:cubicBezTo>
                  <a:cubicBezTo>
                    <a:pt x="457" y="184"/>
                    <a:pt x="454" y="182"/>
                    <a:pt x="452" y="178"/>
                  </a:cubicBezTo>
                  <a:cubicBezTo>
                    <a:pt x="451" y="173"/>
                    <a:pt x="455" y="169"/>
                    <a:pt x="463" y="166"/>
                  </a:cubicBezTo>
                  <a:cubicBezTo>
                    <a:pt x="472" y="164"/>
                    <a:pt x="477" y="165"/>
                    <a:pt x="479" y="169"/>
                  </a:cubicBezTo>
                  <a:cubicBezTo>
                    <a:pt x="480" y="174"/>
                    <a:pt x="478" y="177"/>
                    <a:pt x="474" y="178"/>
                  </a:cubicBezTo>
                  <a:cubicBezTo>
                    <a:pt x="477" y="187"/>
                    <a:pt x="477" y="187"/>
                    <a:pt x="477" y="187"/>
                  </a:cubicBezTo>
                  <a:close/>
                  <a:moveTo>
                    <a:pt x="455" y="210"/>
                  </a:moveTo>
                  <a:cubicBezTo>
                    <a:pt x="472" y="207"/>
                    <a:pt x="472" y="207"/>
                    <a:pt x="472" y="207"/>
                  </a:cubicBezTo>
                  <a:cubicBezTo>
                    <a:pt x="474" y="221"/>
                    <a:pt x="474" y="221"/>
                    <a:pt x="474" y="221"/>
                  </a:cubicBezTo>
                  <a:cubicBezTo>
                    <a:pt x="458" y="224"/>
                    <a:pt x="458" y="224"/>
                    <a:pt x="458" y="224"/>
                  </a:cubicBezTo>
                  <a:cubicBezTo>
                    <a:pt x="459" y="232"/>
                    <a:pt x="459" y="232"/>
                    <a:pt x="459" y="232"/>
                  </a:cubicBezTo>
                  <a:cubicBezTo>
                    <a:pt x="497" y="225"/>
                    <a:pt x="497" y="225"/>
                    <a:pt x="497" y="225"/>
                  </a:cubicBezTo>
                  <a:cubicBezTo>
                    <a:pt x="495" y="217"/>
                    <a:pt x="495" y="217"/>
                    <a:pt x="495" y="217"/>
                  </a:cubicBezTo>
                  <a:cubicBezTo>
                    <a:pt x="481" y="220"/>
                    <a:pt x="481" y="220"/>
                    <a:pt x="481" y="220"/>
                  </a:cubicBezTo>
                  <a:cubicBezTo>
                    <a:pt x="478" y="205"/>
                    <a:pt x="478" y="205"/>
                    <a:pt x="478" y="205"/>
                  </a:cubicBezTo>
                  <a:cubicBezTo>
                    <a:pt x="493" y="203"/>
                    <a:pt x="493" y="203"/>
                    <a:pt x="493" y="203"/>
                  </a:cubicBezTo>
                  <a:cubicBezTo>
                    <a:pt x="491" y="195"/>
                    <a:pt x="491" y="195"/>
                    <a:pt x="491" y="195"/>
                  </a:cubicBezTo>
                  <a:cubicBezTo>
                    <a:pt x="454" y="202"/>
                    <a:pt x="454" y="202"/>
                    <a:pt x="454" y="202"/>
                  </a:cubicBezTo>
                  <a:cubicBezTo>
                    <a:pt x="455" y="210"/>
                    <a:pt x="455" y="210"/>
                    <a:pt x="455" y="210"/>
                  </a:cubicBezTo>
                  <a:close/>
                  <a:moveTo>
                    <a:pt x="497" y="249"/>
                  </a:moveTo>
                  <a:cubicBezTo>
                    <a:pt x="497" y="241"/>
                    <a:pt x="497" y="241"/>
                    <a:pt x="497" y="241"/>
                  </a:cubicBezTo>
                  <a:cubicBezTo>
                    <a:pt x="459" y="242"/>
                    <a:pt x="459" y="242"/>
                    <a:pt x="459" y="242"/>
                  </a:cubicBezTo>
                  <a:cubicBezTo>
                    <a:pt x="459" y="250"/>
                    <a:pt x="459" y="250"/>
                    <a:pt x="459" y="250"/>
                  </a:cubicBezTo>
                  <a:cubicBezTo>
                    <a:pt x="497" y="249"/>
                    <a:pt x="497" y="249"/>
                    <a:pt x="497" y="249"/>
                  </a:cubicBezTo>
                  <a:close/>
                  <a:moveTo>
                    <a:pt x="454" y="294"/>
                  </a:moveTo>
                  <a:cubicBezTo>
                    <a:pt x="492" y="299"/>
                    <a:pt x="492" y="299"/>
                    <a:pt x="492" y="299"/>
                  </a:cubicBezTo>
                  <a:cubicBezTo>
                    <a:pt x="493" y="291"/>
                    <a:pt x="493" y="291"/>
                    <a:pt x="493" y="291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95" y="277"/>
                    <a:pt x="495" y="277"/>
                    <a:pt x="495" y="277"/>
                  </a:cubicBezTo>
                  <a:cubicBezTo>
                    <a:pt x="496" y="265"/>
                    <a:pt x="496" y="265"/>
                    <a:pt x="496" y="265"/>
                  </a:cubicBezTo>
                  <a:cubicBezTo>
                    <a:pt x="458" y="260"/>
                    <a:pt x="458" y="260"/>
                    <a:pt x="458" y="260"/>
                  </a:cubicBezTo>
                  <a:cubicBezTo>
                    <a:pt x="457" y="267"/>
                    <a:pt x="457" y="267"/>
                    <a:pt x="457" y="267"/>
                  </a:cubicBezTo>
                  <a:cubicBezTo>
                    <a:pt x="489" y="271"/>
                    <a:pt x="489" y="271"/>
                    <a:pt x="489" y="271"/>
                  </a:cubicBezTo>
                  <a:cubicBezTo>
                    <a:pt x="489" y="272"/>
                    <a:pt x="489" y="272"/>
                    <a:pt x="489" y="272"/>
                  </a:cubicBezTo>
                  <a:cubicBezTo>
                    <a:pt x="456" y="282"/>
                    <a:pt x="456" y="282"/>
                    <a:pt x="456" y="282"/>
                  </a:cubicBezTo>
                  <a:cubicBezTo>
                    <a:pt x="454" y="294"/>
                    <a:pt x="454" y="294"/>
                    <a:pt x="454" y="294"/>
                  </a:cubicBezTo>
                  <a:close/>
                  <a:moveTo>
                    <a:pt x="450" y="308"/>
                  </a:moveTo>
                  <a:cubicBezTo>
                    <a:pt x="456" y="313"/>
                    <a:pt x="456" y="313"/>
                    <a:pt x="456" y="313"/>
                  </a:cubicBezTo>
                  <a:cubicBezTo>
                    <a:pt x="451" y="327"/>
                    <a:pt x="451" y="327"/>
                    <a:pt x="451" y="327"/>
                  </a:cubicBezTo>
                  <a:cubicBezTo>
                    <a:pt x="443" y="327"/>
                    <a:pt x="443" y="327"/>
                    <a:pt x="443" y="327"/>
                  </a:cubicBezTo>
                  <a:cubicBezTo>
                    <a:pt x="440" y="335"/>
                    <a:pt x="440" y="335"/>
                    <a:pt x="440" y="335"/>
                  </a:cubicBezTo>
                  <a:cubicBezTo>
                    <a:pt x="481" y="335"/>
                    <a:pt x="481" y="335"/>
                    <a:pt x="481" y="335"/>
                  </a:cubicBezTo>
                  <a:cubicBezTo>
                    <a:pt x="484" y="326"/>
                    <a:pt x="484" y="326"/>
                    <a:pt x="484" y="326"/>
                  </a:cubicBezTo>
                  <a:cubicBezTo>
                    <a:pt x="452" y="300"/>
                    <a:pt x="452" y="300"/>
                    <a:pt x="452" y="300"/>
                  </a:cubicBezTo>
                  <a:cubicBezTo>
                    <a:pt x="450" y="308"/>
                    <a:pt x="450" y="308"/>
                    <a:pt x="450" y="308"/>
                  </a:cubicBezTo>
                  <a:close/>
                  <a:moveTo>
                    <a:pt x="462" y="317"/>
                  </a:moveTo>
                  <a:cubicBezTo>
                    <a:pt x="475" y="328"/>
                    <a:pt x="475" y="328"/>
                    <a:pt x="475" y="328"/>
                  </a:cubicBezTo>
                  <a:cubicBezTo>
                    <a:pt x="475" y="328"/>
                    <a:pt x="475" y="328"/>
                    <a:pt x="475" y="328"/>
                  </a:cubicBezTo>
                  <a:cubicBezTo>
                    <a:pt x="458" y="327"/>
                    <a:pt x="458" y="327"/>
                    <a:pt x="458" y="327"/>
                  </a:cubicBezTo>
                  <a:lnTo>
                    <a:pt x="462" y="3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íSļïḓê"/>
            <p:cNvSpPr/>
            <p:nvPr/>
          </p:nvSpPr>
          <p:spPr bwMode="auto">
            <a:xfrm>
              <a:off x="8400175" y="2903012"/>
              <a:ext cx="400822" cy="396732"/>
            </a:xfrm>
            <a:custGeom>
              <a:avLst/>
              <a:gdLst>
                <a:gd name="T0" fmla="*/ 64 w 124"/>
                <a:gd name="T1" fmla="*/ 67 h 123"/>
                <a:gd name="T2" fmla="*/ 66 w 124"/>
                <a:gd name="T3" fmla="*/ 73 h 123"/>
                <a:gd name="T4" fmla="*/ 48 w 124"/>
                <a:gd name="T5" fmla="*/ 76 h 123"/>
                <a:gd name="T6" fmla="*/ 30 w 124"/>
                <a:gd name="T7" fmla="*/ 63 h 123"/>
                <a:gd name="T8" fmla="*/ 33 w 124"/>
                <a:gd name="T9" fmla="*/ 65 h 123"/>
                <a:gd name="T10" fmla="*/ 26 w 124"/>
                <a:gd name="T11" fmla="*/ 74 h 123"/>
                <a:gd name="T12" fmla="*/ 30 w 124"/>
                <a:gd name="T13" fmla="*/ 63 h 123"/>
                <a:gd name="T14" fmla="*/ 61 w 124"/>
                <a:gd name="T15" fmla="*/ 32 h 123"/>
                <a:gd name="T16" fmla="*/ 65 w 124"/>
                <a:gd name="T17" fmla="*/ 49 h 123"/>
                <a:gd name="T18" fmla="*/ 55 w 124"/>
                <a:gd name="T19" fmla="*/ 31 h 123"/>
                <a:gd name="T20" fmla="*/ 48 w 124"/>
                <a:gd name="T21" fmla="*/ 23 h 123"/>
                <a:gd name="T22" fmla="*/ 42 w 124"/>
                <a:gd name="T23" fmla="*/ 28 h 123"/>
                <a:gd name="T24" fmla="*/ 36 w 124"/>
                <a:gd name="T25" fmla="*/ 43 h 123"/>
                <a:gd name="T26" fmla="*/ 30 w 124"/>
                <a:gd name="T27" fmla="*/ 39 h 123"/>
                <a:gd name="T28" fmla="*/ 21 w 124"/>
                <a:gd name="T29" fmla="*/ 34 h 123"/>
                <a:gd name="T30" fmla="*/ 5 w 124"/>
                <a:gd name="T31" fmla="*/ 52 h 123"/>
                <a:gd name="T32" fmla="*/ 0 w 124"/>
                <a:gd name="T33" fmla="*/ 73 h 123"/>
                <a:gd name="T34" fmla="*/ 2 w 124"/>
                <a:gd name="T35" fmla="*/ 85 h 123"/>
                <a:gd name="T36" fmla="*/ 14 w 124"/>
                <a:gd name="T37" fmla="*/ 89 h 123"/>
                <a:gd name="T38" fmla="*/ 30 w 124"/>
                <a:gd name="T39" fmla="*/ 83 h 123"/>
                <a:gd name="T40" fmla="*/ 36 w 124"/>
                <a:gd name="T41" fmla="*/ 91 h 123"/>
                <a:gd name="T42" fmla="*/ 8 w 124"/>
                <a:gd name="T43" fmla="*/ 115 h 123"/>
                <a:gd name="T44" fmla="*/ 105 w 124"/>
                <a:gd name="T45" fmla="*/ 97 h 123"/>
                <a:gd name="T46" fmla="*/ 91 w 124"/>
                <a:gd name="T47" fmla="*/ 116 h 123"/>
                <a:gd name="T48" fmla="*/ 92 w 124"/>
                <a:gd name="T49" fmla="*/ 120 h 123"/>
                <a:gd name="T50" fmla="*/ 122 w 124"/>
                <a:gd name="T51" fmla="*/ 97 h 123"/>
                <a:gd name="T52" fmla="*/ 107 w 124"/>
                <a:gd name="T53" fmla="*/ 78 h 123"/>
                <a:gd name="T54" fmla="*/ 85 w 124"/>
                <a:gd name="T55" fmla="*/ 79 h 123"/>
                <a:gd name="T56" fmla="*/ 83 w 124"/>
                <a:gd name="T57" fmla="*/ 59 h 123"/>
                <a:gd name="T58" fmla="*/ 77 w 124"/>
                <a:gd name="T59" fmla="*/ 38 h 123"/>
                <a:gd name="T60" fmla="*/ 94 w 124"/>
                <a:gd name="T61" fmla="*/ 16 h 123"/>
                <a:gd name="T62" fmla="*/ 85 w 124"/>
                <a:gd name="T63" fmla="*/ 6 h 123"/>
                <a:gd name="T64" fmla="*/ 81 w 124"/>
                <a:gd name="T65" fmla="*/ 0 h 123"/>
                <a:gd name="T66" fmla="*/ 70 w 124"/>
                <a:gd name="T67" fmla="*/ 1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4" h="123">
                  <a:moveTo>
                    <a:pt x="48" y="74"/>
                  </a:moveTo>
                  <a:cubicBezTo>
                    <a:pt x="48" y="63"/>
                    <a:pt x="56" y="67"/>
                    <a:pt x="64" y="67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64" y="76"/>
                    <a:pt x="58" y="82"/>
                    <a:pt x="53" y="82"/>
                  </a:cubicBezTo>
                  <a:cubicBezTo>
                    <a:pt x="51" y="82"/>
                    <a:pt x="48" y="79"/>
                    <a:pt x="48" y="76"/>
                  </a:cubicBezTo>
                  <a:cubicBezTo>
                    <a:pt x="48" y="74"/>
                    <a:pt x="48" y="74"/>
                    <a:pt x="48" y="74"/>
                  </a:cubicBezTo>
                  <a:close/>
                  <a:moveTo>
                    <a:pt x="30" y="63"/>
                  </a:moveTo>
                  <a:cubicBezTo>
                    <a:pt x="30" y="64"/>
                    <a:pt x="30" y="64"/>
                    <a:pt x="30" y="64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8"/>
                    <a:pt x="34" y="76"/>
                    <a:pt x="30" y="76"/>
                  </a:cubicBezTo>
                  <a:cubicBezTo>
                    <a:pt x="29" y="76"/>
                    <a:pt x="29" y="75"/>
                    <a:pt x="26" y="74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30" y="63"/>
                    <a:pt x="30" y="63"/>
                    <a:pt x="30" y="63"/>
                  </a:cubicBezTo>
                  <a:close/>
                  <a:moveTo>
                    <a:pt x="61" y="29"/>
                  </a:moveTo>
                  <a:cubicBezTo>
                    <a:pt x="61" y="32"/>
                    <a:pt x="61" y="32"/>
                    <a:pt x="61" y="32"/>
                  </a:cubicBezTo>
                  <a:cubicBezTo>
                    <a:pt x="61" y="37"/>
                    <a:pt x="65" y="41"/>
                    <a:pt x="65" y="45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53"/>
                    <a:pt x="62" y="56"/>
                    <a:pt x="58" y="56"/>
                  </a:cubicBezTo>
                  <a:cubicBezTo>
                    <a:pt x="47" y="56"/>
                    <a:pt x="55" y="37"/>
                    <a:pt x="55" y="31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55" y="26"/>
                    <a:pt x="51" y="23"/>
                    <a:pt x="48" y="23"/>
                  </a:cubicBezTo>
                  <a:cubicBezTo>
                    <a:pt x="46" y="23"/>
                    <a:pt x="44" y="24"/>
                    <a:pt x="43" y="25"/>
                  </a:cubicBezTo>
                  <a:cubicBezTo>
                    <a:pt x="42" y="27"/>
                    <a:pt x="42" y="27"/>
                    <a:pt x="42" y="28"/>
                  </a:cubicBezTo>
                  <a:cubicBezTo>
                    <a:pt x="41" y="30"/>
                    <a:pt x="41" y="28"/>
                    <a:pt x="40" y="30"/>
                  </a:cubicBezTo>
                  <a:cubicBezTo>
                    <a:pt x="39" y="31"/>
                    <a:pt x="36" y="42"/>
                    <a:pt x="36" y="43"/>
                  </a:cubicBezTo>
                  <a:cubicBezTo>
                    <a:pt x="36" y="43"/>
                    <a:pt x="35" y="44"/>
                    <a:pt x="34" y="44"/>
                  </a:cubicBezTo>
                  <a:cubicBezTo>
                    <a:pt x="32" y="44"/>
                    <a:pt x="31" y="40"/>
                    <a:pt x="30" y="39"/>
                  </a:cubicBezTo>
                  <a:cubicBezTo>
                    <a:pt x="29" y="37"/>
                    <a:pt x="24" y="34"/>
                    <a:pt x="23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17" y="34"/>
                    <a:pt x="11" y="37"/>
                    <a:pt x="9" y="39"/>
                  </a:cubicBezTo>
                  <a:cubicBezTo>
                    <a:pt x="7" y="43"/>
                    <a:pt x="5" y="48"/>
                    <a:pt x="5" y="52"/>
                  </a:cubicBezTo>
                  <a:cubicBezTo>
                    <a:pt x="2" y="54"/>
                    <a:pt x="2" y="57"/>
                    <a:pt x="2" y="62"/>
                  </a:cubicBezTo>
                  <a:cubicBezTo>
                    <a:pt x="2" y="66"/>
                    <a:pt x="0" y="71"/>
                    <a:pt x="0" y="73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2" y="84"/>
                    <a:pt x="2" y="85"/>
                  </a:cubicBezTo>
                  <a:cubicBezTo>
                    <a:pt x="3" y="86"/>
                    <a:pt x="8" y="89"/>
                    <a:pt x="10" y="89"/>
                  </a:cubicBezTo>
                  <a:cubicBezTo>
                    <a:pt x="14" y="89"/>
                    <a:pt x="14" y="89"/>
                    <a:pt x="14" y="89"/>
                  </a:cubicBezTo>
                  <a:cubicBezTo>
                    <a:pt x="21" y="89"/>
                    <a:pt x="24" y="83"/>
                    <a:pt x="28" y="83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34" y="83"/>
                    <a:pt x="35" y="86"/>
                    <a:pt x="37" y="87"/>
                  </a:cubicBezTo>
                  <a:cubicBezTo>
                    <a:pt x="36" y="91"/>
                    <a:pt x="36" y="91"/>
                    <a:pt x="36" y="91"/>
                  </a:cubicBezTo>
                  <a:cubicBezTo>
                    <a:pt x="29" y="97"/>
                    <a:pt x="30" y="97"/>
                    <a:pt x="19" y="101"/>
                  </a:cubicBezTo>
                  <a:cubicBezTo>
                    <a:pt x="9" y="104"/>
                    <a:pt x="8" y="105"/>
                    <a:pt x="8" y="115"/>
                  </a:cubicBezTo>
                  <a:cubicBezTo>
                    <a:pt x="22" y="123"/>
                    <a:pt x="44" y="103"/>
                    <a:pt x="53" y="98"/>
                  </a:cubicBezTo>
                  <a:cubicBezTo>
                    <a:pt x="58" y="96"/>
                    <a:pt x="105" y="85"/>
                    <a:pt x="105" y="97"/>
                  </a:cubicBezTo>
                  <a:cubicBezTo>
                    <a:pt x="105" y="98"/>
                    <a:pt x="105" y="98"/>
                    <a:pt x="105" y="98"/>
                  </a:cubicBezTo>
                  <a:cubicBezTo>
                    <a:pt x="105" y="102"/>
                    <a:pt x="91" y="109"/>
                    <a:pt x="91" y="116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1" y="119"/>
                    <a:pt x="91" y="119"/>
                    <a:pt x="92" y="120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109" y="114"/>
                    <a:pt x="118" y="113"/>
                    <a:pt x="122" y="97"/>
                  </a:cubicBezTo>
                  <a:cubicBezTo>
                    <a:pt x="124" y="89"/>
                    <a:pt x="123" y="84"/>
                    <a:pt x="116" y="81"/>
                  </a:cubicBezTo>
                  <a:cubicBezTo>
                    <a:pt x="111" y="80"/>
                    <a:pt x="114" y="78"/>
                    <a:pt x="107" y="78"/>
                  </a:cubicBezTo>
                  <a:cubicBezTo>
                    <a:pt x="103" y="78"/>
                    <a:pt x="99" y="77"/>
                    <a:pt x="95" y="77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3" y="79"/>
                    <a:pt x="81" y="77"/>
                    <a:pt x="81" y="77"/>
                  </a:cubicBezTo>
                  <a:cubicBezTo>
                    <a:pt x="81" y="72"/>
                    <a:pt x="79" y="62"/>
                    <a:pt x="83" y="59"/>
                  </a:cubicBezTo>
                  <a:cubicBezTo>
                    <a:pt x="85" y="57"/>
                    <a:pt x="96" y="51"/>
                    <a:pt x="96" y="50"/>
                  </a:cubicBezTo>
                  <a:cubicBezTo>
                    <a:pt x="96" y="37"/>
                    <a:pt x="77" y="51"/>
                    <a:pt x="77" y="38"/>
                  </a:cubicBezTo>
                  <a:cubicBezTo>
                    <a:pt x="77" y="34"/>
                    <a:pt x="82" y="29"/>
                    <a:pt x="84" y="27"/>
                  </a:cubicBezTo>
                  <a:cubicBezTo>
                    <a:pt x="90" y="21"/>
                    <a:pt x="90" y="25"/>
                    <a:pt x="94" y="16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2"/>
                    <a:pt x="84" y="0"/>
                    <a:pt x="81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3" y="0"/>
                    <a:pt x="73" y="11"/>
                    <a:pt x="70" y="15"/>
                  </a:cubicBezTo>
                  <a:cubicBezTo>
                    <a:pt x="67" y="20"/>
                    <a:pt x="61" y="22"/>
                    <a:pt x="6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šlîḍe"/>
            <p:cNvSpPr/>
            <p:nvPr/>
          </p:nvSpPr>
          <p:spPr bwMode="auto">
            <a:xfrm>
              <a:off x="5320386" y="3167500"/>
              <a:ext cx="109067" cy="174508"/>
            </a:xfrm>
            <a:custGeom>
              <a:avLst/>
              <a:gdLst>
                <a:gd name="T0" fmla="*/ 3 w 34"/>
                <a:gd name="T1" fmla="*/ 17 h 54"/>
                <a:gd name="T2" fmla="*/ 1 w 34"/>
                <a:gd name="T3" fmla="*/ 20 h 54"/>
                <a:gd name="T4" fmla="*/ 0 w 34"/>
                <a:gd name="T5" fmla="*/ 29 h 54"/>
                <a:gd name="T6" fmla="*/ 20 w 34"/>
                <a:gd name="T7" fmla="*/ 54 h 54"/>
                <a:gd name="T8" fmla="*/ 34 w 34"/>
                <a:gd name="T9" fmla="*/ 40 h 54"/>
                <a:gd name="T10" fmla="*/ 29 w 34"/>
                <a:gd name="T11" fmla="*/ 15 h 54"/>
                <a:gd name="T12" fmla="*/ 27 w 34"/>
                <a:gd name="T13" fmla="*/ 10 h 54"/>
                <a:gd name="T14" fmla="*/ 24 w 34"/>
                <a:gd name="T15" fmla="*/ 5 h 54"/>
                <a:gd name="T16" fmla="*/ 14 w 34"/>
                <a:gd name="T17" fmla="*/ 0 h 54"/>
                <a:gd name="T18" fmla="*/ 3 w 34"/>
                <a:gd name="T19" fmla="*/ 1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4">
                  <a:moveTo>
                    <a:pt x="3" y="17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5"/>
                    <a:pt x="0" y="26"/>
                    <a:pt x="0" y="29"/>
                  </a:cubicBezTo>
                  <a:cubicBezTo>
                    <a:pt x="0" y="44"/>
                    <a:pt x="6" y="54"/>
                    <a:pt x="20" y="54"/>
                  </a:cubicBezTo>
                  <a:cubicBezTo>
                    <a:pt x="27" y="54"/>
                    <a:pt x="34" y="47"/>
                    <a:pt x="34" y="40"/>
                  </a:cubicBezTo>
                  <a:cubicBezTo>
                    <a:pt x="34" y="34"/>
                    <a:pt x="32" y="20"/>
                    <a:pt x="29" y="15"/>
                  </a:cubicBezTo>
                  <a:cubicBezTo>
                    <a:pt x="28" y="13"/>
                    <a:pt x="28" y="12"/>
                    <a:pt x="27" y="10"/>
                  </a:cubicBezTo>
                  <a:cubicBezTo>
                    <a:pt x="27" y="8"/>
                    <a:pt x="25" y="8"/>
                    <a:pt x="24" y="5"/>
                  </a:cubicBezTo>
                  <a:cubicBezTo>
                    <a:pt x="23" y="3"/>
                    <a:pt x="18" y="0"/>
                    <a:pt x="14" y="0"/>
                  </a:cubicBezTo>
                  <a:cubicBezTo>
                    <a:pt x="6" y="0"/>
                    <a:pt x="3" y="9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śľîḑê"/>
            <p:cNvSpPr/>
            <p:nvPr/>
          </p:nvSpPr>
          <p:spPr bwMode="auto">
            <a:xfrm>
              <a:off x="8310194" y="3254754"/>
              <a:ext cx="77710" cy="145878"/>
            </a:xfrm>
            <a:custGeom>
              <a:avLst/>
              <a:gdLst>
                <a:gd name="T0" fmla="*/ 7 w 24"/>
                <a:gd name="T1" fmla="*/ 17 h 45"/>
                <a:gd name="T2" fmla="*/ 3 w 24"/>
                <a:gd name="T3" fmla="*/ 24 h 45"/>
                <a:gd name="T4" fmla="*/ 0 w 24"/>
                <a:gd name="T5" fmla="*/ 33 h 45"/>
                <a:gd name="T6" fmla="*/ 0 w 24"/>
                <a:gd name="T7" fmla="*/ 38 h 45"/>
                <a:gd name="T8" fmla="*/ 4 w 24"/>
                <a:gd name="T9" fmla="*/ 44 h 45"/>
                <a:gd name="T10" fmla="*/ 5 w 24"/>
                <a:gd name="T11" fmla="*/ 45 h 45"/>
                <a:gd name="T12" fmla="*/ 23 w 24"/>
                <a:gd name="T13" fmla="*/ 31 h 45"/>
                <a:gd name="T14" fmla="*/ 24 w 24"/>
                <a:gd name="T15" fmla="*/ 5 h 45"/>
                <a:gd name="T16" fmla="*/ 21 w 24"/>
                <a:gd name="T17" fmla="*/ 0 h 45"/>
                <a:gd name="T18" fmla="*/ 12 w 24"/>
                <a:gd name="T19" fmla="*/ 6 h 45"/>
                <a:gd name="T20" fmla="*/ 7 w 24"/>
                <a:gd name="T21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45">
                  <a:moveTo>
                    <a:pt x="7" y="17"/>
                  </a:moveTo>
                  <a:cubicBezTo>
                    <a:pt x="2" y="19"/>
                    <a:pt x="5" y="20"/>
                    <a:pt x="3" y="24"/>
                  </a:cubicBezTo>
                  <a:cubicBezTo>
                    <a:pt x="2" y="27"/>
                    <a:pt x="0" y="26"/>
                    <a:pt x="0" y="33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3" y="40"/>
                    <a:pt x="4" y="44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18" y="44"/>
                    <a:pt x="19" y="40"/>
                    <a:pt x="23" y="31"/>
                  </a:cubicBezTo>
                  <a:cubicBezTo>
                    <a:pt x="12" y="11"/>
                    <a:pt x="24" y="12"/>
                    <a:pt x="24" y="5"/>
                  </a:cubicBezTo>
                  <a:cubicBezTo>
                    <a:pt x="24" y="2"/>
                    <a:pt x="23" y="2"/>
                    <a:pt x="21" y="0"/>
                  </a:cubicBezTo>
                  <a:cubicBezTo>
                    <a:pt x="16" y="3"/>
                    <a:pt x="14" y="0"/>
                    <a:pt x="12" y="6"/>
                  </a:cubicBezTo>
                  <a:cubicBezTo>
                    <a:pt x="9" y="11"/>
                    <a:pt x="7" y="10"/>
                    <a:pt x="7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ṧ1iḋé"/>
            <p:cNvSpPr/>
            <p:nvPr/>
          </p:nvSpPr>
          <p:spPr bwMode="auto">
            <a:xfrm>
              <a:off x="7778491" y="3096606"/>
              <a:ext cx="444449" cy="414456"/>
            </a:xfrm>
            <a:custGeom>
              <a:avLst/>
              <a:gdLst>
                <a:gd name="T0" fmla="*/ 53 w 138"/>
                <a:gd name="T1" fmla="*/ 65 h 128"/>
                <a:gd name="T2" fmla="*/ 61 w 138"/>
                <a:gd name="T3" fmla="*/ 54 h 128"/>
                <a:gd name="T4" fmla="*/ 73 w 138"/>
                <a:gd name="T5" fmla="*/ 48 h 128"/>
                <a:gd name="T6" fmla="*/ 86 w 138"/>
                <a:gd name="T7" fmla="*/ 42 h 128"/>
                <a:gd name="T8" fmla="*/ 93 w 138"/>
                <a:gd name="T9" fmla="*/ 30 h 128"/>
                <a:gd name="T10" fmla="*/ 93 w 138"/>
                <a:gd name="T11" fmla="*/ 29 h 128"/>
                <a:gd name="T12" fmla="*/ 73 w 138"/>
                <a:gd name="T13" fmla="*/ 21 h 128"/>
                <a:gd name="T14" fmla="*/ 68 w 138"/>
                <a:gd name="T15" fmla="*/ 14 h 128"/>
                <a:gd name="T16" fmla="*/ 64 w 138"/>
                <a:gd name="T17" fmla="*/ 8 h 128"/>
                <a:gd name="T18" fmla="*/ 59 w 138"/>
                <a:gd name="T19" fmla="*/ 3 h 128"/>
                <a:gd name="T20" fmla="*/ 52 w 138"/>
                <a:gd name="T21" fmla="*/ 0 h 128"/>
                <a:gd name="T22" fmla="*/ 50 w 138"/>
                <a:gd name="T23" fmla="*/ 0 h 128"/>
                <a:gd name="T24" fmla="*/ 46 w 138"/>
                <a:gd name="T25" fmla="*/ 2 h 128"/>
                <a:gd name="T26" fmla="*/ 41 w 138"/>
                <a:gd name="T27" fmla="*/ 4 h 128"/>
                <a:gd name="T28" fmla="*/ 36 w 138"/>
                <a:gd name="T29" fmla="*/ 13 h 128"/>
                <a:gd name="T30" fmla="*/ 35 w 138"/>
                <a:gd name="T31" fmla="*/ 25 h 128"/>
                <a:gd name="T32" fmla="*/ 32 w 138"/>
                <a:gd name="T33" fmla="*/ 35 h 128"/>
                <a:gd name="T34" fmla="*/ 15 w 138"/>
                <a:gd name="T35" fmla="*/ 40 h 128"/>
                <a:gd name="T36" fmla="*/ 8 w 138"/>
                <a:gd name="T37" fmla="*/ 44 h 128"/>
                <a:gd name="T38" fmla="*/ 5 w 138"/>
                <a:gd name="T39" fmla="*/ 51 h 128"/>
                <a:gd name="T40" fmla="*/ 29 w 138"/>
                <a:gd name="T41" fmla="*/ 69 h 128"/>
                <a:gd name="T42" fmla="*/ 29 w 138"/>
                <a:gd name="T43" fmla="*/ 70 h 128"/>
                <a:gd name="T44" fmla="*/ 16 w 138"/>
                <a:gd name="T45" fmla="*/ 94 h 128"/>
                <a:gd name="T46" fmla="*/ 2 w 138"/>
                <a:gd name="T47" fmla="*/ 110 h 128"/>
                <a:gd name="T48" fmla="*/ 0 w 138"/>
                <a:gd name="T49" fmla="*/ 121 h 128"/>
                <a:gd name="T50" fmla="*/ 3 w 138"/>
                <a:gd name="T51" fmla="*/ 123 h 128"/>
                <a:gd name="T52" fmla="*/ 18 w 138"/>
                <a:gd name="T53" fmla="*/ 116 h 128"/>
                <a:gd name="T54" fmla="*/ 28 w 138"/>
                <a:gd name="T55" fmla="*/ 106 h 128"/>
                <a:gd name="T56" fmla="*/ 46 w 138"/>
                <a:gd name="T57" fmla="*/ 83 h 128"/>
                <a:gd name="T58" fmla="*/ 49 w 138"/>
                <a:gd name="T59" fmla="*/ 83 h 128"/>
                <a:gd name="T60" fmla="*/ 64 w 138"/>
                <a:gd name="T61" fmla="*/ 96 h 128"/>
                <a:gd name="T62" fmla="*/ 74 w 138"/>
                <a:gd name="T63" fmla="*/ 111 h 128"/>
                <a:gd name="T64" fmla="*/ 89 w 138"/>
                <a:gd name="T65" fmla="*/ 123 h 128"/>
                <a:gd name="T66" fmla="*/ 110 w 138"/>
                <a:gd name="T67" fmla="*/ 128 h 128"/>
                <a:gd name="T68" fmla="*/ 138 w 138"/>
                <a:gd name="T69" fmla="*/ 121 h 128"/>
                <a:gd name="T70" fmla="*/ 138 w 138"/>
                <a:gd name="T71" fmla="*/ 120 h 128"/>
                <a:gd name="T72" fmla="*/ 127 w 138"/>
                <a:gd name="T73" fmla="*/ 112 h 128"/>
                <a:gd name="T74" fmla="*/ 126 w 138"/>
                <a:gd name="T75" fmla="*/ 113 h 128"/>
                <a:gd name="T76" fmla="*/ 120 w 138"/>
                <a:gd name="T77" fmla="*/ 110 h 128"/>
                <a:gd name="T78" fmla="*/ 108 w 138"/>
                <a:gd name="T79" fmla="*/ 104 h 128"/>
                <a:gd name="T80" fmla="*/ 97 w 138"/>
                <a:gd name="T81" fmla="*/ 98 h 128"/>
                <a:gd name="T82" fmla="*/ 79 w 138"/>
                <a:gd name="T83" fmla="*/ 83 h 128"/>
                <a:gd name="T84" fmla="*/ 75 w 138"/>
                <a:gd name="T85" fmla="*/ 80 h 128"/>
                <a:gd name="T86" fmla="*/ 75 w 138"/>
                <a:gd name="T87" fmla="*/ 80 h 128"/>
                <a:gd name="T88" fmla="*/ 64 w 138"/>
                <a:gd name="T89" fmla="*/ 72 h 128"/>
                <a:gd name="T90" fmla="*/ 53 w 138"/>
                <a:gd name="T91" fmla="*/ 6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8" h="128">
                  <a:moveTo>
                    <a:pt x="53" y="65"/>
                  </a:moveTo>
                  <a:cubicBezTo>
                    <a:pt x="57" y="57"/>
                    <a:pt x="53" y="60"/>
                    <a:pt x="61" y="54"/>
                  </a:cubicBezTo>
                  <a:cubicBezTo>
                    <a:pt x="64" y="52"/>
                    <a:pt x="69" y="49"/>
                    <a:pt x="73" y="48"/>
                  </a:cubicBezTo>
                  <a:cubicBezTo>
                    <a:pt x="75" y="47"/>
                    <a:pt x="84" y="43"/>
                    <a:pt x="86" y="42"/>
                  </a:cubicBezTo>
                  <a:cubicBezTo>
                    <a:pt x="88" y="40"/>
                    <a:pt x="93" y="33"/>
                    <a:pt x="93" y="30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93" y="22"/>
                    <a:pt x="80" y="21"/>
                    <a:pt x="73" y="21"/>
                  </a:cubicBezTo>
                  <a:cubicBezTo>
                    <a:pt x="71" y="18"/>
                    <a:pt x="70" y="18"/>
                    <a:pt x="68" y="14"/>
                  </a:cubicBezTo>
                  <a:cubicBezTo>
                    <a:pt x="66" y="11"/>
                    <a:pt x="67" y="11"/>
                    <a:pt x="64" y="8"/>
                  </a:cubicBezTo>
                  <a:cubicBezTo>
                    <a:pt x="62" y="6"/>
                    <a:pt x="62" y="4"/>
                    <a:pt x="59" y="3"/>
                  </a:cubicBezTo>
                  <a:cubicBezTo>
                    <a:pt x="57" y="2"/>
                    <a:pt x="52" y="0"/>
                    <a:pt x="52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8" y="0"/>
                    <a:pt x="48" y="1"/>
                    <a:pt x="46" y="2"/>
                  </a:cubicBezTo>
                  <a:cubicBezTo>
                    <a:pt x="44" y="3"/>
                    <a:pt x="42" y="3"/>
                    <a:pt x="41" y="4"/>
                  </a:cubicBezTo>
                  <a:cubicBezTo>
                    <a:pt x="40" y="4"/>
                    <a:pt x="36" y="12"/>
                    <a:pt x="36" y="13"/>
                  </a:cubicBezTo>
                  <a:cubicBezTo>
                    <a:pt x="35" y="16"/>
                    <a:pt x="35" y="21"/>
                    <a:pt x="35" y="25"/>
                  </a:cubicBezTo>
                  <a:cubicBezTo>
                    <a:pt x="35" y="36"/>
                    <a:pt x="33" y="30"/>
                    <a:pt x="32" y="35"/>
                  </a:cubicBezTo>
                  <a:cubicBezTo>
                    <a:pt x="23" y="36"/>
                    <a:pt x="21" y="38"/>
                    <a:pt x="15" y="40"/>
                  </a:cubicBezTo>
                  <a:cubicBezTo>
                    <a:pt x="9" y="41"/>
                    <a:pt x="12" y="41"/>
                    <a:pt x="8" y="44"/>
                  </a:cubicBezTo>
                  <a:cubicBezTo>
                    <a:pt x="5" y="45"/>
                    <a:pt x="5" y="47"/>
                    <a:pt x="5" y="51"/>
                  </a:cubicBezTo>
                  <a:cubicBezTo>
                    <a:pt x="3" y="69"/>
                    <a:pt x="29" y="60"/>
                    <a:pt x="29" y="69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9" y="77"/>
                    <a:pt x="17" y="88"/>
                    <a:pt x="16" y="94"/>
                  </a:cubicBezTo>
                  <a:cubicBezTo>
                    <a:pt x="11" y="97"/>
                    <a:pt x="6" y="110"/>
                    <a:pt x="2" y="11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1" y="122"/>
                    <a:pt x="1" y="123"/>
                    <a:pt x="3" y="123"/>
                  </a:cubicBezTo>
                  <a:cubicBezTo>
                    <a:pt x="4" y="123"/>
                    <a:pt x="17" y="117"/>
                    <a:pt x="18" y="116"/>
                  </a:cubicBezTo>
                  <a:cubicBezTo>
                    <a:pt x="21" y="114"/>
                    <a:pt x="26" y="109"/>
                    <a:pt x="28" y="106"/>
                  </a:cubicBezTo>
                  <a:cubicBezTo>
                    <a:pt x="31" y="103"/>
                    <a:pt x="43" y="83"/>
                    <a:pt x="46" y="83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55" y="83"/>
                    <a:pt x="61" y="92"/>
                    <a:pt x="64" y="96"/>
                  </a:cubicBezTo>
                  <a:cubicBezTo>
                    <a:pt x="66" y="99"/>
                    <a:pt x="71" y="110"/>
                    <a:pt x="74" y="111"/>
                  </a:cubicBezTo>
                  <a:cubicBezTo>
                    <a:pt x="78" y="115"/>
                    <a:pt x="83" y="121"/>
                    <a:pt x="89" y="123"/>
                  </a:cubicBezTo>
                  <a:cubicBezTo>
                    <a:pt x="96" y="126"/>
                    <a:pt x="99" y="128"/>
                    <a:pt x="110" y="128"/>
                  </a:cubicBezTo>
                  <a:cubicBezTo>
                    <a:pt x="118" y="128"/>
                    <a:pt x="133" y="124"/>
                    <a:pt x="138" y="121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27" y="112"/>
                    <a:pt x="127" y="112"/>
                    <a:pt x="127" y="112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5" y="110"/>
                    <a:pt x="123" y="110"/>
                    <a:pt x="120" y="110"/>
                  </a:cubicBezTo>
                  <a:cubicBezTo>
                    <a:pt x="115" y="103"/>
                    <a:pt x="112" y="108"/>
                    <a:pt x="108" y="104"/>
                  </a:cubicBezTo>
                  <a:cubicBezTo>
                    <a:pt x="107" y="103"/>
                    <a:pt x="100" y="98"/>
                    <a:pt x="97" y="98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4" y="76"/>
                    <a:pt x="68" y="73"/>
                    <a:pt x="64" y="72"/>
                  </a:cubicBezTo>
                  <a:cubicBezTo>
                    <a:pt x="56" y="68"/>
                    <a:pt x="58" y="69"/>
                    <a:pt x="53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í$ḻïďé"/>
            <p:cNvSpPr/>
            <p:nvPr/>
          </p:nvSpPr>
          <p:spPr bwMode="auto">
            <a:xfrm>
              <a:off x="7306775" y="2999809"/>
              <a:ext cx="316295" cy="546700"/>
            </a:xfrm>
            <a:custGeom>
              <a:avLst/>
              <a:gdLst>
                <a:gd name="T0" fmla="*/ 6 w 98"/>
                <a:gd name="T1" fmla="*/ 157 h 169"/>
                <a:gd name="T2" fmla="*/ 5 w 98"/>
                <a:gd name="T3" fmla="*/ 158 h 169"/>
                <a:gd name="T4" fmla="*/ 21 w 98"/>
                <a:gd name="T5" fmla="*/ 145 h 169"/>
                <a:gd name="T6" fmla="*/ 19 w 98"/>
                <a:gd name="T7" fmla="*/ 147 h 169"/>
                <a:gd name="T8" fmla="*/ 21 w 98"/>
                <a:gd name="T9" fmla="*/ 145 h 169"/>
                <a:gd name="T10" fmla="*/ 41 w 98"/>
                <a:gd name="T11" fmla="*/ 99 h 169"/>
                <a:gd name="T12" fmla="*/ 37 w 98"/>
                <a:gd name="T13" fmla="*/ 104 h 169"/>
                <a:gd name="T14" fmla="*/ 35 w 98"/>
                <a:gd name="T15" fmla="*/ 98 h 169"/>
                <a:gd name="T16" fmla="*/ 2 w 98"/>
                <a:gd name="T17" fmla="*/ 157 h 169"/>
                <a:gd name="T18" fmla="*/ 0 w 98"/>
                <a:gd name="T19" fmla="*/ 167 h 169"/>
                <a:gd name="T20" fmla="*/ 4 w 98"/>
                <a:gd name="T21" fmla="*/ 169 h 169"/>
                <a:gd name="T22" fmla="*/ 51 w 98"/>
                <a:gd name="T23" fmla="*/ 136 h 169"/>
                <a:gd name="T24" fmla="*/ 87 w 98"/>
                <a:gd name="T25" fmla="*/ 163 h 169"/>
                <a:gd name="T26" fmla="*/ 95 w 98"/>
                <a:gd name="T27" fmla="*/ 147 h 169"/>
                <a:gd name="T28" fmla="*/ 72 w 98"/>
                <a:gd name="T29" fmla="*/ 130 h 169"/>
                <a:gd name="T30" fmla="*/ 64 w 98"/>
                <a:gd name="T31" fmla="*/ 113 h 169"/>
                <a:gd name="T32" fmla="*/ 86 w 98"/>
                <a:gd name="T33" fmla="*/ 101 h 169"/>
                <a:gd name="T34" fmla="*/ 92 w 98"/>
                <a:gd name="T35" fmla="*/ 88 h 169"/>
                <a:gd name="T36" fmla="*/ 69 w 98"/>
                <a:gd name="T37" fmla="*/ 96 h 169"/>
                <a:gd name="T38" fmla="*/ 67 w 98"/>
                <a:gd name="T39" fmla="*/ 92 h 169"/>
                <a:gd name="T40" fmla="*/ 68 w 98"/>
                <a:gd name="T41" fmla="*/ 73 h 169"/>
                <a:gd name="T42" fmla="*/ 73 w 98"/>
                <a:gd name="T43" fmla="*/ 56 h 169"/>
                <a:gd name="T44" fmla="*/ 61 w 98"/>
                <a:gd name="T45" fmla="*/ 45 h 169"/>
                <a:gd name="T46" fmla="*/ 94 w 98"/>
                <a:gd name="T47" fmla="*/ 17 h 169"/>
                <a:gd name="T48" fmla="*/ 71 w 98"/>
                <a:gd name="T49" fmla="*/ 18 h 169"/>
                <a:gd name="T50" fmla="*/ 51 w 98"/>
                <a:gd name="T51" fmla="*/ 29 h 169"/>
                <a:gd name="T52" fmla="*/ 49 w 98"/>
                <a:gd name="T53" fmla="*/ 0 h 169"/>
                <a:gd name="T54" fmla="*/ 32 w 98"/>
                <a:gd name="T55" fmla="*/ 18 h 169"/>
                <a:gd name="T56" fmla="*/ 25 w 98"/>
                <a:gd name="T57" fmla="*/ 41 h 169"/>
                <a:gd name="T58" fmla="*/ 31 w 98"/>
                <a:gd name="T59" fmla="*/ 49 h 169"/>
                <a:gd name="T60" fmla="*/ 50 w 98"/>
                <a:gd name="T61" fmla="*/ 44 h 169"/>
                <a:gd name="T62" fmla="*/ 33 w 98"/>
                <a:gd name="T63" fmla="*/ 62 h 169"/>
                <a:gd name="T64" fmla="*/ 32 w 98"/>
                <a:gd name="T65" fmla="*/ 90 h 169"/>
                <a:gd name="T66" fmla="*/ 28 w 98"/>
                <a:gd name="T67" fmla="*/ 95 h 169"/>
                <a:gd name="T68" fmla="*/ 25 w 98"/>
                <a:gd name="T69" fmla="*/ 90 h 169"/>
                <a:gd name="T70" fmla="*/ 14 w 98"/>
                <a:gd name="T71" fmla="*/ 118 h 169"/>
                <a:gd name="T72" fmla="*/ 39 w 98"/>
                <a:gd name="T73" fmla="*/ 119 h 169"/>
                <a:gd name="T74" fmla="*/ 43 w 98"/>
                <a:gd name="T75" fmla="*/ 125 h 169"/>
                <a:gd name="T76" fmla="*/ 26 w 98"/>
                <a:gd name="T77" fmla="*/ 138 h 169"/>
                <a:gd name="T78" fmla="*/ 20 w 98"/>
                <a:gd name="T79" fmla="*/ 136 h 169"/>
                <a:gd name="T80" fmla="*/ 17 w 98"/>
                <a:gd name="T81" fmla="*/ 131 h 169"/>
                <a:gd name="T82" fmla="*/ 13 w 98"/>
                <a:gd name="T83" fmla="*/ 14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69">
                  <a:moveTo>
                    <a:pt x="5" y="157"/>
                  </a:moveTo>
                  <a:cubicBezTo>
                    <a:pt x="6" y="157"/>
                    <a:pt x="6" y="157"/>
                    <a:pt x="6" y="157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5" y="157"/>
                    <a:pt x="5" y="157"/>
                    <a:pt x="5" y="157"/>
                  </a:cubicBezTo>
                  <a:close/>
                  <a:moveTo>
                    <a:pt x="21" y="145"/>
                  </a:moveTo>
                  <a:cubicBezTo>
                    <a:pt x="22" y="147"/>
                    <a:pt x="22" y="147"/>
                    <a:pt x="22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9" y="146"/>
                    <a:pt x="19" y="146"/>
                    <a:pt x="19" y="146"/>
                  </a:cubicBezTo>
                  <a:cubicBezTo>
                    <a:pt x="21" y="145"/>
                    <a:pt x="21" y="145"/>
                    <a:pt x="21" y="145"/>
                  </a:cubicBezTo>
                  <a:close/>
                  <a:moveTo>
                    <a:pt x="35" y="98"/>
                  </a:moveTo>
                  <a:cubicBezTo>
                    <a:pt x="38" y="98"/>
                    <a:pt x="41" y="96"/>
                    <a:pt x="41" y="99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1" y="104"/>
                    <a:pt x="39" y="103"/>
                    <a:pt x="37" y="104"/>
                  </a:cubicBezTo>
                  <a:cubicBezTo>
                    <a:pt x="34" y="102"/>
                    <a:pt x="34" y="102"/>
                    <a:pt x="34" y="102"/>
                  </a:cubicBezTo>
                  <a:cubicBezTo>
                    <a:pt x="35" y="98"/>
                    <a:pt x="35" y="98"/>
                    <a:pt x="35" y="98"/>
                  </a:cubicBezTo>
                  <a:close/>
                  <a:moveTo>
                    <a:pt x="5" y="157"/>
                  </a:moveTo>
                  <a:cubicBezTo>
                    <a:pt x="2" y="157"/>
                    <a:pt x="2" y="157"/>
                    <a:pt x="2" y="157"/>
                  </a:cubicBezTo>
                  <a:cubicBezTo>
                    <a:pt x="2" y="157"/>
                    <a:pt x="0" y="162"/>
                    <a:pt x="0" y="163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8"/>
                    <a:pt x="0" y="169"/>
                    <a:pt x="2" y="169"/>
                  </a:cubicBezTo>
                  <a:cubicBezTo>
                    <a:pt x="4" y="169"/>
                    <a:pt x="4" y="169"/>
                    <a:pt x="4" y="169"/>
                  </a:cubicBezTo>
                  <a:cubicBezTo>
                    <a:pt x="9" y="169"/>
                    <a:pt x="28" y="158"/>
                    <a:pt x="32" y="156"/>
                  </a:cubicBezTo>
                  <a:cubicBezTo>
                    <a:pt x="41" y="150"/>
                    <a:pt x="46" y="139"/>
                    <a:pt x="51" y="136"/>
                  </a:cubicBezTo>
                  <a:cubicBezTo>
                    <a:pt x="59" y="138"/>
                    <a:pt x="71" y="163"/>
                    <a:pt x="85" y="163"/>
                  </a:cubicBezTo>
                  <a:cubicBezTo>
                    <a:pt x="87" y="163"/>
                    <a:pt x="87" y="163"/>
                    <a:pt x="87" y="163"/>
                  </a:cubicBezTo>
                  <a:cubicBezTo>
                    <a:pt x="92" y="163"/>
                    <a:pt x="93" y="153"/>
                    <a:pt x="98" y="151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4" y="144"/>
                    <a:pt x="84" y="136"/>
                    <a:pt x="79" y="136"/>
                  </a:cubicBezTo>
                  <a:cubicBezTo>
                    <a:pt x="78" y="132"/>
                    <a:pt x="76" y="133"/>
                    <a:pt x="72" y="130"/>
                  </a:cubicBezTo>
                  <a:cubicBezTo>
                    <a:pt x="66" y="130"/>
                    <a:pt x="61" y="129"/>
                    <a:pt x="59" y="124"/>
                  </a:cubicBezTo>
                  <a:cubicBezTo>
                    <a:pt x="61" y="119"/>
                    <a:pt x="60" y="119"/>
                    <a:pt x="64" y="113"/>
                  </a:cubicBezTo>
                  <a:cubicBezTo>
                    <a:pt x="68" y="107"/>
                    <a:pt x="69" y="109"/>
                    <a:pt x="74" y="106"/>
                  </a:cubicBezTo>
                  <a:cubicBezTo>
                    <a:pt x="78" y="104"/>
                    <a:pt x="81" y="104"/>
                    <a:pt x="86" y="101"/>
                  </a:cubicBezTo>
                  <a:cubicBezTo>
                    <a:pt x="89" y="99"/>
                    <a:pt x="92" y="96"/>
                    <a:pt x="96" y="95"/>
                  </a:cubicBezTo>
                  <a:cubicBezTo>
                    <a:pt x="94" y="92"/>
                    <a:pt x="95" y="89"/>
                    <a:pt x="92" y="88"/>
                  </a:cubicBezTo>
                  <a:cubicBezTo>
                    <a:pt x="89" y="88"/>
                    <a:pt x="85" y="88"/>
                    <a:pt x="82" y="88"/>
                  </a:cubicBezTo>
                  <a:cubicBezTo>
                    <a:pt x="75" y="87"/>
                    <a:pt x="73" y="94"/>
                    <a:pt x="69" y="96"/>
                  </a:cubicBezTo>
                  <a:cubicBezTo>
                    <a:pt x="67" y="95"/>
                    <a:pt x="67" y="95"/>
                    <a:pt x="67" y="95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59" y="84"/>
                    <a:pt x="59" y="84"/>
                    <a:pt x="59" y="84"/>
                  </a:cubicBezTo>
                  <a:cubicBezTo>
                    <a:pt x="62" y="77"/>
                    <a:pt x="64" y="77"/>
                    <a:pt x="68" y="73"/>
                  </a:cubicBezTo>
                  <a:cubicBezTo>
                    <a:pt x="71" y="70"/>
                    <a:pt x="77" y="66"/>
                    <a:pt x="77" y="61"/>
                  </a:cubicBezTo>
                  <a:cubicBezTo>
                    <a:pt x="77" y="60"/>
                    <a:pt x="74" y="56"/>
                    <a:pt x="73" y="56"/>
                  </a:cubicBezTo>
                  <a:cubicBezTo>
                    <a:pt x="73" y="56"/>
                    <a:pt x="53" y="64"/>
                    <a:pt x="53" y="58"/>
                  </a:cubicBezTo>
                  <a:cubicBezTo>
                    <a:pt x="53" y="55"/>
                    <a:pt x="59" y="48"/>
                    <a:pt x="61" y="45"/>
                  </a:cubicBezTo>
                  <a:cubicBezTo>
                    <a:pt x="63" y="41"/>
                    <a:pt x="68" y="38"/>
                    <a:pt x="72" y="36"/>
                  </a:cubicBezTo>
                  <a:cubicBezTo>
                    <a:pt x="75" y="33"/>
                    <a:pt x="94" y="20"/>
                    <a:pt x="94" y="17"/>
                  </a:cubicBezTo>
                  <a:cubicBezTo>
                    <a:pt x="94" y="12"/>
                    <a:pt x="87" y="13"/>
                    <a:pt x="83" y="14"/>
                  </a:cubicBezTo>
                  <a:cubicBezTo>
                    <a:pt x="75" y="14"/>
                    <a:pt x="76" y="16"/>
                    <a:pt x="71" y="18"/>
                  </a:cubicBezTo>
                  <a:cubicBezTo>
                    <a:pt x="67" y="19"/>
                    <a:pt x="57" y="28"/>
                    <a:pt x="55" y="32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4"/>
                    <a:pt x="63" y="17"/>
                    <a:pt x="63" y="9"/>
                  </a:cubicBezTo>
                  <a:cubicBezTo>
                    <a:pt x="63" y="6"/>
                    <a:pt x="54" y="0"/>
                    <a:pt x="49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0" y="0"/>
                    <a:pt x="33" y="10"/>
                    <a:pt x="32" y="18"/>
                  </a:cubicBezTo>
                  <a:cubicBezTo>
                    <a:pt x="29" y="20"/>
                    <a:pt x="25" y="31"/>
                    <a:pt x="25" y="38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4"/>
                    <a:pt x="26" y="49"/>
                    <a:pt x="28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42" y="43"/>
                    <a:pt x="43" y="42"/>
                  </a:cubicBezTo>
                  <a:cubicBezTo>
                    <a:pt x="45" y="42"/>
                    <a:pt x="50" y="40"/>
                    <a:pt x="50" y="44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46" y="48"/>
                    <a:pt x="35" y="58"/>
                    <a:pt x="33" y="62"/>
                  </a:cubicBezTo>
                  <a:cubicBezTo>
                    <a:pt x="26" y="81"/>
                    <a:pt x="34" y="73"/>
                    <a:pt x="37" y="83"/>
                  </a:cubicBezTo>
                  <a:cubicBezTo>
                    <a:pt x="35" y="86"/>
                    <a:pt x="32" y="88"/>
                    <a:pt x="32" y="90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29" y="92"/>
                    <a:pt x="29" y="92"/>
                    <a:pt x="28" y="95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24" y="102"/>
                    <a:pt x="14" y="108"/>
                    <a:pt x="14" y="118"/>
                  </a:cubicBezTo>
                  <a:cubicBezTo>
                    <a:pt x="14" y="121"/>
                    <a:pt x="16" y="122"/>
                    <a:pt x="17" y="124"/>
                  </a:cubicBezTo>
                  <a:cubicBezTo>
                    <a:pt x="22" y="122"/>
                    <a:pt x="34" y="119"/>
                    <a:pt x="39" y="119"/>
                  </a:cubicBezTo>
                  <a:cubicBezTo>
                    <a:pt x="40" y="119"/>
                    <a:pt x="43" y="120"/>
                    <a:pt x="44" y="120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0" y="138"/>
                    <a:pt x="28" y="139"/>
                    <a:pt x="26" y="138"/>
                  </a:cubicBezTo>
                  <a:cubicBezTo>
                    <a:pt x="25" y="136"/>
                    <a:pt x="23" y="133"/>
                    <a:pt x="22" y="136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2" y="140"/>
                    <a:pt x="12" y="140"/>
                    <a:pt x="12" y="140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9" y="145"/>
                    <a:pt x="5" y="151"/>
                    <a:pt x="5" y="1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iṡḻîḓe"/>
            <p:cNvSpPr/>
            <p:nvPr/>
          </p:nvSpPr>
          <p:spPr bwMode="auto">
            <a:xfrm>
              <a:off x="6182018" y="3355641"/>
              <a:ext cx="173144" cy="177234"/>
            </a:xfrm>
            <a:custGeom>
              <a:avLst/>
              <a:gdLst>
                <a:gd name="T0" fmla="*/ 14 w 54"/>
                <a:gd name="T1" fmla="*/ 0 h 55"/>
                <a:gd name="T2" fmla="*/ 2 w 54"/>
                <a:gd name="T3" fmla="*/ 9 h 55"/>
                <a:gd name="T4" fmla="*/ 11 w 54"/>
                <a:gd name="T5" fmla="*/ 20 h 55"/>
                <a:gd name="T6" fmla="*/ 19 w 54"/>
                <a:gd name="T7" fmla="*/ 32 h 55"/>
                <a:gd name="T8" fmla="*/ 22 w 54"/>
                <a:gd name="T9" fmla="*/ 40 h 55"/>
                <a:gd name="T10" fmla="*/ 26 w 54"/>
                <a:gd name="T11" fmla="*/ 47 h 55"/>
                <a:gd name="T12" fmla="*/ 26 w 54"/>
                <a:gd name="T13" fmla="*/ 50 h 55"/>
                <a:gd name="T14" fmla="*/ 30 w 54"/>
                <a:gd name="T15" fmla="*/ 53 h 55"/>
                <a:gd name="T16" fmla="*/ 39 w 54"/>
                <a:gd name="T17" fmla="*/ 55 h 55"/>
                <a:gd name="T18" fmla="*/ 40 w 54"/>
                <a:gd name="T19" fmla="*/ 55 h 55"/>
                <a:gd name="T20" fmla="*/ 48 w 54"/>
                <a:gd name="T21" fmla="*/ 20 h 55"/>
                <a:gd name="T22" fmla="*/ 42 w 54"/>
                <a:gd name="T23" fmla="*/ 13 h 55"/>
                <a:gd name="T24" fmla="*/ 34 w 54"/>
                <a:gd name="T25" fmla="*/ 8 h 55"/>
                <a:gd name="T26" fmla="*/ 26 w 54"/>
                <a:gd name="T27" fmla="*/ 3 h 55"/>
                <a:gd name="T28" fmla="*/ 16 w 54"/>
                <a:gd name="T29" fmla="*/ 0 h 55"/>
                <a:gd name="T30" fmla="*/ 14 w 54"/>
                <a:gd name="T31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" h="55">
                  <a:moveTo>
                    <a:pt x="14" y="0"/>
                  </a:moveTo>
                  <a:cubicBezTo>
                    <a:pt x="7" y="0"/>
                    <a:pt x="4" y="3"/>
                    <a:pt x="2" y="9"/>
                  </a:cubicBezTo>
                  <a:cubicBezTo>
                    <a:pt x="0" y="21"/>
                    <a:pt x="6" y="15"/>
                    <a:pt x="11" y="20"/>
                  </a:cubicBezTo>
                  <a:cubicBezTo>
                    <a:pt x="15" y="23"/>
                    <a:pt x="18" y="27"/>
                    <a:pt x="19" y="32"/>
                  </a:cubicBezTo>
                  <a:cubicBezTo>
                    <a:pt x="20" y="35"/>
                    <a:pt x="22" y="35"/>
                    <a:pt x="22" y="40"/>
                  </a:cubicBezTo>
                  <a:cubicBezTo>
                    <a:pt x="23" y="44"/>
                    <a:pt x="23" y="45"/>
                    <a:pt x="26" y="47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53" y="55"/>
                    <a:pt x="54" y="25"/>
                    <a:pt x="48" y="20"/>
                  </a:cubicBezTo>
                  <a:cubicBezTo>
                    <a:pt x="46" y="18"/>
                    <a:pt x="45" y="16"/>
                    <a:pt x="42" y="13"/>
                  </a:cubicBezTo>
                  <a:cubicBezTo>
                    <a:pt x="42" y="13"/>
                    <a:pt x="35" y="8"/>
                    <a:pt x="34" y="8"/>
                  </a:cubicBezTo>
                  <a:cubicBezTo>
                    <a:pt x="29" y="4"/>
                    <a:pt x="35" y="6"/>
                    <a:pt x="26" y="3"/>
                  </a:cubicBezTo>
                  <a:cubicBezTo>
                    <a:pt x="23" y="3"/>
                    <a:pt x="21" y="0"/>
                    <a:pt x="16" y="0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ïṩḻïḍe"/>
            <p:cNvSpPr/>
            <p:nvPr/>
          </p:nvSpPr>
          <p:spPr bwMode="auto">
            <a:xfrm>
              <a:off x="6565117" y="2986176"/>
              <a:ext cx="422636" cy="546700"/>
            </a:xfrm>
            <a:custGeom>
              <a:avLst/>
              <a:gdLst>
                <a:gd name="T0" fmla="*/ 47 w 131"/>
                <a:gd name="T1" fmla="*/ 118 h 169"/>
                <a:gd name="T2" fmla="*/ 59 w 131"/>
                <a:gd name="T3" fmla="*/ 46 h 169"/>
                <a:gd name="T4" fmla="*/ 91 w 131"/>
                <a:gd name="T5" fmla="*/ 15 h 169"/>
                <a:gd name="T6" fmla="*/ 77 w 131"/>
                <a:gd name="T7" fmla="*/ 0 h 169"/>
                <a:gd name="T8" fmla="*/ 60 w 131"/>
                <a:gd name="T9" fmla="*/ 4 h 169"/>
                <a:gd name="T10" fmla="*/ 47 w 131"/>
                <a:gd name="T11" fmla="*/ 8 h 169"/>
                <a:gd name="T12" fmla="*/ 29 w 131"/>
                <a:gd name="T13" fmla="*/ 24 h 169"/>
                <a:gd name="T14" fmla="*/ 48 w 131"/>
                <a:gd name="T15" fmla="*/ 29 h 169"/>
                <a:gd name="T16" fmla="*/ 58 w 131"/>
                <a:gd name="T17" fmla="*/ 28 h 169"/>
                <a:gd name="T18" fmla="*/ 29 w 131"/>
                <a:gd name="T19" fmla="*/ 36 h 169"/>
                <a:gd name="T20" fmla="*/ 7 w 131"/>
                <a:gd name="T21" fmla="*/ 77 h 169"/>
                <a:gd name="T22" fmla="*/ 1 w 131"/>
                <a:gd name="T23" fmla="*/ 150 h 169"/>
                <a:gd name="T24" fmla="*/ 20 w 131"/>
                <a:gd name="T25" fmla="*/ 163 h 169"/>
                <a:gd name="T26" fmla="*/ 47 w 131"/>
                <a:gd name="T27" fmla="*/ 140 h 169"/>
                <a:gd name="T28" fmla="*/ 66 w 131"/>
                <a:gd name="T29" fmla="*/ 109 h 169"/>
                <a:gd name="T30" fmla="*/ 97 w 131"/>
                <a:gd name="T31" fmla="*/ 160 h 169"/>
                <a:gd name="T32" fmla="*/ 117 w 131"/>
                <a:gd name="T33" fmla="*/ 169 h 169"/>
                <a:gd name="T34" fmla="*/ 125 w 131"/>
                <a:gd name="T35" fmla="*/ 150 h 169"/>
                <a:gd name="T36" fmla="*/ 131 w 131"/>
                <a:gd name="T37" fmla="*/ 138 h 169"/>
                <a:gd name="T38" fmla="*/ 118 w 131"/>
                <a:gd name="T39" fmla="*/ 145 h 169"/>
                <a:gd name="T40" fmla="*/ 99 w 131"/>
                <a:gd name="T41" fmla="*/ 130 h 169"/>
                <a:gd name="T42" fmla="*/ 81 w 131"/>
                <a:gd name="T43" fmla="*/ 98 h 169"/>
                <a:gd name="T44" fmla="*/ 88 w 131"/>
                <a:gd name="T45" fmla="*/ 67 h 169"/>
                <a:gd name="T46" fmla="*/ 66 w 131"/>
                <a:gd name="T47" fmla="*/ 57 h 169"/>
                <a:gd name="T48" fmla="*/ 52 w 131"/>
                <a:gd name="T49" fmla="*/ 65 h 169"/>
                <a:gd name="T50" fmla="*/ 55 w 131"/>
                <a:gd name="T51" fmla="*/ 73 h 169"/>
                <a:gd name="T52" fmla="*/ 51 w 131"/>
                <a:gd name="T53" fmla="*/ 84 h 169"/>
                <a:gd name="T54" fmla="*/ 43 w 131"/>
                <a:gd name="T55" fmla="*/ 96 h 169"/>
                <a:gd name="T56" fmla="*/ 53 w 131"/>
                <a:gd name="T57" fmla="*/ 97 h 169"/>
                <a:gd name="T58" fmla="*/ 56 w 131"/>
                <a:gd name="T59" fmla="*/ 101 h 169"/>
                <a:gd name="T60" fmla="*/ 51 w 131"/>
                <a:gd name="T61" fmla="*/ 110 h 169"/>
                <a:gd name="T62" fmla="*/ 31 w 131"/>
                <a:gd name="T63" fmla="*/ 142 h 169"/>
                <a:gd name="T64" fmla="*/ 23 w 131"/>
                <a:gd name="T65" fmla="*/ 119 h 169"/>
                <a:gd name="T66" fmla="*/ 33 w 131"/>
                <a:gd name="T67" fmla="*/ 71 h 169"/>
                <a:gd name="T68" fmla="*/ 43 w 131"/>
                <a:gd name="T69" fmla="*/ 5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69">
                  <a:moveTo>
                    <a:pt x="47" y="118"/>
                  </a:moveTo>
                  <a:cubicBezTo>
                    <a:pt x="47" y="134"/>
                    <a:pt x="47" y="108"/>
                    <a:pt x="47" y="118"/>
                  </a:cubicBezTo>
                  <a:close/>
                  <a:moveTo>
                    <a:pt x="43" y="51"/>
                  </a:moveTo>
                  <a:cubicBezTo>
                    <a:pt x="46" y="49"/>
                    <a:pt x="54" y="47"/>
                    <a:pt x="59" y="46"/>
                  </a:cubicBezTo>
                  <a:cubicBezTo>
                    <a:pt x="64" y="43"/>
                    <a:pt x="66" y="40"/>
                    <a:pt x="70" y="36"/>
                  </a:cubicBezTo>
                  <a:cubicBezTo>
                    <a:pt x="76" y="31"/>
                    <a:pt x="91" y="26"/>
                    <a:pt x="91" y="15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5"/>
                    <a:pt x="83" y="0"/>
                    <a:pt x="77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7" y="0"/>
                    <a:pt x="67" y="3"/>
                    <a:pt x="60" y="4"/>
                  </a:cubicBezTo>
                  <a:cubicBezTo>
                    <a:pt x="56" y="4"/>
                    <a:pt x="57" y="5"/>
                    <a:pt x="54" y="6"/>
                  </a:cubicBezTo>
                  <a:cubicBezTo>
                    <a:pt x="52" y="7"/>
                    <a:pt x="49" y="7"/>
                    <a:pt x="47" y="8"/>
                  </a:cubicBezTo>
                  <a:cubicBezTo>
                    <a:pt x="43" y="9"/>
                    <a:pt x="39" y="12"/>
                    <a:pt x="36" y="14"/>
                  </a:cubicBezTo>
                  <a:cubicBezTo>
                    <a:pt x="33" y="16"/>
                    <a:pt x="29" y="20"/>
                    <a:pt x="29" y="24"/>
                  </a:cubicBezTo>
                  <a:cubicBezTo>
                    <a:pt x="29" y="30"/>
                    <a:pt x="37" y="33"/>
                    <a:pt x="41" y="32"/>
                  </a:cubicBezTo>
                  <a:cubicBezTo>
                    <a:pt x="44" y="32"/>
                    <a:pt x="47" y="31"/>
                    <a:pt x="48" y="29"/>
                  </a:cubicBezTo>
                  <a:cubicBezTo>
                    <a:pt x="52" y="26"/>
                    <a:pt x="51" y="28"/>
                    <a:pt x="55" y="26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3" y="37"/>
                    <a:pt x="41" y="39"/>
                    <a:pt x="40" y="46"/>
                  </a:cubicBezTo>
                  <a:cubicBezTo>
                    <a:pt x="37" y="44"/>
                    <a:pt x="34" y="36"/>
                    <a:pt x="29" y="36"/>
                  </a:cubicBezTo>
                  <a:cubicBezTo>
                    <a:pt x="24" y="36"/>
                    <a:pt x="18" y="40"/>
                    <a:pt x="15" y="43"/>
                  </a:cubicBezTo>
                  <a:cubicBezTo>
                    <a:pt x="10" y="50"/>
                    <a:pt x="7" y="65"/>
                    <a:pt x="7" y="77"/>
                  </a:cubicBezTo>
                  <a:cubicBezTo>
                    <a:pt x="1" y="85"/>
                    <a:pt x="0" y="126"/>
                    <a:pt x="0" y="140"/>
                  </a:cubicBezTo>
                  <a:cubicBezTo>
                    <a:pt x="1" y="150"/>
                    <a:pt x="1" y="150"/>
                    <a:pt x="1" y="150"/>
                  </a:cubicBezTo>
                  <a:cubicBezTo>
                    <a:pt x="6" y="160"/>
                    <a:pt x="6" y="160"/>
                    <a:pt x="6" y="160"/>
                  </a:cubicBezTo>
                  <a:cubicBezTo>
                    <a:pt x="13" y="160"/>
                    <a:pt x="15" y="163"/>
                    <a:pt x="20" y="163"/>
                  </a:cubicBezTo>
                  <a:cubicBezTo>
                    <a:pt x="21" y="163"/>
                    <a:pt x="21" y="163"/>
                    <a:pt x="21" y="163"/>
                  </a:cubicBezTo>
                  <a:cubicBezTo>
                    <a:pt x="32" y="163"/>
                    <a:pt x="42" y="148"/>
                    <a:pt x="47" y="140"/>
                  </a:cubicBezTo>
                  <a:cubicBezTo>
                    <a:pt x="54" y="127"/>
                    <a:pt x="58" y="124"/>
                    <a:pt x="62" y="107"/>
                  </a:cubicBezTo>
                  <a:cubicBezTo>
                    <a:pt x="66" y="109"/>
                    <a:pt x="66" y="109"/>
                    <a:pt x="66" y="109"/>
                  </a:cubicBezTo>
                  <a:cubicBezTo>
                    <a:pt x="66" y="116"/>
                    <a:pt x="68" y="123"/>
                    <a:pt x="70" y="129"/>
                  </a:cubicBezTo>
                  <a:cubicBezTo>
                    <a:pt x="73" y="138"/>
                    <a:pt x="89" y="154"/>
                    <a:pt x="97" y="160"/>
                  </a:cubicBezTo>
                  <a:cubicBezTo>
                    <a:pt x="100" y="163"/>
                    <a:pt x="109" y="169"/>
                    <a:pt x="114" y="169"/>
                  </a:cubicBezTo>
                  <a:cubicBezTo>
                    <a:pt x="117" y="169"/>
                    <a:pt x="117" y="169"/>
                    <a:pt x="117" y="169"/>
                  </a:cubicBezTo>
                  <a:cubicBezTo>
                    <a:pt x="120" y="169"/>
                    <a:pt x="122" y="167"/>
                    <a:pt x="123" y="166"/>
                  </a:cubicBezTo>
                  <a:cubicBezTo>
                    <a:pt x="123" y="159"/>
                    <a:pt x="123" y="155"/>
                    <a:pt x="125" y="150"/>
                  </a:cubicBezTo>
                  <a:cubicBezTo>
                    <a:pt x="126" y="148"/>
                    <a:pt x="126" y="147"/>
                    <a:pt x="127" y="144"/>
                  </a:cubicBezTo>
                  <a:cubicBezTo>
                    <a:pt x="129" y="140"/>
                    <a:pt x="131" y="140"/>
                    <a:pt x="131" y="138"/>
                  </a:cubicBezTo>
                  <a:cubicBezTo>
                    <a:pt x="131" y="137"/>
                    <a:pt x="127" y="133"/>
                    <a:pt x="125" y="132"/>
                  </a:cubicBezTo>
                  <a:cubicBezTo>
                    <a:pt x="122" y="134"/>
                    <a:pt x="118" y="140"/>
                    <a:pt x="118" y="145"/>
                  </a:cubicBezTo>
                  <a:cubicBezTo>
                    <a:pt x="115" y="145"/>
                    <a:pt x="115" y="145"/>
                    <a:pt x="115" y="145"/>
                  </a:cubicBezTo>
                  <a:cubicBezTo>
                    <a:pt x="111" y="145"/>
                    <a:pt x="102" y="133"/>
                    <a:pt x="99" y="130"/>
                  </a:cubicBezTo>
                  <a:cubicBezTo>
                    <a:pt x="96" y="127"/>
                    <a:pt x="94" y="123"/>
                    <a:pt x="92" y="120"/>
                  </a:cubicBezTo>
                  <a:cubicBezTo>
                    <a:pt x="89" y="117"/>
                    <a:pt x="81" y="102"/>
                    <a:pt x="81" y="98"/>
                  </a:cubicBezTo>
                  <a:cubicBezTo>
                    <a:pt x="81" y="88"/>
                    <a:pt x="95" y="78"/>
                    <a:pt x="95" y="73"/>
                  </a:cubicBezTo>
                  <a:cubicBezTo>
                    <a:pt x="95" y="70"/>
                    <a:pt x="90" y="67"/>
                    <a:pt x="88" y="67"/>
                  </a:cubicBezTo>
                  <a:cubicBezTo>
                    <a:pt x="87" y="67"/>
                    <a:pt x="78" y="71"/>
                    <a:pt x="76" y="72"/>
                  </a:cubicBezTo>
                  <a:cubicBezTo>
                    <a:pt x="72" y="66"/>
                    <a:pt x="76" y="57"/>
                    <a:pt x="66" y="57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58" y="57"/>
                    <a:pt x="52" y="60"/>
                    <a:pt x="52" y="65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2" y="72"/>
                    <a:pt x="55" y="70"/>
                    <a:pt x="55" y="73"/>
                  </a:cubicBezTo>
                  <a:cubicBezTo>
                    <a:pt x="55" y="80"/>
                    <a:pt x="55" y="80"/>
                    <a:pt x="55" y="80"/>
                  </a:cubicBezTo>
                  <a:cubicBezTo>
                    <a:pt x="52" y="80"/>
                    <a:pt x="51" y="81"/>
                    <a:pt x="51" y="84"/>
                  </a:cubicBezTo>
                  <a:cubicBezTo>
                    <a:pt x="47" y="85"/>
                    <a:pt x="43" y="90"/>
                    <a:pt x="43" y="95"/>
                  </a:cubicBezTo>
                  <a:cubicBezTo>
                    <a:pt x="43" y="96"/>
                    <a:pt x="43" y="96"/>
                    <a:pt x="43" y="96"/>
                  </a:cubicBezTo>
                  <a:cubicBezTo>
                    <a:pt x="43" y="98"/>
                    <a:pt x="45" y="98"/>
                    <a:pt x="47" y="99"/>
                  </a:cubicBezTo>
                  <a:cubicBezTo>
                    <a:pt x="49" y="98"/>
                    <a:pt x="50" y="97"/>
                    <a:pt x="53" y="97"/>
                  </a:cubicBezTo>
                  <a:cubicBezTo>
                    <a:pt x="53" y="97"/>
                    <a:pt x="53" y="97"/>
                    <a:pt x="53" y="97"/>
                  </a:cubicBezTo>
                  <a:cubicBezTo>
                    <a:pt x="56" y="97"/>
                    <a:pt x="56" y="99"/>
                    <a:pt x="56" y="101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6" y="106"/>
                    <a:pt x="54" y="108"/>
                    <a:pt x="51" y="110"/>
                  </a:cubicBezTo>
                  <a:cubicBezTo>
                    <a:pt x="51" y="113"/>
                    <a:pt x="38" y="130"/>
                    <a:pt x="36" y="135"/>
                  </a:cubicBezTo>
                  <a:cubicBezTo>
                    <a:pt x="34" y="137"/>
                    <a:pt x="34" y="142"/>
                    <a:pt x="31" y="142"/>
                  </a:cubicBezTo>
                  <a:cubicBezTo>
                    <a:pt x="29" y="142"/>
                    <a:pt x="29" y="142"/>
                    <a:pt x="29" y="142"/>
                  </a:cubicBezTo>
                  <a:cubicBezTo>
                    <a:pt x="25" y="142"/>
                    <a:pt x="23" y="125"/>
                    <a:pt x="23" y="119"/>
                  </a:cubicBezTo>
                  <a:cubicBezTo>
                    <a:pt x="23" y="110"/>
                    <a:pt x="25" y="100"/>
                    <a:pt x="27" y="93"/>
                  </a:cubicBezTo>
                  <a:cubicBezTo>
                    <a:pt x="28" y="86"/>
                    <a:pt x="30" y="77"/>
                    <a:pt x="33" y="71"/>
                  </a:cubicBezTo>
                  <a:cubicBezTo>
                    <a:pt x="36" y="65"/>
                    <a:pt x="38" y="56"/>
                    <a:pt x="39" y="49"/>
                  </a:cubicBezTo>
                  <a:lnTo>
                    <a:pt x="43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iŝlïḑé"/>
            <p:cNvSpPr/>
            <p:nvPr/>
          </p:nvSpPr>
          <p:spPr bwMode="auto">
            <a:xfrm>
              <a:off x="5868450" y="2928915"/>
              <a:ext cx="500346" cy="617594"/>
            </a:xfrm>
            <a:custGeom>
              <a:avLst/>
              <a:gdLst>
                <a:gd name="T0" fmla="*/ 111 w 155"/>
                <a:gd name="T1" fmla="*/ 63 h 191"/>
                <a:gd name="T2" fmla="*/ 107 w 155"/>
                <a:gd name="T3" fmla="*/ 77 h 191"/>
                <a:gd name="T4" fmla="*/ 105 w 155"/>
                <a:gd name="T5" fmla="*/ 71 h 191"/>
                <a:gd name="T6" fmla="*/ 130 w 155"/>
                <a:gd name="T7" fmla="*/ 41 h 191"/>
                <a:gd name="T8" fmla="*/ 106 w 155"/>
                <a:gd name="T9" fmla="*/ 28 h 191"/>
                <a:gd name="T10" fmla="*/ 98 w 155"/>
                <a:gd name="T11" fmla="*/ 3 h 191"/>
                <a:gd name="T12" fmla="*/ 83 w 155"/>
                <a:gd name="T13" fmla="*/ 6 h 191"/>
                <a:gd name="T14" fmla="*/ 86 w 155"/>
                <a:gd name="T15" fmla="*/ 44 h 191"/>
                <a:gd name="T16" fmla="*/ 69 w 155"/>
                <a:gd name="T17" fmla="*/ 58 h 191"/>
                <a:gd name="T18" fmla="*/ 77 w 155"/>
                <a:gd name="T19" fmla="*/ 70 h 191"/>
                <a:gd name="T20" fmla="*/ 87 w 155"/>
                <a:gd name="T21" fmla="*/ 73 h 191"/>
                <a:gd name="T22" fmla="*/ 82 w 155"/>
                <a:gd name="T23" fmla="*/ 105 h 191"/>
                <a:gd name="T24" fmla="*/ 71 w 155"/>
                <a:gd name="T25" fmla="*/ 110 h 191"/>
                <a:gd name="T26" fmla="*/ 66 w 155"/>
                <a:gd name="T27" fmla="*/ 96 h 191"/>
                <a:gd name="T28" fmla="*/ 65 w 155"/>
                <a:gd name="T29" fmla="*/ 63 h 191"/>
                <a:gd name="T30" fmla="*/ 49 w 155"/>
                <a:gd name="T31" fmla="*/ 55 h 191"/>
                <a:gd name="T32" fmla="*/ 44 w 155"/>
                <a:gd name="T33" fmla="*/ 89 h 191"/>
                <a:gd name="T34" fmla="*/ 33 w 155"/>
                <a:gd name="T35" fmla="*/ 118 h 191"/>
                <a:gd name="T36" fmla="*/ 15 w 155"/>
                <a:gd name="T37" fmla="*/ 128 h 191"/>
                <a:gd name="T38" fmla="*/ 0 w 155"/>
                <a:gd name="T39" fmla="*/ 141 h 191"/>
                <a:gd name="T40" fmla="*/ 4 w 155"/>
                <a:gd name="T41" fmla="*/ 149 h 191"/>
                <a:gd name="T42" fmla="*/ 66 w 155"/>
                <a:gd name="T43" fmla="*/ 129 h 191"/>
                <a:gd name="T44" fmla="*/ 72 w 155"/>
                <a:gd name="T45" fmla="*/ 132 h 191"/>
                <a:gd name="T46" fmla="*/ 56 w 155"/>
                <a:gd name="T47" fmla="*/ 151 h 191"/>
                <a:gd name="T48" fmla="*/ 15 w 155"/>
                <a:gd name="T49" fmla="*/ 184 h 191"/>
                <a:gd name="T50" fmla="*/ 13 w 155"/>
                <a:gd name="T51" fmla="*/ 191 h 191"/>
                <a:gd name="T52" fmla="*/ 26 w 155"/>
                <a:gd name="T53" fmla="*/ 187 h 191"/>
                <a:gd name="T54" fmla="*/ 52 w 155"/>
                <a:gd name="T55" fmla="*/ 177 h 191"/>
                <a:gd name="T56" fmla="*/ 140 w 155"/>
                <a:gd name="T57" fmla="*/ 119 h 191"/>
                <a:gd name="T58" fmla="*/ 151 w 155"/>
                <a:gd name="T59" fmla="*/ 103 h 191"/>
                <a:gd name="T60" fmla="*/ 140 w 155"/>
                <a:gd name="T61" fmla="*/ 99 h 191"/>
                <a:gd name="T62" fmla="*/ 107 w 155"/>
                <a:gd name="T63" fmla="*/ 104 h 191"/>
                <a:gd name="T64" fmla="*/ 114 w 155"/>
                <a:gd name="T65" fmla="*/ 90 h 191"/>
                <a:gd name="T66" fmla="*/ 140 w 155"/>
                <a:gd name="T67" fmla="*/ 5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5" h="191">
                  <a:moveTo>
                    <a:pt x="105" y="71"/>
                  </a:moveTo>
                  <a:cubicBezTo>
                    <a:pt x="105" y="67"/>
                    <a:pt x="108" y="63"/>
                    <a:pt x="111" y="63"/>
                  </a:cubicBezTo>
                  <a:cubicBezTo>
                    <a:pt x="114" y="63"/>
                    <a:pt x="116" y="65"/>
                    <a:pt x="116" y="68"/>
                  </a:cubicBezTo>
                  <a:cubicBezTo>
                    <a:pt x="116" y="73"/>
                    <a:pt x="112" y="77"/>
                    <a:pt x="107" y="77"/>
                  </a:cubicBezTo>
                  <a:cubicBezTo>
                    <a:pt x="106" y="77"/>
                    <a:pt x="105" y="75"/>
                    <a:pt x="105" y="73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140" y="55"/>
                  </a:moveTo>
                  <a:cubicBezTo>
                    <a:pt x="140" y="47"/>
                    <a:pt x="133" y="45"/>
                    <a:pt x="130" y="41"/>
                  </a:cubicBezTo>
                  <a:cubicBezTo>
                    <a:pt x="126" y="41"/>
                    <a:pt x="117" y="41"/>
                    <a:pt x="111" y="40"/>
                  </a:cubicBezTo>
                  <a:cubicBezTo>
                    <a:pt x="104" y="40"/>
                    <a:pt x="106" y="34"/>
                    <a:pt x="106" y="28"/>
                  </a:cubicBezTo>
                  <a:cubicBezTo>
                    <a:pt x="106" y="24"/>
                    <a:pt x="107" y="9"/>
                    <a:pt x="106" y="7"/>
                  </a:cubicBezTo>
                  <a:cubicBezTo>
                    <a:pt x="104" y="4"/>
                    <a:pt x="102" y="3"/>
                    <a:pt x="98" y="3"/>
                  </a:cubicBezTo>
                  <a:cubicBezTo>
                    <a:pt x="94" y="2"/>
                    <a:pt x="90" y="0"/>
                    <a:pt x="89" y="0"/>
                  </a:cubicBezTo>
                  <a:cubicBezTo>
                    <a:pt x="88" y="0"/>
                    <a:pt x="84" y="5"/>
                    <a:pt x="83" y="6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6" y="47"/>
                    <a:pt x="79" y="48"/>
                    <a:pt x="76" y="50"/>
                  </a:cubicBezTo>
                  <a:cubicBezTo>
                    <a:pt x="74" y="51"/>
                    <a:pt x="69" y="56"/>
                    <a:pt x="69" y="58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62"/>
                    <a:pt x="73" y="70"/>
                    <a:pt x="77" y="70"/>
                  </a:cubicBezTo>
                  <a:cubicBezTo>
                    <a:pt x="79" y="70"/>
                    <a:pt x="80" y="69"/>
                    <a:pt x="81" y="69"/>
                  </a:cubicBezTo>
                  <a:cubicBezTo>
                    <a:pt x="84" y="69"/>
                    <a:pt x="87" y="70"/>
                    <a:pt x="87" y="73"/>
                  </a:cubicBezTo>
                  <a:cubicBezTo>
                    <a:pt x="87" y="76"/>
                    <a:pt x="86" y="87"/>
                    <a:pt x="85" y="90"/>
                  </a:cubicBezTo>
                  <a:cubicBezTo>
                    <a:pt x="84" y="95"/>
                    <a:pt x="82" y="98"/>
                    <a:pt x="82" y="105"/>
                  </a:cubicBezTo>
                  <a:cubicBezTo>
                    <a:pt x="79" y="107"/>
                    <a:pt x="77" y="110"/>
                    <a:pt x="74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67" y="107"/>
                    <a:pt x="67" y="105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6" y="76"/>
                    <a:pt x="68" y="68"/>
                    <a:pt x="65" y="63"/>
                  </a:cubicBezTo>
                  <a:cubicBezTo>
                    <a:pt x="64" y="61"/>
                    <a:pt x="56" y="55"/>
                    <a:pt x="53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6" y="55"/>
                    <a:pt x="42" y="58"/>
                    <a:pt x="42" y="61"/>
                  </a:cubicBezTo>
                  <a:cubicBezTo>
                    <a:pt x="42" y="73"/>
                    <a:pt x="42" y="80"/>
                    <a:pt x="44" y="89"/>
                  </a:cubicBezTo>
                  <a:cubicBezTo>
                    <a:pt x="45" y="93"/>
                    <a:pt x="46" y="112"/>
                    <a:pt x="46" y="117"/>
                  </a:cubicBezTo>
                  <a:cubicBezTo>
                    <a:pt x="33" y="118"/>
                    <a:pt x="33" y="118"/>
                    <a:pt x="33" y="118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4" y="121"/>
                    <a:pt x="17" y="124"/>
                    <a:pt x="15" y="128"/>
                  </a:cubicBezTo>
                  <a:cubicBezTo>
                    <a:pt x="10" y="128"/>
                    <a:pt x="9" y="129"/>
                    <a:pt x="8" y="132"/>
                  </a:cubicBezTo>
                  <a:cubicBezTo>
                    <a:pt x="3" y="132"/>
                    <a:pt x="0" y="136"/>
                    <a:pt x="0" y="141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7"/>
                    <a:pt x="3" y="145"/>
                    <a:pt x="4" y="149"/>
                  </a:cubicBezTo>
                  <a:cubicBezTo>
                    <a:pt x="8" y="149"/>
                    <a:pt x="9" y="150"/>
                    <a:pt x="12" y="150"/>
                  </a:cubicBezTo>
                  <a:cubicBezTo>
                    <a:pt x="29" y="150"/>
                    <a:pt x="48" y="129"/>
                    <a:pt x="66" y="129"/>
                  </a:cubicBezTo>
                  <a:cubicBezTo>
                    <a:pt x="67" y="129"/>
                    <a:pt x="67" y="129"/>
                    <a:pt x="67" y="129"/>
                  </a:cubicBezTo>
                  <a:cubicBezTo>
                    <a:pt x="70" y="129"/>
                    <a:pt x="71" y="130"/>
                    <a:pt x="72" y="132"/>
                  </a:cubicBezTo>
                  <a:cubicBezTo>
                    <a:pt x="71" y="136"/>
                    <a:pt x="65" y="142"/>
                    <a:pt x="62" y="145"/>
                  </a:cubicBezTo>
                  <a:cubicBezTo>
                    <a:pt x="59" y="148"/>
                    <a:pt x="58" y="148"/>
                    <a:pt x="56" y="151"/>
                  </a:cubicBezTo>
                  <a:cubicBezTo>
                    <a:pt x="49" y="156"/>
                    <a:pt x="20" y="172"/>
                    <a:pt x="18" y="180"/>
                  </a:cubicBezTo>
                  <a:cubicBezTo>
                    <a:pt x="15" y="180"/>
                    <a:pt x="15" y="181"/>
                    <a:pt x="15" y="184"/>
                  </a:cubicBezTo>
                  <a:cubicBezTo>
                    <a:pt x="11" y="187"/>
                    <a:pt x="11" y="187"/>
                    <a:pt x="11" y="187"/>
                  </a:cubicBezTo>
                  <a:cubicBezTo>
                    <a:pt x="13" y="191"/>
                    <a:pt x="13" y="191"/>
                    <a:pt x="13" y="191"/>
                  </a:cubicBezTo>
                  <a:cubicBezTo>
                    <a:pt x="16" y="191"/>
                    <a:pt x="16" y="191"/>
                    <a:pt x="16" y="191"/>
                  </a:cubicBezTo>
                  <a:cubicBezTo>
                    <a:pt x="20" y="191"/>
                    <a:pt x="23" y="189"/>
                    <a:pt x="26" y="187"/>
                  </a:cubicBezTo>
                  <a:cubicBezTo>
                    <a:pt x="28" y="186"/>
                    <a:pt x="33" y="186"/>
                    <a:pt x="36" y="185"/>
                  </a:cubicBezTo>
                  <a:cubicBezTo>
                    <a:pt x="40" y="184"/>
                    <a:pt x="49" y="180"/>
                    <a:pt x="52" y="177"/>
                  </a:cubicBezTo>
                  <a:cubicBezTo>
                    <a:pt x="62" y="169"/>
                    <a:pt x="70" y="163"/>
                    <a:pt x="76" y="152"/>
                  </a:cubicBezTo>
                  <a:cubicBezTo>
                    <a:pt x="102" y="114"/>
                    <a:pt x="81" y="119"/>
                    <a:pt x="140" y="119"/>
                  </a:cubicBezTo>
                  <a:cubicBezTo>
                    <a:pt x="147" y="119"/>
                    <a:pt x="153" y="115"/>
                    <a:pt x="155" y="110"/>
                  </a:cubicBezTo>
                  <a:cubicBezTo>
                    <a:pt x="155" y="106"/>
                    <a:pt x="153" y="104"/>
                    <a:pt x="151" y="103"/>
                  </a:cubicBezTo>
                  <a:cubicBezTo>
                    <a:pt x="148" y="102"/>
                    <a:pt x="145" y="99"/>
                    <a:pt x="143" y="99"/>
                  </a:cubicBezTo>
                  <a:cubicBezTo>
                    <a:pt x="140" y="99"/>
                    <a:pt x="140" y="99"/>
                    <a:pt x="140" y="99"/>
                  </a:cubicBezTo>
                  <a:cubicBezTo>
                    <a:pt x="133" y="99"/>
                    <a:pt x="124" y="104"/>
                    <a:pt x="114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3" y="104"/>
                    <a:pt x="103" y="102"/>
                    <a:pt x="102" y="99"/>
                  </a:cubicBezTo>
                  <a:cubicBezTo>
                    <a:pt x="105" y="95"/>
                    <a:pt x="110" y="93"/>
                    <a:pt x="114" y="90"/>
                  </a:cubicBezTo>
                  <a:cubicBezTo>
                    <a:pt x="119" y="86"/>
                    <a:pt x="121" y="84"/>
                    <a:pt x="125" y="81"/>
                  </a:cubicBezTo>
                  <a:cubicBezTo>
                    <a:pt x="131" y="77"/>
                    <a:pt x="140" y="64"/>
                    <a:pt x="14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ïṧḻíḋe"/>
            <p:cNvSpPr/>
            <p:nvPr/>
          </p:nvSpPr>
          <p:spPr bwMode="auto">
            <a:xfrm>
              <a:off x="7084550" y="3032529"/>
              <a:ext cx="299935" cy="513980"/>
            </a:xfrm>
            <a:custGeom>
              <a:avLst/>
              <a:gdLst>
                <a:gd name="T0" fmla="*/ 30 w 93"/>
                <a:gd name="T1" fmla="*/ 55 h 159"/>
                <a:gd name="T2" fmla="*/ 52 w 93"/>
                <a:gd name="T3" fmla="*/ 35 h 159"/>
                <a:gd name="T4" fmla="*/ 81 w 93"/>
                <a:gd name="T5" fmla="*/ 21 h 159"/>
                <a:gd name="T6" fmla="*/ 81 w 93"/>
                <a:gd name="T7" fmla="*/ 10 h 159"/>
                <a:gd name="T8" fmla="*/ 59 w 93"/>
                <a:gd name="T9" fmla="*/ 0 h 159"/>
                <a:gd name="T10" fmla="*/ 58 w 93"/>
                <a:gd name="T11" fmla="*/ 0 h 159"/>
                <a:gd name="T12" fmla="*/ 44 w 93"/>
                <a:gd name="T13" fmla="*/ 29 h 159"/>
                <a:gd name="T14" fmla="*/ 39 w 93"/>
                <a:gd name="T15" fmla="*/ 35 h 159"/>
                <a:gd name="T16" fmla="*/ 34 w 93"/>
                <a:gd name="T17" fmla="*/ 41 h 159"/>
                <a:gd name="T18" fmla="*/ 24 w 93"/>
                <a:gd name="T19" fmla="*/ 52 h 159"/>
                <a:gd name="T20" fmla="*/ 20 w 93"/>
                <a:gd name="T21" fmla="*/ 55 h 159"/>
                <a:gd name="T22" fmla="*/ 17 w 93"/>
                <a:gd name="T23" fmla="*/ 58 h 159"/>
                <a:gd name="T24" fmla="*/ 10 w 93"/>
                <a:gd name="T25" fmla="*/ 64 h 159"/>
                <a:gd name="T26" fmla="*/ 4 w 93"/>
                <a:gd name="T27" fmla="*/ 71 h 159"/>
                <a:gd name="T28" fmla="*/ 0 w 93"/>
                <a:gd name="T29" fmla="*/ 79 h 159"/>
                <a:gd name="T30" fmla="*/ 4 w 93"/>
                <a:gd name="T31" fmla="*/ 84 h 159"/>
                <a:gd name="T32" fmla="*/ 13 w 93"/>
                <a:gd name="T33" fmla="*/ 81 h 159"/>
                <a:gd name="T34" fmla="*/ 22 w 93"/>
                <a:gd name="T35" fmla="*/ 79 h 159"/>
                <a:gd name="T36" fmla="*/ 35 w 93"/>
                <a:gd name="T37" fmla="*/ 71 h 159"/>
                <a:gd name="T38" fmla="*/ 37 w 93"/>
                <a:gd name="T39" fmla="*/ 71 h 159"/>
                <a:gd name="T40" fmla="*/ 40 w 93"/>
                <a:gd name="T41" fmla="*/ 73 h 159"/>
                <a:gd name="T42" fmla="*/ 23 w 93"/>
                <a:gd name="T43" fmla="*/ 104 h 159"/>
                <a:gd name="T44" fmla="*/ 20 w 93"/>
                <a:gd name="T45" fmla="*/ 104 h 159"/>
                <a:gd name="T46" fmla="*/ 12 w 93"/>
                <a:gd name="T47" fmla="*/ 119 h 159"/>
                <a:gd name="T48" fmla="*/ 9 w 93"/>
                <a:gd name="T49" fmla="*/ 134 h 159"/>
                <a:gd name="T50" fmla="*/ 29 w 93"/>
                <a:gd name="T51" fmla="*/ 131 h 159"/>
                <a:gd name="T52" fmla="*/ 37 w 93"/>
                <a:gd name="T53" fmla="*/ 112 h 159"/>
                <a:gd name="T54" fmla="*/ 61 w 93"/>
                <a:gd name="T55" fmla="*/ 80 h 159"/>
                <a:gd name="T56" fmla="*/ 64 w 93"/>
                <a:gd name="T57" fmla="*/ 85 h 159"/>
                <a:gd name="T58" fmla="*/ 64 w 93"/>
                <a:gd name="T59" fmla="*/ 86 h 159"/>
                <a:gd name="T60" fmla="*/ 50 w 93"/>
                <a:gd name="T61" fmla="*/ 124 h 159"/>
                <a:gd name="T62" fmla="*/ 36 w 93"/>
                <a:gd name="T63" fmla="*/ 137 h 159"/>
                <a:gd name="T64" fmla="*/ 27 w 93"/>
                <a:gd name="T65" fmla="*/ 154 h 159"/>
                <a:gd name="T66" fmla="*/ 27 w 93"/>
                <a:gd name="T67" fmla="*/ 157 h 159"/>
                <a:gd name="T68" fmla="*/ 29 w 93"/>
                <a:gd name="T69" fmla="*/ 159 h 159"/>
                <a:gd name="T70" fmla="*/ 30 w 93"/>
                <a:gd name="T71" fmla="*/ 159 h 159"/>
                <a:gd name="T72" fmla="*/ 45 w 93"/>
                <a:gd name="T73" fmla="*/ 155 h 159"/>
                <a:gd name="T74" fmla="*/ 53 w 93"/>
                <a:gd name="T75" fmla="*/ 145 h 159"/>
                <a:gd name="T76" fmla="*/ 66 w 93"/>
                <a:gd name="T77" fmla="*/ 122 h 159"/>
                <a:gd name="T78" fmla="*/ 76 w 93"/>
                <a:gd name="T79" fmla="*/ 95 h 159"/>
                <a:gd name="T80" fmla="*/ 78 w 93"/>
                <a:gd name="T81" fmla="*/ 79 h 159"/>
                <a:gd name="T82" fmla="*/ 73 w 93"/>
                <a:gd name="T83" fmla="*/ 66 h 159"/>
                <a:gd name="T84" fmla="*/ 93 w 93"/>
                <a:gd name="T85" fmla="*/ 43 h 159"/>
                <a:gd name="T86" fmla="*/ 78 w 93"/>
                <a:gd name="T87" fmla="*/ 37 h 159"/>
                <a:gd name="T88" fmla="*/ 61 w 93"/>
                <a:gd name="T89" fmla="*/ 43 h 159"/>
                <a:gd name="T90" fmla="*/ 46 w 93"/>
                <a:gd name="T91" fmla="*/ 51 h 159"/>
                <a:gd name="T92" fmla="*/ 34 w 93"/>
                <a:gd name="T93" fmla="*/ 60 h 159"/>
                <a:gd name="T94" fmla="*/ 30 w 93"/>
                <a:gd name="T95" fmla="*/ 59 h 159"/>
                <a:gd name="T96" fmla="*/ 30 w 93"/>
                <a:gd name="T97" fmla="*/ 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3" h="159">
                  <a:moveTo>
                    <a:pt x="30" y="55"/>
                  </a:moveTo>
                  <a:cubicBezTo>
                    <a:pt x="30" y="54"/>
                    <a:pt x="49" y="36"/>
                    <a:pt x="52" y="35"/>
                  </a:cubicBezTo>
                  <a:cubicBezTo>
                    <a:pt x="62" y="30"/>
                    <a:pt x="81" y="32"/>
                    <a:pt x="81" y="21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81" y="4"/>
                    <a:pt x="67" y="0"/>
                    <a:pt x="5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38" y="0"/>
                    <a:pt x="52" y="22"/>
                    <a:pt x="44" y="29"/>
                  </a:cubicBezTo>
                  <a:cubicBezTo>
                    <a:pt x="40" y="32"/>
                    <a:pt x="40" y="29"/>
                    <a:pt x="39" y="35"/>
                  </a:cubicBezTo>
                  <a:cubicBezTo>
                    <a:pt x="38" y="38"/>
                    <a:pt x="37" y="40"/>
                    <a:pt x="34" y="41"/>
                  </a:cubicBezTo>
                  <a:cubicBezTo>
                    <a:pt x="32" y="43"/>
                    <a:pt x="24" y="49"/>
                    <a:pt x="24" y="52"/>
                  </a:cubicBezTo>
                  <a:cubicBezTo>
                    <a:pt x="20" y="52"/>
                    <a:pt x="21" y="53"/>
                    <a:pt x="20" y="55"/>
                  </a:cubicBezTo>
                  <a:cubicBezTo>
                    <a:pt x="19" y="57"/>
                    <a:pt x="19" y="55"/>
                    <a:pt x="17" y="58"/>
                  </a:cubicBezTo>
                  <a:cubicBezTo>
                    <a:pt x="14" y="60"/>
                    <a:pt x="13" y="62"/>
                    <a:pt x="10" y="64"/>
                  </a:cubicBezTo>
                  <a:cubicBezTo>
                    <a:pt x="9" y="65"/>
                    <a:pt x="5" y="70"/>
                    <a:pt x="4" y="71"/>
                  </a:cubicBezTo>
                  <a:cubicBezTo>
                    <a:pt x="3" y="72"/>
                    <a:pt x="0" y="76"/>
                    <a:pt x="0" y="79"/>
                  </a:cubicBezTo>
                  <a:cubicBezTo>
                    <a:pt x="0" y="81"/>
                    <a:pt x="2" y="84"/>
                    <a:pt x="4" y="84"/>
                  </a:cubicBezTo>
                  <a:cubicBezTo>
                    <a:pt x="6" y="84"/>
                    <a:pt x="11" y="81"/>
                    <a:pt x="13" y="81"/>
                  </a:cubicBezTo>
                  <a:cubicBezTo>
                    <a:pt x="16" y="80"/>
                    <a:pt x="19" y="80"/>
                    <a:pt x="22" y="79"/>
                  </a:cubicBezTo>
                  <a:cubicBezTo>
                    <a:pt x="31" y="78"/>
                    <a:pt x="32" y="71"/>
                    <a:pt x="35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9" y="71"/>
                    <a:pt x="39" y="72"/>
                    <a:pt x="40" y="73"/>
                  </a:cubicBezTo>
                  <a:cubicBezTo>
                    <a:pt x="39" y="87"/>
                    <a:pt x="24" y="99"/>
                    <a:pt x="23" y="104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20" y="110"/>
                    <a:pt x="13" y="112"/>
                    <a:pt x="12" y="119"/>
                  </a:cubicBezTo>
                  <a:cubicBezTo>
                    <a:pt x="7" y="120"/>
                    <a:pt x="9" y="130"/>
                    <a:pt x="9" y="134"/>
                  </a:cubicBezTo>
                  <a:cubicBezTo>
                    <a:pt x="14" y="138"/>
                    <a:pt x="27" y="137"/>
                    <a:pt x="29" y="131"/>
                  </a:cubicBezTo>
                  <a:cubicBezTo>
                    <a:pt x="30" y="125"/>
                    <a:pt x="35" y="117"/>
                    <a:pt x="37" y="112"/>
                  </a:cubicBezTo>
                  <a:cubicBezTo>
                    <a:pt x="41" y="107"/>
                    <a:pt x="56" y="80"/>
                    <a:pt x="61" y="80"/>
                  </a:cubicBezTo>
                  <a:cubicBezTo>
                    <a:pt x="62" y="80"/>
                    <a:pt x="64" y="84"/>
                    <a:pt x="64" y="85"/>
                  </a:cubicBezTo>
                  <a:cubicBezTo>
                    <a:pt x="64" y="86"/>
                    <a:pt x="64" y="86"/>
                    <a:pt x="64" y="86"/>
                  </a:cubicBezTo>
                  <a:cubicBezTo>
                    <a:pt x="64" y="104"/>
                    <a:pt x="57" y="113"/>
                    <a:pt x="50" y="124"/>
                  </a:cubicBezTo>
                  <a:cubicBezTo>
                    <a:pt x="47" y="129"/>
                    <a:pt x="41" y="135"/>
                    <a:pt x="36" y="137"/>
                  </a:cubicBezTo>
                  <a:cubicBezTo>
                    <a:pt x="28" y="140"/>
                    <a:pt x="27" y="143"/>
                    <a:pt x="27" y="154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8"/>
                    <a:pt x="28" y="159"/>
                    <a:pt x="29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30" y="159"/>
                    <a:pt x="44" y="155"/>
                    <a:pt x="45" y="155"/>
                  </a:cubicBezTo>
                  <a:cubicBezTo>
                    <a:pt x="48" y="153"/>
                    <a:pt x="51" y="148"/>
                    <a:pt x="53" y="145"/>
                  </a:cubicBezTo>
                  <a:cubicBezTo>
                    <a:pt x="57" y="141"/>
                    <a:pt x="65" y="128"/>
                    <a:pt x="66" y="122"/>
                  </a:cubicBezTo>
                  <a:cubicBezTo>
                    <a:pt x="70" y="113"/>
                    <a:pt x="73" y="106"/>
                    <a:pt x="76" y="95"/>
                  </a:cubicBezTo>
                  <a:cubicBezTo>
                    <a:pt x="77" y="90"/>
                    <a:pt x="77" y="84"/>
                    <a:pt x="78" y="79"/>
                  </a:cubicBezTo>
                  <a:cubicBezTo>
                    <a:pt x="79" y="71"/>
                    <a:pt x="73" y="72"/>
                    <a:pt x="73" y="66"/>
                  </a:cubicBezTo>
                  <a:cubicBezTo>
                    <a:pt x="73" y="63"/>
                    <a:pt x="93" y="47"/>
                    <a:pt x="93" y="43"/>
                  </a:cubicBezTo>
                  <a:cubicBezTo>
                    <a:pt x="93" y="39"/>
                    <a:pt x="83" y="37"/>
                    <a:pt x="78" y="37"/>
                  </a:cubicBezTo>
                  <a:cubicBezTo>
                    <a:pt x="74" y="38"/>
                    <a:pt x="64" y="41"/>
                    <a:pt x="61" y="43"/>
                  </a:cubicBezTo>
                  <a:cubicBezTo>
                    <a:pt x="58" y="44"/>
                    <a:pt x="49" y="48"/>
                    <a:pt x="46" y="51"/>
                  </a:cubicBezTo>
                  <a:cubicBezTo>
                    <a:pt x="44" y="52"/>
                    <a:pt x="35" y="60"/>
                    <a:pt x="34" y="60"/>
                  </a:cubicBezTo>
                  <a:cubicBezTo>
                    <a:pt x="32" y="60"/>
                    <a:pt x="33" y="60"/>
                    <a:pt x="30" y="59"/>
                  </a:cubicBezTo>
                  <a:cubicBezTo>
                    <a:pt x="30" y="57"/>
                    <a:pt x="30" y="58"/>
                    <a:pt x="3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iśḷïḑè"/>
            <p:cNvSpPr/>
            <p:nvPr/>
          </p:nvSpPr>
          <p:spPr bwMode="auto">
            <a:xfrm>
              <a:off x="5440360" y="2960272"/>
              <a:ext cx="3259749" cy="669401"/>
            </a:xfrm>
            <a:custGeom>
              <a:avLst/>
              <a:gdLst>
                <a:gd name="T0" fmla="*/ 66 w 1011"/>
                <a:gd name="T1" fmla="*/ 51 h 207"/>
                <a:gd name="T2" fmla="*/ 70 w 1011"/>
                <a:gd name="T3" fmla="*/ 58 h 207"/>
                <a:gd name="T4" fmla="*/ 52 w 1011"/>
                <a:gd name="T5" fmla="*/ 71 h 207"/>
                <a:gd name="T6" fmla="*/ 25 w 1011"/>
                <a:gd name="T7" fmla="*/ 207 h 207"/>
                <a:gd name="T8" fmla="*/ 42 w 1011"/>
                <a:gd name="T9" fmla="*/ 163 h 207"/>
                <a:gd name="T10" fmla="*/ 63 w 1011"/>
                <a:gd name="T11" fmla="*/ 95 h 207"/>
                <a:gd name="T12" fmla="*/ 86 w 1011"/>
                <a:gd name="T13" fmla="*/ 75 h 207"/>
                <a:gd name="T14" fmla="*/ 100 w 1011"/>
                <a:gd name="T15" fmla="*/ 45 h 207"/>
                <a:gd name="T16" fmla="*/ 72 w 1011"/>
                <a:gd name="T17" fmla="*/ 32 h 207"/>
                <a:gd name="T18" fmla="*/ 56 w 1011"/>
                <a:gd name="T19" fmla="*/ 33 h 207"/>
                <a:gd name="T20" fmla="*/ 50 w 1011"/>
                <a:gd name="T21" fmla="*/ 21 h 207"/>
                <a:gd name="T22" fmla="*/ 33 w 1011"/>
                <a:gd name="T23" fmla="*/ 0 h 207"/>
                <a:gd name="T24" fmla="*/ 20 w 1011"/>
                <a:gd name="T25" fmla="*/ 34 h 207"/>
                <a:gd name="T26" fmla="*/ 0 w 1011"/>
                <a:gd name="T27" fmla="*/ 61 h 207"/>
                <a:gd name="T28" fmla="*/ 22 w 1011"/>
                <a:gd name="T29" fmla="*/ 83 h 207"/>
                <a:gd name="T30" fmla="*/ 5 w 1011"/>
                <a:gd name="T31" fmla="*/ 106 h 207"/>
                <a:gd name="T32" fmla="*/ 14 w 1011"/>
                <a:gd name="T33" fmla="*/ 113 h 207"/>
                <a:gd name="T34" fmla="*/ 19 w 1011"/>
                <a:gd name="T35" fmla="*/ 173 h 207"/>
                <a:gd name="T36" fmla="*/ 18 w 1011"/>
                <a:gd name="T37" fmla="*/ 190 h 207"/>
                <a:gd name="T38" fmla="*/ 968 w 1011"/>
                <a:gd name="T39" fmla="*/ 193 h 207"/>
                <a:gd name="T40" fmla="*/ 984 w 1011"/>
                <a:gd name="T41" fmla="*/ 167 h 207"/>
                <a:gd name="T42" fmla="*/ 1011 w 1011"/>
                <a:gd name="T43" fmla="*/ 134 h 207"/>
                <a:gd name="T44" fmla="*/ 997 w 1011"/>
                <a:gd name="T45" fmla="*/ 128 h 207"/>
                <a:gd name="T46" fmla="*/ 987 w 1011"/>
                <a:gd name="T47" fmla="*/ 129 h 207"/>
                <a:gd name="T48" fmla="*/ 985 w 1011"/>
                <a:gd name="T49" fmla="*/ 99 h 207"/>
                <a:gd name="T50" fmla="*/ 977 w 1011"/>
                <a:gd name="T51" fmla="*/ 91 h 207"/>
                <a:gd name="T52" fmla="*/ 965 w 1011"/>
                <a:gd name="T53" fmla="*/ 94 h 207"/>
                <a:gd name="T54" fmla="*/ 967 w 1011"/>
                <a:gd name="T55" fmla="*/ 114 h 207"/>
                <a:gd name="T56" fmla="*/ 964 w 1011"/>
                <a:gd name="T57" fmla="*/ 128 h 207"/>
                <a:gd name="T58" fmla="*/ 946 w 1011"/>
                <a:gd name="T59" fmla="*/ 133 h 207"/>
                <a:gd name="T60" fmla="*/ 941 w 1011"/>
                <a:gd name="T61" fmla="*/ 129 h 207"/>
                <a:gd name="T62" fmla="*/ 926 w 1011"/>
                <a:gd name="T63" fmla="*/ 132 h 207"/>
                <a:gd name="T64" fmla="*/ 912 w 1011"/>
                <a:gd name="T65" fmla="*/ 151 h 207"/>
                <a:gd name="T66" fmla="*/ 920 w 1011"/>
                <a:gd name="T67" fmla="*/ 165 h 207"/>
                <a:gd name="T68" fmla="*/ 933 w 1011"/>
                <a:gd name="T69" fmla="*/ 164 h 207"/>
                <a:gd name="T70" fmla="*/ 965 w 1011"/>
                <a:gd name="T71" fmla="*/ 154 h 207"/>
                <a:gd name="T72" fmla="*/ 972 w 1011"/>
                <a:gd name="T73" fmla="*/ 159 h 207"/>
                <a:gd name="T74" fmla="*/ 952 w 1011"/>
                <a:gd name="T75" fmla="*/ 171 h 207"/>
                <a:gd name="T76" fmla="*/ 945 w 1011"/>
                <a:gd name="T77" fmla="*/ 19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11" h="207">
                  <a:moveTo>
                    <a:pt x="49" y="64"/>
                  </a:moveTo>
                  <a:cubicBezTo>
                    <a:pt x="49" y="54"/>
                    <a:pt x="57" y="52"/>
                    <a:pt x="66" y="51"/>
                  </a:cubicBezTo>
                  <a:cubicBezTo>
                    <a:pt x="68" y="52"/>
                    <a:pt x="70" y="53"/>
                    <a:pt x="70" y="55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61"/>
                    <a:pt x="57" y="71"/>
                    <a:pt x="54" y="71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49" y="71"/>
                    <a:pt x="49" y="67"/>
                    <a:pt x="49" y="64"/>
                  </a:cubicBezTo>
                  <a:close/>
                  <a:moveTo>
                    <a:pt x="25" y="207"/>
                  </a:moveTo>
                  <a:cubicBezTo>
                    <a:pt x="32" y="203"/>
                    <a:pt x="38" y="200"/>
                    <a:pt x="38" y="189"/>
                  </a:cubicBezTo>
                  <a:cubicBezTo>
                    <a:pt x="38" y="180"/>
                    <a:pt x="40" y="172"/>
                    <a:pt x="42" y="163"/>
                  </a:cubicBezTo>
                  <a:cubicBezTo>
                    <a:pt x="44" y="148"/>
                    <a:pt x="42" y="122"/>
                    <a:pt x="45" y="108"/>
                  </a:cubicBezTo>
                  <a:cubicBezTo>
                    <a:pt x="47" y="98"/>
                    <a:pt x="55" y="99"/>
                    <a:pt x="63" y="95"/>
                  </a:cubicBezTo>
                  <a:cubicBezTo>
                    <a:pt x="69" y="92"/>
                    <a:pt x="73" y="86"/>
                    <a:pt x="78" y="82"/>
                  </a:cubicBezTo>
                  <a:cubicBezTo>
                    <a:pt x="81" y="79"/>
                    <a:pt x="84" y="77"/>
                    <a:pt x="86" y="75"/>
                  </a:cubicBezTo>
                  <a:cubicBezTo>
                    <a:pt x="89" y="72"/>
                    <a:pt x="91" y="70"/>
                    <a:pt x="94" y="67"/>
                  </a:cubicBezTo>
                  <a:cubicBezTo>
                    <a:pt x="102" y="59"/>
                    <a:pt x="97" y="51"/>
                    <a:pt x="100" y="45"/>
                  </a:cubicBezTo>
                  <a:cubicBezTo>
                    <a:pt x="97" y="38"/>
                    <a:pt x="95" y="33"/>
                    <a:pt x="85" y="33"/>
                  </a:cubicBezTo>
                  <a:cubicBezTo>
                    <a:pt x="82" y="33"/>
                    <a:pt x="75" y="33"/>
                    <a:pt x="72" y="32"/>
                  </a:cubicBezTo>
                  <a:cubicBezTo>
                    <a:pt x="66" y="31"/>
                    <a:pt x="67" y="33"/>
                    <a:pt x="62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4" y="33"/>
                    <a:pt x="50" y="30"/>
                    <a:pt x="50" y="28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18"/>
                    <a:pt x="51" y="13"/>
                    <a:pt x="52" y="10"/>
                  </a:cubicBezTo>
                  <a:cubicBezTo>
                    <a:pt x="47" y="3"/>
                    <a:pt x="46" y="0"/>
                    <a:pt x="33" y="0"/>
                  </a:cubicBezTo>
                  <a:cubicBezTo>
                    <a:pt x="27" y="0"/>
                    <a:pt x="24" y="8"/>
                    <a:pt x="23" y="14"/>
                  </a:cubicBezTo>
                  <a:cubicBezTo>
                    <a:pt x="22" y="23"/>
                    <a:pt x="24" y="27"/>
                    <a:pt x="20" y="34"/>
                  </a:cubicBezTo>
                  <a:cubicBezTo>
                    <a:pt x="15" y="41"/>
                    <a:pt x="15" y="41"/>
                    <a:pt x="8" y="45"/>
                  </a:cubicBezTo>
                  <a:cubicBezTo>
                    <a:pt x="4" y="48"/>
                    <a:pt x="0" y="55"/>
                    <a:pt x="0" y="61"/>
                  </a:cubicBezTo>
                  <a:cubicBezTo>
                    <a:pt x="0" y="72"/>
                    <a:pt x="3" y="70"/>
                    <a:pt x="12" y="72"/>
                  </a:cubicBezTo>
                  <a:cubicBezTo>
                    <a:pt x="17" y="73"/>
                    <a:pt x="22" y="77"/>
                    <a:pt x="22" y="83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92"/>
                    <a:pt x="5" y="93"/>
                    <a:pt x="5" y="106"/>
                  </a:cubicBezTo>
                  <a:cubicBezTo>
                    <a:pt x="5" y="106"/>
                    <a:pt x="5" y="106"/>
                    <a:pt x="5" y="106"/>
                  </a:cubicBezTo>
                  <a:cubicBezTo>
                    <a:pt x="5" y="114"/>
                    <a:pt x="8" y="113"/>
                    <a:pt x="14" y="113"/>
                  </a:cubicBezTo>
                  <a:cubicBezTo>
                    <a:pt x="22" y="113"/>
                    <a:pt x="19" y="133"/>
                    <a:pt x="19" y="141"/>
                  </a:cubicBezTo>
                  <a:cubicBezTo>
                    <a:pt x="19" y="152"/>
                    <a:pt x="19" y="164"/>
                    <a:pt x="19" y="173"/>
                  </a:cubicBezTo>
                  <a:cubicBezTo>
                    <a:pt x="19" y="178"/>
                    <a:pt x="17" y="182"/>
                    <a:pt x="17" y="185"/>
                  </a:cubicBezTo>
                  <a:cubicBezTo>
                    <a:pt x="17" y="185"/>
                    <a:pt x="18" y="186"/>
                    <a:pt x="18" y="190"/>
                  </a:cubicBezTo>
                  <a:cubicBezTo>
                    <a:pt x="15" y="192"/>
                    <a:pt x="19" y="204"/>
                    <a:pt x="25" y="207"/>
                  </a:cubicBezTo>
                  <a:close/>
                  <a:moveTo>
                    <a:pt x="968" y="193"/>
                  </a:moveTo>
                  <a:cubicBezTo>
                    <a:pt x="973" y="191"/>
                    <a:pt x="975" y="187"/>
                    <a:pt x="979" y="183"/>
                  </a:cubicBezTo>
                  <a:cubicBezTo>
                    <a:pt x="981" y="179"/>
                    <a:pt x="984" y="172"/>
                    <a:pt x="984" y="167"/>
                  </a:cubicBezTo>
                  <a:cubicBezTo>
                    <a:pt x="984" y="155"/>
                    <a:pt x="982" y="155"/>
                    <a:pt x="989" y="150"/>
                  </a:cubicBezTo>
                  <a:cubicBezTo>
                    <a:pt x="1003" y="150"/>
                    <a:pt x="1011" y="148"/>
                    <a:pt x="1011" y="134"/>
                  </a:cubicBezTo>
                  <a:cubicBezTo>
                    <a:pt x="1011" y="132"/>
                    <a:pt x="1011" y="131"/>
                    <a:pt x="1010" y="130"/>
                  </a:cubicBezTo>
                  <a:cubicBezTo>
                    <a:pt x="997" y="128"/>
                    <a:pt x="997" y="128"/>
                    <a:pt x="997" y="128"/>
                  </a:cubicBezTo>
                  <a:cubicBezTo>
                    <a:pt x="995" y="128"/>
                    <a:pt x="995" y="129"/>
                    <a:pt x="994" y="129"/>
                  </a:cubicBezTo>
                  <a:cubicBezTo>
                    <a:pt x="987" y="129"/>
                    <a:pt x="987" y="129"/>
                    <a:pt x="987" y="129"/>
                  </a:cubicBezTo>
                  <a:cubicBezTo>
                    <a:pt x="983" y="129"/>
                    <a:pt x="977" y="126"/>
                    <a:pt x="977" y="122"/>
                  </a:cubicBezTo>
                  <a:cubicBezTo>
                    <a:pt x="977" y="119"/>
                    <a:pt x="985" y="112"/>
                    <a:pt x="985" y="99"/>
                  </a:cubicBezTo>
                  <a:cubicBezTo>
                    <a:pt x="985" y="95"/>
                    <a:pt x="985" y="95"/>
                    <a:pt x="985" y="95"/>
                  </a:cubicBezTo>
                  <a:cubicBezTo>
                    <a:pt x="985" y="93"/>
                    <a:pt x="979" y="91"/>
                    <a:pt x="977" y="91"/>
                  </a:cubicBezTo>
                  <a:cubicBezTo>
                    <a:pt x="975" y="91"/>
                    <a:pt x="975" y="91"/>
                    <a:pt x="975" y="91"/>
                  </a:cubicBezTo>
                  <a:cubicBezTo>
                    <a:pt x="975" y="91"/>
                    <a:pt x="965" y="93"/>
                    <a:pt x="965" y="94"/>
                  </a:cubicBezTo>
                  <a:cubicBezTo>
                    <a:pt x="962" y="95"/>
                    <a:pt x="960" y="96"/>
                    <a:pt x="959" y="100"/>
                  </a:cubicBezTo>
                  <a:cubicBezTo>
                    <a:pt x="957" y="111"/>
                    <a:pt x="967" y="106"/>
                    <a:pt x="967" y="114"/>
                  </a:cubicBezTo>
                  <a:cubicBezTo>
                    <a:pt x="967" y="123"/>
                    <a:pt x="967" y="123"/>
                    <a:pt x="967" y="123"/>
                  </a:cubicBezTo>
                  <a:cubicBezTo>
                    <a:pt x="967" y="124"/>
                    <a:pt x="965" y="126"/>
                    <a:pt x="964" y="128"/>
                  </a:cubicBezTo>
                  <a:cubicBezTo>
                    <a:pt x="963" y="130"/>
                    <a:pt x="961" y="130"/>
                    <a:pt x="958" y="130"/>
                  </a:cubicBezTo>
                  <a:cubicBezTo>
                    <a:pt x="950" y="130"/>
                    <a:pt x="951" y="130"/>
                    <a:pt x="946" y="133"/>
                  </a:cubicBezTo>
                  <a:cubicBezTo>
                    <a:pt x="939" y="133"/>
                    <a:pt x="939" y="133"/>
                    <a:pt x="939" y="133"/>
                  </a:cubicBezTo>
                  <a:cubicBezTo>
                    <a:pt x="941" y="129"/>
                    <a:pt x="941" y="129"/>
                    <a:pt x="941" y="129"/>
                  </a:cubicBezTo>
                  <a:cubicBezTo>
                    <a:pt x="938" y="128"/>
                    <a:pt x="938" y="128"/>
                    <a:pt x="938" y="128"/>
                  </a:cubicBezTo>
                  <a:cubicBezTo>
                    <a:pt x="928" y="128"/>
                    <a:pt x="935" y="130"/>
                    <a:pt x="926" y="132"/>
                  </a:cubicBezTo>
                  <a:cubicBezTo>
                    <a:pt x="929" y="137"/>
                    <a:pt x="931" y="129"/>
                    <a:pt x="935" y="136"/>
                  </a:cubicBezTo>
                  <a:cubicBezTo>
                    <a:pt x="924" y="137"/>
                    <a:pt x="916" y="144"/>
                    <a:pt x="912" y="151"/>
                  </a:cubicBezTo>
                  <a:cubicBezTo>
                    <a:pt x="917" y="164"/>
                    <a:pt x="917" y="164"/>
                    <a:pt x="917" y="164"/>
                  </a:cubicBezTo>
                  <a:cubicBezTo>
                    <a:pt x="918" y="165"/>
                    <a:pt x="918" y="165"/>
                    <a:pt x="920" y="165"/>
                  </a:cubicBezTo>
                  <a:cubicBezTo>
                    <a:pt x="920" y="165"/>
                    <a:pt x="920" y="165"/>
                    <a:pt x="920" y="165"/>
                  </a:cubicBezTo>
                  <a:cubicBezTo>
                    <a:pt x="921" y="165"/>
                    <a:pt x="930" y="164"/>
                    <a:pt x="933" y="164"/>
                  </a:cubicBezTo>
                  <a:cubicBezTo>
                    <a:pt x="935" y="164"/>
                    <a:pt x="942" y="161"/>
                    <a:pt x="944" y="161"/>
                  </a:cubicBezTo>
                  <a:cubicBezTo>
                    <a:pt x="948" y="159"/>
                    <a:pt x="961" y="154"/>
                    <a:pt x="965" y="154"/>
                  </a:cubicBezTo>
                  <a:cubicBezTo>
                    <a:pt x="966" y="154"/>
                    <a:pt x="966" y="154"/>
                    <a:pt x="966" y="154"/>
                  </a:cubicBezTo>
                  <a:cubicBezTo>
                    <a:pt x="969" y="154"/>
                    <a:pt x="972" y="157"/>
                    <a:pt x="972" y="159"/>
                  </a:cubicBezTo>
                  <a:cubicBezTo>
                    <a:pt x="972" y="161"/>
                    <a:pt x="968" y="168"/>
                    <a:pt x="967" y="169"/>
                  </a:cubicBezTo>
                  <a:cubicBezTo>
                    <a:pt x="964" y="171"/>
                    <a:pt x="957" y="171"/>
                    <a:pt x="952" y="171"/>
                  </a:cubicBezTo>
                  <a:cubicBezTo>
                    <a:pt x="951" y="172"/>
                    <a:pt x="945" y="179"/>
                    <a:pt x="945" y="182"/>
                  </a:cubicBezTo>
                  <a:cubicBezTo>
                    <a:pt x="945" y="190"/>
                    <a:pt x="945" y="190"/>
                    <a:pt x="945" y="190"/>
                  </a:cubicBezTo>
                  <a:cubicBezTo>
                    <a:pt x="947" y="202"/>
                    <a:pt x="960" y="198"/>
                    <a:pt x="968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šḻïḑe"/>
            <p:cNvSpPr/>
            <p:nvPr/>
          </p:nvSpPr>
          <p:spPr bwMode="auto">
            <a:xfrm>
              <a:off x="5301300" y="3756463"/>
              <a:ext cx="184051" cy="162238"/>
            </a:xfrm>
            <a:custGeom>
              <a:avLst/>
              <a:gdLst>
                <a:gd name="T0" fmla="*/ 68 w 135"/>
                <a:gd name="T1" fmla="*/ 85 h 119"/>
                <a:gd name="T2" fmla="*/ 66 w 135"/>
                <a:gd name="T3" fmla="*/ 85 h 119"/>
                <a:gd name="T4" fmla="*/ 42 w 135"/>
                <a:gd name="T5" fmla="*/ 0 h 119"/>
                <a:gd name="T6" fmla="*/ 0 w 135"/>
                <a:gd name="T7" fmla="*/ 0 h 119"/>
                <a:gd name="T8" fmla="*/ 0 w 135"/>
                <a:gd name="T9" fmla="*/ 119 h 119"/>
                <a:gd name="T10" fmla="*/ 23 w 135"/>
                <a:gd name="T11" fmla="*/ 119 h 119"/>
                <a:gd name="T12" fmla="*/ 23 w 135"/>
                <a:gd name="T13" fmla="*/ 17 h 119"/>
                <a:gd name="T14" fmla="*/ 23 w 135"/>
                <a:gd name="T15" fmla="*/ 17 h 119"/>
                <a:gd name="T16" fmla="*/ 57 w 135"/>
                <a:gd name="T17" fmla="*/ 119 h 119"/>
                <a:gd name="T18" fmla="*/ 78 w 135"/>
                <a:gd name="T19" fmla="*/ 119 h 119"/>
                <a:gd name="T20" fmla="*/ 111 w 135"/>
                <a:gd name="T21" fmla="*/ 17 h 119"/>
                <a:gd name="T22" fmla="*/ 111 w 135"/>
                <a:gd name="T23" fmla="*/ 17 h 119"/>
                <a:gd name="T24" fmla="*/ 111 w 135"/>
                <a:gd name="T25" fmla="*/ 119 h 119"/>
                <a:gd name="T26" fmla="*/ 135 w 135"/>
                <a:gd name="T27" fmla="*/ 119 h 119"/>
                <a:gd name="T28" fmla="*/ 135 w 135"/>
                <a:gd name="T29" fmla="*/ 0 h 119"/>
                <a:gd name="T30" fmla="*/ 94 w 135"/>
                <a:gd name="T31" fmla="*/ 0 h 119"/>
                <a:gd name="T32" fmla="*/ 68 w 135"/>
                <a:gd name="T33" fmla="*/ 8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19">
                  <a:moveTo>
                    <a:pt x="68" y="85"/>
                  </a:moveTo>
                  <a:lnTo>
                    <a:pt x="66" y="8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7"/>
                  </a:lnTo>
                  <a:lnTo>
                    <a:pt x="23" y="17"/>
                  </a:lnTo>
                  <a:lnTo>
                    <a:pt x="57" y="119"/>
                  </a:lnTo>
                  <a:lnTo>
                    <a:pt x="78" y="119"/>
                  </a:lnTo>
                  <a:lnTo>
                    <a:pt x="111" y="17"/>
                  </a:lnTo>
                  <a:lnTo>
                    <a:pt x="111" y="17"/>
                  </a:lnTo>
                  <a:lnTo>
                    <a:pt x="111" y="119"/>
                  </a:lnTo>
                  <a:lnTo>
                    <a:pt x="135" y="119"/>
                  </a:lnTo>
                  <a:lnTo>
                    <a:pt x="135" y="0"/>
                  </a:lnTo>
                  <a:lnTo>
                    <a:pt x="94" y="0"/>
                  </a:lnTo>
                  <a:lnTo>
                    <a:pt x="68" y="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ŝľíďe"/>
            <p:cNvSpPr/>
            <p:nvPr/>
          </p:nvSpPr>
          <p:spPr bwMode="auto">
            <a:xfrm>
              <a:off x="5526251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iṡľidé"/>
            <p:cNvSpPr/>
            <p:nvPr/>
          </p:nvSpPr>
          <p:spPr bwMode="auto">
            <a:xfrm>
              <a:off x="5601235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śļíḋe"/>
            <p:cNvSpPr/>
            <p:nvPr/>
          </p:nvSpPr>
          <p:spPr bwMode="auto">
            <a:xfrm>
              <a:off x="5778469" y="3756463"/>
              <a:ext cx="125427" cy="162238"/>
            </a:xfrm>
            <a:custGeom>
              <a:avLst/>
              <a:gdLst>
                <a:gd name="T0" fmla="*/ 90 w 92"/>
                <a:gd name="T1" fmla="*/ 19 h 119"/>
                <a:gd name="T2" fmla="*/ 90 w 92"/>
                <a:gd name="T3" fmla="*/ 0 h 119"/>
                <a:gd name="T4" fmla="*/ 5 w 92"/>
                <a:gd name="T5" fmla="*/ 0 h 119"/>
                <a:gd name="T6" fmla="*/ 5 w 92"/>
                <a:gd name="T7" fmla="*/ 19 h 119"/>
                <a:gd name="T8" fmla="*/ 59 w 92"/>
                <a:gd name="T9" fmla="*/ 19 h 119"/>
                <a:gd name="T10" fmla="*/ 0 w 92"/>
                <a:gd name="T11" fmla="*/ 97 h 119"/>
                <a:gd name="T12" fmla="*/ 0 w 92"/>
                <a:gd name="T13" fmla="*/ 119 h 119"/>
                <a:gd name="T14" fmla="*/ 92 w 92"/>
                <a:gd name="T15" fmla="*/ 119 h 119"/>
                <a:gd name="T16" fmla="*/ 92 w 92"/>
                <a:gd name="T17" fmla="*/ 97 h 119"/>
                <a:gd name="T18" fmla="*/ 33 w 92"/>
                <a:gd name="T19" fmla="*/ 97 h 119"/>
                <a:gd name="T20" fmla="*/ 90 w 92"/>
                <a:gd name="T21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9">
                  <a:moveTo>
                    <a:pt x="90" y="19"/>
                  </a:moveTo>
                  <a:lnTo>
                    <a:pt x="90" y="0"/>
                  </a:lnTo>
                  <a:lnTo>
                    <a:pt x="5" y="0"/>
                  </a:lnTo>
                  <a:lnTo>
                    <a:pt x="5" y="19"/>
                  </a:lnTo>
                  <a:lnTo>
                    <a:pt x="59" y="19"/>
                  </a:lnTo>
                  <a:lnTo>
                    <a:pt x="0" y="97"/>
                  </a:lnTo>
                  <a:lnTo>
                    <a:pt x="0" y="119"/>
                  </a:lnTo>
                  <a:lnTo>
                    <a:pt x="92" y="119"/>
                  </a:lnTo>
                  <a:lnTo>
                    <a:pt x="92" y="97"/>
                  </a:lnTo>
                  <a:lnTo>
                    <a:pt x="33" y="97"/>
                  </a:lnTo>
                  <a:lnTo>
                    <a:pt x="9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îṣ1ïḑé"/>
            <p:cNvSpPr/>
            <p:nvPr/>
          </p:nvSpPr>
          <p:spPr bwMode="auto">
            <a:xfrm>
              <a:off x="5939343" y="3756463"/>
              <a:ext cx="139061" cy="162238"/>
            </a:xfrm>
            <a:custGeom>
              <a:avLst/>
              <a:gdLst>
                <a:gd name="T0" fmla="*/ 33 w 43"/>
                <a:gd name="T1" fmla="*/ 27 h 50"/>
                <a:gd name="T2" fmla="*/ 30 w 43"/>
                <a:gd name="T3" fmla="*/ 39 h 50"/>
                <a:gd name="T4" fmla="*/ 22 w 43"/>
                <a:gd name="T5" fmla="*/ 43 h 50"/>
                <a:gd name="T6" fmla="*/ 13 w 43"/>
                <a:gd name="T7" fmla="*/ 39 h 50"/>
                <a:gd name="T8" fmla="*/ 11 w 43"/>
                <a:gd name="T9" fmla="*/ 27 h 50"/>
                <a:gd name="T10" fmla="*/ 11 w 43"/>
                <a:gd name="T11" fmla="*/ 0 h 50"/>
                <a:gd name="T12" fmla="*/ 0 w 43"/>
                <a:gd name="T13" fmla="*/ 0 h 50"/>
                <a:gd name="T14" fmla="*/ 0 w 43"/>
                <a:gd name="T15" fmla="*/ 31 h 50"/>
                <a:gd name="T16" fmla="*/ 22 w 43"/>
                <a:gd name="T17" fmla="*/ 50 h 50"/>
                <a:gd name="T18" fmla="*/ 43 w 43"/>
                <a:gd name="T19" fmla="*/ 31 h 50"/>
                <a:gd name="T20" fmla="*/ 43 w 43"/>
                <a:gd name="T21" fmla="*/ 0 h 50"/>
                <a:gd name="T22" fmla="*/ 33 w 43"/>
                <a:gd name="T23" fmla="*/ 0 h 50"/>
                <a:gd name="T24" fmla="*/ 33 w 43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50">
                  <a:moveTo>
                    <a:pt x="33" y="27"/>
                  </a:moveTo>
                  <a:cubicBezTo>
                    <a:pt x="33" y="33"/>
                    <a:pt x="32" y="37"/>
                    <a:pt x="30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0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7" y="50"/>
                    <a:pt x="22" y="50"/>
                  </a:cubicBezTo>
                  <a:cubicBezTo>
                    <a:pt x="36" y="50"/>
                    <a:pt x="43" y="44"/>
                    <a:pt x="43" y="31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ṧḷíďè"/>
            <p:cNvSpPr/>
            <p:nvPr/>
          </p:nvSpPr>
          <p:spPr bwMode="auto">
            <a:xfrm>
              <a:off x="6175202" y="3756463"/>
              <a:ext cx="141788" cy="162238"/>
            </a:xfrm>
            <a:custGeom>
              <a:avLst/>
              <a:gdLst>
                <a:gd name="T0" fmla="*/ 33 w 44"/>
                <a:gd name="T1" fmla="*/ 27 h 50"/>
                <a:gd name="T2" fmla="*/ 31 w 44"/>
                <a:gd name="T3" fmla="*/ 39 h 50"/>
                <a:gd name="T4" fmla="*/ 22 w 44"/>
                <a:gd name="T5" fmla="*/ 43 h 50"/>
                <a:gd name="T6" fmla="*/ 13 w 44"/>
                <a:gd name="T7" fmla="*/ 39 h 50"/>
                <a:gd name="T8" fmla="*/ 11 w 44"/>
                <a:gd name="T9" fmla="*/ 27 h 50"/>
                <a:gd name="T10" fmla="*/ 11 w 44"/>
                <a:gd name="T11" fmla="*/ 0 h 50"/>
                <a:gd name="T12" fmla="*/ 0 w 44"/>
                <a:gd name="T13" fmla="*/ 0 h 50"/>
                <a:gd name="T14" fmla="*/ 0 w 44"/>
                <a:gd name="T15" fmla="*/ 31 h 50"/>
                <a:gd name="T16" fmla="*/ 22 w 44"/>
                <a:gd name="T17" fmla="*/ 50 h 50"/>
                <a:gd name="T18" fmla="*/ 44 w 44"/>
                <a:gd name="T19" fmla="*/ 31 h 50"/>
                <a:gd name="T20" fmla="*/ 44 w 44"/>
                <a:gd name="T21" fmla="*/ 0 h 50"/>
                <a:gd name="T22" fmla="*/ 33 w 44"/>
                <a:gd name="T23" fmla="*/ 0 h 50"/>
                <a:gd name="T24" fmla="*/ 33 w 44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50">
                  <a:moveTo>
                    <a:pt x="33" y="27"/>
                  </a:moveTo>
                  <a:cubicBezTo>
                    <a:pt x="33" y="33"/>
                    <a:pt x="32" y="37"/>
                    <a:pt x="31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1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8" y="50"/>
                    <a:pt x="22" y="50"/>
                  </a:cubicBezTo>
                  <a:cubicBezTo>
                    <a:pt x="36" y="50"/>
                    <a:pt x="43" y="44"/>
                    <a:pt x="44" y="31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i$1iḓê"/>
            <p:cNvSpPr/>
            <p:nvPr/>
          </p:nvSpPr>
          <p:spPr bwMode="auto">
            <a:xfrm>
              <a:off x="6359253" y="3756463"/>
              <a:ext cx="148604" cy="162238"/>
            </a:xfrm>
            <a:custGeom>
              <a:avLst/>
              <a:gdLst>
                <a:gd name="T0" fmla="*/ 85 w 109"/>
                <a:gd name="T1" fmla="*/ 93 h 119"/>
                <a:gd name="T2" fmla="*/ 83 w 109"/>
                <a:gd name="T3" fmla="*/ 93 h 119"/>
                <a:gd name="T4" fmla="*/ 38 w 109"/>
                <a:gd name="T5" fmla="*/ 0 h 119"/>
                <a:gd name="T6" fmla="*/ 0 w 109"/>
                <a:gd name="T7" fmla="*/ 0 h 119"/>
                <a:gd name="T8" fmla="*/ 0 w 109"/>
                <a:gd name="T9" fmla="*/ 119 h 119"/>
                <a:gd name="T10" fmla="*/ 23 w 109"/>
                <a:gd name="T11" fmla="*/ 119 h 119"/>
                <a:gd name="T12" fmla="*/ 23 w 109"/>
                <a:gd name="T13" fmla="*/ 19 h 119"/>
                <a:gd name="T14" fmla="*/ 26 w 109"/>
                <a:gd name="T15" fmla="*/ 19 h 119"/>
                <a:gd name="T16" fmla="*/ 71 w 109"/>
                <a:gd name="T17" fmla="*/ 119 h 119"/>
                <a:gd name="T18" fmla="*/ 109 w 109"/>
                <a:gd name="T19" fmla="*/ 119 h 119"/>
                <a:gd name="T20" fmla="*/ 109 w 109"/>
                <a:gd name="T21" fmla="*/ 0 h 119"/>
                <a:gd name="T22" fmla="*/ 85 w 109"/>
                <a:gd name="T23" fmla="*/ 0 h 119"/>
                <a:gd name="T24" fmla="*/ 85 w 109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" h="119">
                  <a:moveTo>
                    <a:pt x="85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6" y="19"/>
                  </a:lnTo>
                  <a:lnTo>
                    <a:pt x="71" y="119"/>
                  </a:lnTo>
                  <a:lnTo>
                    <a:pt x="109" y="119"/>
                  </a:lnTo>
                  <a:lnTo>
                    <a:pt x="109" y="0"/>
                  </a:lnTo>
                  <a:lnTo>
                    <a:pt x="85" y="0"/>
                  </a:lnTo>
                  <a:lnTo>
                    <a:pt x="85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ṩḻïḍê"/>
            <p:cNvSpPr/>
            <p:nvPr/>
          </p:nvSpPr>
          <p:spPr bwMode="auto">
            <a:xfrm>
              <a:off x="6546030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Sliḑè"/>
            <p:cNvSpPr/>
            <p:nvPr/>
          </p:nvSpPr>
          <p:spPr bwMode="auto">
            <a:xfrm>
              <a:off x="6610107" y="3756463"/>
              <a:ext cx="155421" cy="162238"/>
            </a:xfrm>
            <a:custGeom>
              <a:avLst/>
              <a:gdLst>
                <a:gd name="T0" fmla="*/ 59 w 114"/>
                <a:gd name="T1" fmla="*/ 93 h 119"/>
                <a:gd name="T2" fmla="*/ 57 w 114"/>
                <a:gd name="T3" fmla="*/ 93 h 119"/>
                <a:gd name="T4" fmla="*/ 26 w 114"/>
                <a:gd name="T5" fmla="*/ 0 h 119"/>
                <a:gd name="T6" fmla="*/ 0 w 114"/>
                <a:gd name="T7" fmla="*/ 0 h 119"/>
                <a:gd name="T8" fmla="*/ 43 w 114"/>
                <a:gd name="T9" fmla="*/ 119 h 119"/>
                <a:gd name="T10" fmla="*/ 71 w 114"/>
                <a:gd name="T11" fmla="*/ 119 h 119"/>
                <a:gd name="T12" fmla="*/ 114 w 114"/>
                <a:gd name="T13" fmla="*/ 0 h 119"/>
                <a:gd name="T14" fmla="*/ 90 w 114"/>
                <a:gd name="T15" fmla="*/ 0 h 119"/>
                <a:gd name="T16" fmla="*/ 59 w 114"/>
                <a:gd name="T17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" h="119">
                  <a:moveTo>
                    <a:pt x="59" y="93"/>
                  </a:moveTo>
                  <a:lnTo>
                    <a:pt x="57" y="93"/>
                  </a:lnTo>
                  <a:lnTo>
                    <a:pt x="26" y="0"/>
                  </a:lnTo>
                  <a:lnTo>
                    <a:pt x="0" y="0"/>
                  </a:lnTo>
                  <a:lnTo>
                    <a:pt x="43" y="119"/>
                  </a:lnTo>
                  <a:lnTo>
                    <a:pt x="71" y="119"/>
                  </a:lnTo>
                  <a:lnTo>
                    <a:pt x="114" y="0"/>
                  </a:lnTo>
                  <a:lnTo>
                    <a:pt x="90" y="0"/>
                  </a:lnTo>
                  <a:lnTo>
                    <a:pt x="59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ṥļïde"/>
            <p:cNvSpPr/>
            <p:nvPr/>
          </p:nvSpPr>
          <p:spPr bwMode="auto">
            <a:xfrm>
              <a:off x="6794159" y="3756463"/>
              <a:ext cx="110431" cy="162238"/>
            </a:xfrm>
            <a:custGeom>
              <a:avLst/>
              <a:gdLst>
                <a:gd name="T0" fmla="*/ 26 w 81"/>
                <a:gd name="T1" fmla="*/ 66 h 119"/>
                <a:gd name="T2" fmla="*/ 76 w 81"/>
                <a:gd name="T3" fmla="*/ 66 h 119"/>
                <a:gd name="T4" fmla="*/ 76 w 81"/>
                <a:gd name="T5" fmla="*/ 47 h 119"/>
                <a:gd name="T6" fmla="*/ 26 w 81"/>
                <a:gd name="T7" fmla="*/ 47 h 119"/>
                <a:gd name="T8" fmla="*/ 26 w 81"/>
                <a:gd name="T9" fmla="*/ 19 h 119"/>
                <a:gd name="T10" fmla="*/ 78 w 81"/>
                <a:gd name="T11" fmla="*/ 19 h 119"/>
                <a:gd name="T12" fmla="*/ 78 w 81"/>
                <a:gd name="T13" fmla="*/ 0 h 119"/>
                <a:gd name="T14" fmla="*/ 0 w 81"/>
                <a:gd name="T15" fmla="*/ 0 h 119"/>
                <a:gd name="T16" fmla="*/ 0 w 81"/>
                <a:gd name="T17" fmla="*/ 119 h 119"/>
                <a:gd name="T18" fmla="*/ 81 w 81"/>
                <a:gd name="T19" fmla="*/ 119 h 119"/>
                <a:gd name="T20" fmla="*/ 81 w 81"/>
                <a:gd name="T21" fmla="*/ 97 h 119"/>
                <a:gd name="T22" fmla="*/ 26 w 81"/>
                <a:gd name="T23" fmla="*/ 97 h 119"/>
                <a:gd name="T24" fmla="*/ 26 w 81"/>
                <a:gd name="T25" fmla="*/ 6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" h="119">
                  <a:moveTo>
                    <a:pt x="26" y="66"/>
                  </a:moveTo>
                  <a:lnTo>
                    <a:pt x="76" y="66"/>
                  </a:lnTo>
                  <a:lnTo>
                    <a:pt x="76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81" y="119"/>
                  </a:lnTo>
                  <a:lnTo>
                    <a:pt x="81" y="97"/>
                  </a:lnTo>
                  <a:lnTo>
                    <a:pt x="26" y="97"/>
                  </a:lnTo>
                  <a:lnTo>
                    <a:pt x="26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ïś1ïďe"/>
            <p:cNvSpPr/>
            <p:nvPr/>
          </p:nvSpPr>
          <p:spPr bwMode="auto">
            <a:xfrm>
              <a:off x="6942763" y="3756463"/>
              <a:ext cx="129517" cy="162238"/>
            </a:xfrm>
            <a:custGeom>
              <a:avLst/>
              <a:gdLst>
                <a:gd name="T0" fmla="*/ 37 w 40"/>
                <a:gd name="T1" fmla="*/ 36 h 50"/>
                <a:gd name="T2" fmla="*/ 28 w 40"/>
                <a:gd name="T3" fmla="*/ 25 h 50"/>
                <a:gd name="T4" fmla="*/ 28 w 40"/>
                <a:gd name="T5" fmla="*/ 25 h 50"/>
                <a:gd name="T6" fmla="*/ 39 w 40"/>
                <a:gd name="T7" fmla="*/ 13 h 50"/>
                <a:gd name="T8" fmla="*/ 21 w 40"/>
                <a:gd name="T9" fmla="*/ 0 h 50"/>
                <a:gd name="T10" fmla="*/ 0 w 40"/>
                <a:gd name="T11" fmla="*/ 0 h 50"/>
                <a:gd name="T12" fmla="*/ 0 w 40"/>
                <a:gd name="T13" fmla="*/ 50 h 50"/>
                <a:gd name="T14" fmla="*/ 11 w 40"/>
                <a:gd name="T15" fmla="*/ 50 h 50"/>
                <a:gd name="T16" fmla="*/ 11 w 40"/>
                <a:gd name="T17" fmla="*/ 30 h 50"/>
                <a:gd name="T18" fmla="*/ 22 w 40"/>
                <a:gd name="T19" fmla="*/ 30 h 50"/>
                <a:gd name="T20" fmla="*/ 27 w 40"/>
                <a:gd name="T21" fmla="*/ 36 h 50"/>
                <a:gd name="T22" fmla="*/ 29 w 40"/>
                <a:gd name="T23" fmla="*/ 50 h 50"/>
                <a:gd name="T24" fmla="*/ 40 w 40"/>
                <a:gd name="T25" fmla="*/ 50 h 50"/>
                <a:gd name="T26" fmla="*/ 38 w 40"/>
                <a:gd name="T27" fmla="*/ 38 h 50"/>
                <a:gd name="T28" fmla="*/ 37 w 40"/>
                <a:gd name="T29" fmla="*/ 36 h 50"/>
                <a:gd name="T30" fmla="*/ 20 w 40"/>
                <a:gd name="T31" fmla="*/ 21 h 50"/>
                <a:gd name="T32" fmla="*/ 11 w 40"/>
                <a:gd name="T33" fmla="*/ 21 h 50"/>
                <a:gd name="T34" fmla="*/ 11 w 40"/>
                <a:gd name="T35" fmla="*/ 8 h 50"/>
                <a:gd name="T36" fmla="*/ 20 w 40"/>
                <a:gd name="T37" fmla="*/ 8 h 50"/>
                <a:gd name="T38" fmla="*/ 27 w 40"/>
                <a:gd name="T39" fmla="*/ 14 h 50"/>
                <a:gd name="T40" fmla="*/ 20 w 40"/>
                <a:gd name="T41" fmla="*/ 2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" h="50">
                  <a:moveTo>
                    <a:pt x="37" y="36"/>
                  </a:moveTo>
                  <a:cubicBezTo>
                    <a:pt x="37" y="29"/>
                    <a:pt x="34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5" y="23"/>
                    <a:pt x="39" y="19"/>
                    <a:pt x="39" y="13"/>
                  </a:cubicBezTo>
                  <a:cubicBezTo>
                    <a:pt x="39" y="4"/>
                    <a:pt x="33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5" y="30"/>
                    <a:pt x="26" y="32"/>
                    <a:pt x="27" y="36"/>
                  </a:cubicBezTo>
                  <a:cubicBezTo>
                    <a:pt x="27" y="41"/>
                    <a:pt x="28" y="46"/>
                    <a:pt x="29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39" y="48"/>
                    <a:pt x="38" y="44"/>
                    <a:pt x="38" y="38"/>
                  </a:cubicBezTo>
                  <a:cubicBezTo>
                    <a:pt x="38" y="38"/>
                    <a:pt x="38" y="37"/>
                    <a:pt x="37" y="36"/>
                  </a:cubicBezTo>
                  <a:close/>
                  <a:moveTo>
                    <a:pt x="20" y="21"/>
                  </a:moveTo>
                  <a:cubicBezTo>
                    <a:pt x="11" y="21"/>
                    <a:pt x="11" y="21"/>
                    <a:pt x="11" y="21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5" y="8"/>
                    <a:pt x="27" y="10"/>
                    <a:pt x="27" y="14"/>
                  </a:cubicBezTo>
                  <a:cubicBezTo>
                    <a:pt x="27" y="19"/>
                    <a:pt x="25" y="21"/>
                    <a:pt x="2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ṣľïďê"/>
            <p:cNvSpPr/>
            <p:nvPr/>
          </p:nvSpPr>
          <p:spPr bwMode="auto">
            <a:xfrm>
              <a:off x="7098184" y="3753737"/>
              <a:ext cx="132244" cy="164964"/>
            </a:xfrm>
            <a:custGeom>
              <a:avLst/>
              <a:gdLst>
                <a:gd name="T0" fmla="*/ 24 w 41"/>
                <a:gd name="T1" fmla="*/ 21 h 51"/>
                <a:gd name="T2" fmla="*/ 22 w 41"/>
                <a:gd name="T3" fmla="*/ 21 h 51"/>
                <a:gd name="T4" fmla="*/ 13 w 41"/>
                <a:gd name="T5" fmla="*/ 14 h 51"/>
                <a:gd name="T6" fmla="*/ 21 w 41"/>
                <a:gd name="T7" fmla="*/ 7 h 51"/>
                <a:gd name="T8" fmla="*/ 29 w 41"/>
                <a:gd name="T9" fmla="*/ 15 h 51"/>
                <a:gd name="T10" fmla="*/ 40 w 41"/>
                <a:gd name="T11" fmla="*/ 15 h 51"/>
                <a:gd name="T12" fmla="*/ 23 w 41"/>
                <a:gd name="T13" fmla="*/ 0 h 51"/>
                <a:gd name="T14" fmla="*/ 2 w 41"/>
                <a:gd name="T15" fmla="*/ 16 h 51"/>
                <a:gd name="T16" fmla="*/ 18 w 41"/>
                <a:gd name="T17" fmla="*/ 30 h 51"/>
                <a:gd name="T18" fmla="*/ 20 w 41"/>
                <a:gd name="T19" fmla="*/ 30 h 51"/>
                <a:gd name="T20" fmla="*/ 30 w 41"/>
                <a:gd name="T21" fmla="*/ 38 h 51"/>
                <a:gd name="T22" fmla="*/ 20 w 41"/>
                <a:gd name="T23" fmla="*/ 44 h 51"/>
                <a:gd name="T24" fmla="*/ 11 w 41"/>
                <a:gd name="T25" fmla="*/ 35 h 51"/>
                <a:gd name="T26" fmla="*/ 0 w 41"/>
                <a:gd name="T27" fmla="*/ 35 h 51"/>
                <a:gd name="T28" fmla="*/ 20 w 41"/>
                <a:gd name="T29" fmla="*/ 51 h 51"/>
                <a:gd name="T30" fmla="*/ 41 w 41"/>
                <a:gd name="T31" fmla="*/ 35 h 51"/>
                <a:gd name="T32" fmla="*/ 24 w 41"/>
                <a:gd name="T33" fmla="*/ 2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" h="51">
                  <a:moveTo>
                    <a:pt x="24" y="21"/>
                  </a:moveTo>
                  <a:cubicBezTo>
                    <a:pt x="23" y="21"/>
                    <a:pt x="22" y="21"/>
                    <a:pt x="22" y="21"/>
                  </a:cubicBezTo>
                  <a:cubicBezTo>
                    <a:pt x="16" y="20"/>
                    <a:pt x="13" y="18"/>
                    <a:pt x="13" y="14"/>
                  </a:cubicBezTo>
                  <a:cubicBezTo>
                    <a:pt x="13" y="10"/>
                    <a:pt x="16" y="8"/>
                    <a:pt x="21" y="7"/>
                  </a:cubicBezTo>
                  <a:cubicBezTo>
                    <a:pt x="26" y="7"/>
                    <a:pt x="29" y="10"/>
                    <a:pt x="29" y="15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39" y="5"/>
                    <a:pt x="33" y="0"/>
                    <a:pt x="23" y="0"/>
                  </a:cubicBezTo>
                  <a:cubicBezTo>
                    <a:pt x="9" y="0"/>
                    <a:pt x="2" y="6"/>
                    <a:pt x="2" y="16"/>
                  </a:cubicBezTo>
                  <a:cubicBezTo>
                    <a:pt x="2" y="23"/>
                    <a:pt x="7" y="27"/>
                    <a:pt x="18" y="30"/>
                  </a:cubicBezTo>
                  <a:cubicBezTo>
                    <a:pt x="19" y="30"/>
                    <a:pt x="19" y="30"/>
                    <a:pt x="20" y="30"/>
                  </a:cubicBezTo>
                  <a:cubicBezTo>
                    <a:pt x="26" y="32"/>
                    <a:pt x="30" y="34"/>
                    <a:pt x="30" y="38"/>
                  </a:cubicBezTo>
                  <a:cubicBezTo>
                    <a:pt x="29" y="42"/>
                    <a:pt x="26" y="44"/>
                    <a:pt x="20" y="44"/>
                  </a:cubicBezTo>
                  <a:cubicBezTo>
                    <a:pt x="14" y="44"/>
                    <a:pt x="11" y="41"/>
                    <a:pt x="11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6"/>
                    <a:pt x="7" y="51"/>
                    <a:pt x="20" y="51"/>
                  </a:cubicBezTo>
                  <a:cubicBezTo>
                    <a:pt x="34" y="51"/>
                    <a:pt x="41" y="46"/>
                    <a:pt x="41" y="35"/>
                  </a:cubicBezTo>
                  <a:cubicBezTo>
                    <a:pt x="41" y="28"/>
                    <a:pt x="35" y="24"/>
                    <a:pt x="2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îsļïḋé"/>
            <p:cNvSpPr/>
            <p:nvPr/>
          </p:nvSpPr>
          <p:spPr bwMode="auto">
            <a:xfrm>
              <a:off x="7265875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işliḋé"/>
            <p:cNvSpPr/>
            <p:nvPr/>
          </p:nvSpPr>
          <p:spPr bwMode="auto">
            <a:xfrm>
              <a:off x="7329952" y="3756463"/>
              <a:ext cx="132244" cy="162238"/>
            </a:xfrm>
            <a:custGeom>
              <a:avLst/>
              <a:gdLst>
                <a:gd name="T0" fmla="*/ 0 w 97"/>
                <a:gd name="T1" fmla="*/ 19 h 119"/>
                <a:gd name="T2" fmla="*/ 35 w 97"/>
                <a:gd name="T3" fmla="*/ 19 h 119"/>
                <a:gd name="T4" fmla="*/ 35 w 97"/>
                <a:gd name="T5" fmla="*/ 119 h 119"/>
                <a:gd name="T6" fmla="*/ 61 w 97"/>
                <a:gd name="T7" fmla="*/ 119 h 119"/>
                <a:gd name="T8" fmla="*/ 61 w 97"/>
                <a:gd name="T9" fmla="*/ 19 h 119"/>
                <a:gd name="T10" fmla="*/ 97 w 97"/>
                <a:gd name="T11" fmla="*/ 19 h 119"/>
                <a:gd name="T12" fmla="*/ 97 w 97"/>
                <a:gd name="T13" fmla="*/ 0 h 119"/>
                <a:gd name="T14" fmla="*/ 0 w 97"/>
                <a:gd name="T15" fmla="*/ 0 h 119"/>
                <a:gd name="T16" fmla="*/ 0 w 97"/>
                <a:gd name="T17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19">
                  <a:moveTo>
                    <a:pt x="0" y="19"/>
                  </a:moveTo>
                  <a:lnTo>
                    <a:pt x="35" y="19"/>
                  </a:lnTo>
                  <a:lnTo>
                    <a:pt x="35" y="119"/>
                  </a:lnTo>
                  <a:lnTo>
                    <a:pt x="61" y="119"/>
                  </a:lnTo>
                  <a:lnTo>
                    <a:pt x="61" y="19"/>
                  </a:lnTo>
                  <a:lnTo>
                    <a:pt x="97" y="19"/>
                  </a:lnTo>
                  <a:lnTo>
                    <a:pt x="97" y="0"/>
                  </a:lnTo>
                  <a:lnTo>
                    <a:pt x="0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íślíḑè"/>
            <p:cNvSpPr/>
            <p:nvPr/>
          </p:nvSpPr>
          <p:spPr bwMode="auto">
            <a:xfrm>
              <a:off x="7478556" y="3756463"/>
              <a:ext cx="144514" cy="162238"/>
            </a:xfrm>
            <a:custGeom>
              <a:avLst/>
              <a:gdLst>
                <a:gd name="T0" fmla="*/ 54 w 106"/>
                <a:gd name="T1" fmla="*/ 55 h 119"/>
                <a:gd name="T2" fmla="*/ 30 w 106"/>
                <a:gd name="T3" fmla="*/ 0 h 119"/>
                <a:gd name="T4" fmla="*/ 0 w 106"/>
                <a:gd name="T5" fmla="*/ 0 h 119"/>
                <a:gd name="T6" fmla="*/ 40 w 106"/>
                <a:gd name="T7" fmla="*/ 81 h 119"/>
                <a:gd name="T8" fmla="*/ 40 w 106"/>
                <a:gd name="T9" fmla="*/ 119 h 119"/>
                <a:gd name="T10" fmla="*/ 66 w 106"/>
                <a:gd name="T11" fmla="*/ 119 h 119"/>
                <a:gd name="T12" fmla="*/ 66 w 106"/>
                <a:gd name="T13" fmla="*/ 81 h 119"/>
                <a:gd name="T14" fmla="*/ 106 w 106"/>
                <a:gd name="T15" fmla="*/ 0 h 119"/>
                <a:gd name="T16" fmla="*/ 80 w 106"/>
                <a:gd name="T17" fmla="*/ 0 h 119"/>
                <a:gd name="T18" fmla="*/ 54 w 106"/>
                <a:gd name="T19" fmla="*/ 5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19">
                  <a:moveTo>
                    <a:pt x="54" y="55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40" y="81"/>
                  </a:lnTo>
                  <a:lnTo>
                    <a:pt x="40" y="119"/>
                  </a:lnTo>
                  <a:lnTo>
                    <a:pt x="66" y="119"/>
                  </a:lnTo>
                  <a:lnTo>
                    <a:pt x="66" y="81"/>
                  </a:lnTo>
                  <a:lnTo>
                    <a:pt x="106" y="0"/>
                  </a:lnTo>
                  <a:lnTo>
                    <a:pt x="80" y="0"/>
                  </a:lnTo>
                  <a:lnTo>
                    <a:pt x="54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ïś1ïḋè"/>
            <p:cNvSpPr/>
            <p:nvPr/>
          </p:nvSpPr>
          <p:spPr bwMode="auto">
            <a:xfrm>
              <a:off x="7698054" y="3753737"/>
              <a:ext cx="154058" cy="164964"/>
            </a:xfrm>
            <a:custGeom>
              <a:avLst/>
              <a:gdLst>
                <a:gd name="T0" fmla="*/ 24 w 48"/>
                <a:gd name="T1" fmla="*/ 0 h 51"/>
                <a:gd name="T2" fmla="*/ 0 w 48"/>
                <a:gd name="T3" fmla="*/ 26 h 51"/>
                <a:gd name="T4" fmla="*/ 24 w 48"/>
                <a:gd name="T5" fmla="*/ 51 h 51"/>
                <a:gd name="T6" fmla="*/ 48 w 48"/>
                <a:gd name="T7" fmla="*/ 26 h 51"/>
                <a:gd name="T8" fmla="*/ 24 w 48"/>
                <a:gd name="T9" fmla="*/ 0 h 51"/>
                <a:gd name="T10" fmla="*/ 24 w 48"/>
                <a:gd name="T11" fmla="*/ 44 h 51"/>
                <a:gd name="T12" fmla="*/ 11 w 48"/>
                <a:gd name="T13" fmla="*/ 26 h 51"/>
                <a:gd name="T14" fmla="*/ 24 w 48"/>
                <a:gd name="T15" fmla="*/ 7 h 51"/>
                <a:gd name="T16" fmla="*/ 36 w 48"/>
                <a:gd name="T17" fmla="*/ 26 h 51"/>
                <a:gd name="T18" fmla="*/ 24 w 48"/>
                <a:gd name="T19" fmla="*/ 4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51">
                  <a:moveTo>
                    <a:pt x="24" y="0"/>
                  </a:moveTo>
                  <a:cubicBezTo>
                    <a:pt x="8" y="0"/>
                    <a:pt x="0" y="9"/>
                    <a:pt x="0" y="26"/>
                  </a:cubicBezTo>
                  <a:cubicBezTo>
                    <a:pt x="0" y="43"/>
                    <a:pt x="8" y="51"/>
                    <a:pt x="24" y="51"/>
                  </a:cubicBezTo>
                  <a:cubicBezTo>
                    <a:pt x="39" y="51"/>
                    <a:pt x="47" y="43"/>
                    <a:pt x="48" y="26"/>
                  </a:cubicBezTo>
                  <a:cubicBezTo>
                    <a:pt x="47" y="9"/>
                    <a:pt x="39" y="0"/>
                    <a:pt x="24" y="0"/>
                  </a:cubicBezTo>
                  <a:close/>
                  <a:moveTo>
                    <a:pt x="24" y="44"/>
                  </a:moveTo>
                  <a:cubicBezTo>
                    <a:pt x="15" y="44"/>
                    <a:pt x="11" y="38"/>
                    <a:pt x="11" y="26"/>
                  </a:cubicBezTo>
                  <a:cubicBezTo>
                    <a:pt x="11" y="14"/>
                    <a:pt x="15" y="7"/>
                    <a:pt x="24" y="7"/>
                  </a:cubicBezTo>
                  <a:cubicBezTo>
                    <a:pt x="32" y="7"/>
                    <a:pt x="36" y="14"/>
                    <a:pt x="36" y="26"/>
                  </a:cubicBezTo>
                  <a:cubicBezTo>
                    <a:pt x="36" y="38"/>
                    <a:pt x="32" y="44"/>
                    <a:pt x="24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îsļïḍê"/>
            <p:cNvSpPr/>
            <p:nvPr/>
          </p:nvSpPr>
          <p:spPr bwMode="auto">
            <a:xfrm>
              <a:off x="7887558" y="3756463"/>
              <a:ext cx="106341" cy="162238"/>
            </a:xfrm>
            <a:custGeom>
              <a:avLst/>
              <a:gdLst>
                <a:gd name="T0" fmla="*/ 0 w 78"/>
                <a:gd name="T1" fmla="*/ 119 h 119"/>
                <a:gd name="T2" fmla="*/ 26 w 78"/>
                <a:gd name="T3" fmla="*/ 119 h 119"/>
                <a:gd name="T4" fmla="*/ 26 w 78"/>
                <a:gd name="T5" fmla="*/ 66 h 119"/>
                <a:gd name="T6" fmla="*/ 73 w 78"/>
                <a:gd name="T7" fmla="*/ 66 h 119"/>
                <a:gd name="T8" fmla="*/ 73 w 78"/>
                <a:gd name="T9" fmla="*/ 47 h 119"/>
                <a:gd name="T10" fmla="*/ 26 w 78"/>
                <a:gd name="T11" fmla="*/ 47 h 119"/>
                <a:gd name="T12" fmla="*/ 26 w 78"/>
                <a:gd name="T13" fmla="*/ 19 h 119"/>
                <a:gd name="T14" fmla="*/ 78 w 78"/>
                <a:gd name="T15" fmla="*/ 19 h 119"/>
                <a:gd name="T16" fmla="*/ 78 w 78"/>
                <a:gd name="T17" fmla="*/ 0 h 119"/>
                <a:gd name="T18" fmla="*/ 0 w 78"/>
                <a:gd name="T19" fmla="*/ 0 h 119"/>
                <a:gd name="T20" fmla="*/ 0 w 78"/>
                <a:gd name="T21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119">
                  <a:moveTo>
                    <a:pt x="0" y="119"/>
                  </a:moveTo>
                  <a:lnTo>
                    <a:pt x="26" y="119"/>
                  </a:lnTo>
                  <a:lnTo>
                    <a:pt x="26" y="66"/>
                  </a:lnTo>
                  <a:lnTo>
                    <a:pt x="73" y="66"/>
                  </a:lnTo>
                  <a:lnTo>
                    <a:pt x="73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íṣlíḑé"/>
            <p:cNvSpPr/>
            <p:nvPr/>
          </p:nvSpPr>
          <p:spPr bwMode="auto">
            <a:xfrm>
              <a:off x="8068883" y="3753737"/>
              <a:ext cx="134971" cy="164964"/>
            </a:xfrm>
            <a:custGeom>
              <a:avLst/>
              <a:gdLst>
                <a:gd name="T0" fmla="*/ 21 w 42"/>
                <a:gd name="T1" fmla="*/ 7 h 51"/>
                <a:gd name="T2" fmla="*/ 31 w 42"/>
                <a:gd name="T3" fmla="*/ 17 h 51"/>
                <a:gd name="T4" fmla="*/ 42 w 42"/>
                <a:gd name="T5" fmla="*/ 17 h 51"/>
                <a:gd name="T6" fmla="*/ 21 w 42"/>
                <a:gd name="T7" fmla="*/ 0 h 51"/>
                <a:gd name="T8" fmla="*/ 0 w 42"/>
                <a:gd name="T9" fmla="*/ 26 h 51"/>
                <a:gd name="T10" fmla="*/ 21 w 42"/>
                <a:gd name="T11" fmla="*/ 51 h 51"/>
                <a:gd name="T12" fmla="*/ 42 w 42"/>
                <a:gd name="T13" fmla="*/ 35 h 51"/>
                <a:gd name="T14" fmla="*/ 31 w 42"/>
                <a:gd name="T15" fmla="*/ 35 h 51"/>
                <a:gd name="T16" fmla="*/ 21 w 42"/>
                <a:gd name="T17" fmla="*/ 44 h 51"/>
                <a:gd name="T18" fmla="*/ 11 w 42"/>
                <a:gd name="T19" fmla="*/ 26 h 51"/>
                <a:gd name="T20" fmla="*/ 21 w 42"/>
                <a:gd name="T21" fmla="*/ 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" h="51">
                  <a:moveTo>
                    <a:pt x="21" y="7"/>
                  </a:moveTo>
                  <a:cubicBezTo>
                    <a:pt x="27" y="8"/>
                    <a:pt x="30" y="11"/>
                    <a:pt x="31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1" y="6"/>
                    <a:pt x="34" y="0"/>
                    <a:pt x="21" y="0"/>
                  </a:cubicBezTo>
                  <a:cubicBezTo>
                    <a:pt x="7" y="0"/>
                    <a:pt x="0" y="9"/>
                    <a:pt x="0" y="26"/>
                  </a:cubicBezTo>
                  <a:cubicBezTo>
                    <a:pt x="0" y="43"/>
                    <a:pt x="7" y="51"/>
                    <a:pt x="21" y="51"/>
                  </a:cubicBezTo>
                  <a:cubicBezTo>
                    <a:pt x="34" y="51"/>
                    <a:pt x="41" y="46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0" y="41"/>
                    <a:pt x="27" y="44"/>
                    <a:pt x="21" y="44"/>
                  </a:cubicBezTo>
                  <a:cubicBezTo>
                    <a:pt x="15" y="44"/>
                    <a:pt x="12" y="38"/>
                    <a:pt x="11" y="26"/>
                  </a:cubicBezTo>
                  <a:cubicBezTo>
                    <a:pt x="12" y="14"/>
                    <a:pt x="15" y="8"/>
                    <a:pt x="2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ïSlïḓe"/>
            <p:cNvSpPr/>
            <p:nvPr/>
          </p:nvSpPr>
          <p:spPr bwMode="auto">
            <a:xfrm>
              <a:off x="8236574" y="3756463"/>
              <a:ext cx="132244" cy="162238"/>
            </a:xfrm>
            <a:custGeom>
              <a:avLst/>
              <a:gdLst>
                <a:gd name="T0" fmla="*/ 71 w 97"/>
                <a:gd name="T1" fmla="*/ 45 h 119"/>
                <a:gd name="T2" fmla="*/ 26 w 97"/>
                <a:gd name="T3" fmla="*/ 45 h 119"/>
                <a:gd name="T4" fmla="*/ 26 w 97"/>
                <a:gd name="T5" fmla="*/ 0 h 119"/>
                <a:gd name="T6" fmla="*/ 0 w 97"/>
                <a:gd name="T7" fmla="*/ 0 h 119"/>
                <a:gd name="T8" fmla="*/ 0 w 97"/>
                <a:gd name="T9" fmla="*/ 119 h 119"/>
                <a:gd name="T10" fmla="*/ 26 w 97"/>
                <a:gd name="T11" fmla="*/ 119 h 119"/>
                <a:gd name="T12" fmla="*/ 26 w 97"/>
                <a:gd name="T13" fmla="*/ 66 h 119"/>
                <a:gd name="T14" fmla="*/ 71 w 97"/>
                <a:gd name="T15" fmla="*/ 66 h 119"/>
                <a:gd name="T16" fmla="*/ 71 w 97"/>
                <a:gd name="T17" fmla="*/ 119 h 119"/>
                <a:gd name="T18" fmla="*/ 97 w 97"/>
                <a:gd name="T19" fmla="*/ 119 h 119"/>
                <a:gd name="T20" fmla="*/ 97 w 97"/>
                <a:gd name="T21" fmla="*/ 0 h 119"/>
                <a:gd name="T22" fmla="*/ 71 w 97"/>
                <a:gd name="T23" fmla="*/ 0 h 119"/>
                <a:gd name="T24" fmla="*/ 71 w 97"/>
                <a:gd name="T25" fmla="*/ 4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119">
                  <a:moveTo>
                    <a:pt x="71" y="45"/>
                  </a:moveTo>
                  <a:lnTo>
                    <a:pt x="26" y="45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6" y="119"/>
                  </a:lnTo>
                  <a:lnTo>
                    <a:pt x="26" y="66"/>
                  </a:lnTo>
                  <a:lnTo>
                    <a:pt x="71" y="66"/>
                  </a:lnTo>
                  <a:lnTo>
                    <a:pt x="71" y="119"/>
                  </a:lnTo>
                  <a:lnTo>
                    <a:pt x="97" y="119"/>
                  </a:lnTo>
                  <a:lnTo>
                    <a:pt x="97" y="0"/>
                  </a:lnTo>
                  <a:lnTo>
                    <a:pt x="71" y="0"/>
                  </a:lnTo>
                  <a:lnTo>
                    <a:pt x="71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ïŝ1îḓé"/>
            <p:cNvSpPr/>
            <p:nvPr/>
          </p:nvSpPr>
          <p:spPr bwMode="auto">
            <a:xfrm>
              <a:off x="8409718" y="3756463"/>
              <a:ext cx="32720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ïš1idé"/>
            <p:cNvSpPr/>
            <p:nvPr/>
          </p:nvSpPr>
          <p:spPr bwMode="auto">
            <a:xfrm>
              <a:off x="8484702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îṣḻide"/>
            <p:cNvSpPr/>
            <p:nvPr/>
          </p:nvSpPr>
          <p:spPr bwMode="auto">
            <a:xfrm>
              <a:off x="8657846" y="3756463"/>
              <a:ext cx="158148" cy="162238"/>
            </a:xfrm>
            <a:custGeom>
              <a:avLst/>
              <a:gdLst>
                <a:gd name="T0" fmla="*/ 74 w 116"/>
                <a:gd name="T1" fmla="*/ 0 h 119"/>
                <a:gd name="T2" fmla="*/ 43 w 116"/>
                <a:gd name="T3" fmla="*/ 0 h 119"/>
                <a:gd name="T4" fmla="*/ 0 w 116"/>
                <a:gd name="T5" fmla="*/ 119 h 119"/>
                <a:gd name="T6" fmla="*/ 24 w 116"/>
                <a:gd name="T7" fmla="*/ 119 h 119"/>
                <a:gd name="T8" fmla="*/ 34 w 116"/>
                <a:gd name="T9" fmla="*/ 93 h 119"/>
                <a:gd name="T10" fmla="*/ 81 w 116"/>
                <a:gd name="T11" fmla="*/ 93 h 119"/>
                <a:gd name="T12" fmla="*/ 90 w 116"/>
                <a:gd name="T13" fmla="*/ 119 h 119"/>
                <a:gd name="T14" fmla="*/ 116 w 116"/>
                <a:gd name="T15" fmla="*/ 119 h 119"/>
                <a:gd name="T16" fmla="*/ 74 w 116"/>
                <a:gd name="T17" fmla="*/ 0 h 119"/>
                <a:gd name="T18" fmla="*/ 41 w 116"/>
                <a:gd name="T19" fmla="*/ 74 h 119"/>
                <a:gd name="T20" fmla="*/ 57 w 116"/>
                <a:gd name="T21" fmla="*/ 21 h 119"/>
                <a:gd name="T22" fmla="*/ 60 w 116"/>
                <a:gd name="T23" fmla="*/ 21 h 119"/>
                <a:gd name="T24" fmla="*/ 74 w 116"/>
                <a:gd name="T25" fmla="*/ 74 h 119"/>
                <a:gd name="T26" fmla="*/ 41 w 116"/>
                <a:gd name="T27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9">
                  <a:moveTo>
                    <a:pt x="74" y="0"/>
                  </a:moveTo>
                  <a:lnTo>
                    <a:pt x="43" y="0"/>
                  </a:lnTo>
                  <a:lnTo>
                    <a:pt x="0" y="119"/>
                  </a:lnTo>
                  <a:lnTo>
                    <a:pt x="24" y="119"/>
                  </a:lnTo>
                  <a:lnTo>
                    <a:pt x="34" y="93"/>
                  </a:lnTo>
                  <a:lnTo>
                    <a:pt x="81" y="93"/>
                  </a:lnTo>
                  <a:lnTo>
                    <a:pt x="90" y="119"/>
                  </a:lnTo>
                  <a:lnTo>
                    <a:pt x="116" y="119"/>
                  </a:lnTo>
                  <a:lnTo>
                    <a:pt x="74" y="0"/>
                  </a:lnTo>
                  <a:close/>
                  <a:moveTo>
                    <a:pt x="41" y="74"/>
                  </a:moveTo>
                  <a:lnTo>
                    <a:pt x="57" y="21"/>
                  </a:lnTo>
                  <a:lnTo>
                    <a:pt x="60" y="21"/>
                  </a:lnTo>
                  <a:lnTo>
                    <a:pt x="74" y="74"/>
                  </a:lnTo>
                  <a:lnTo>
                    <a:pt x="41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54" name="椭圆 53"/>
          <p:cNvSpPr/>
          <p:nvPr userDrawn="1"/>
        </p:nvSpPr>
        <p:spPr>
          <a:xfrm>
            <a:off x="307394" y="147389"/>
            <a:ext cx="594613" cy="59461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-1"/>
            <a:ext cx="10858500" cy="817564"/>
          </a:xfrm>
          <a:prstGeom prst="rect">
            <a:avLst/>
          </a:prstGeom>
        </p:spPr>
        <p:txBody>
          <a:bodyPr vert="horz" lIns="0" tIns="45720" rIns="91440" bIns="45720" rtlCol="0" anchor="b" anchorCtr="0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581524"/>
            <a:ext cx="2743200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 spc="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88402" y="6581524"/>
            <a:ext cx="2730498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 dirty="0" err="1"/>
              <a:t>Minzu</a:t>
            </a:r>
            <a:r>
              <a:rPr lang="en-US" altLang="zh-CN" dirty="0"/>
              <a:t> University of China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F0210-9EFB-4FBE-AADD-CE66351048B3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C6F2D9-6978-158B-48FE-73121782E8E5}"/>
              </a:ext>
            </a:extLst>
          </p:cNvPr>
          <p:cNvSpPr txBox="1"/>
          <p:nvPr/>
        </p:nvSpPr>
        <p:spPr>
          <a:xfrm>
            <a:off x="223520" y="376735"/>
            <a:ext cx="565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as policies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C558E38C-96C6-62CA-2ACB-1AB533FD1741}"/>
              </a:ext>
            </a:extLst>
          </p:cNvPr>
          <p:cNvGrpSpPr/>
          <p:nvPr/>
        </p:nvGrpSpPr>
        <p:grpSpPr>
          <a:xfrm>
            <a:off x="1884680" y="1280191"/>
            <a:ext cx="8001000" cy="2384636"/>
            <a:chOff x="1833880" y="1574831"/>
            <a:chExt cx="7767322" cy="2384636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F41FD1C0-1715-0B2B-AA18-271CE934D22B}"/>
                </a:ext>
              </a:extLst>
            </p:cNvPr>
            <p:cNvGrpSpPr/>
            <p:nvPr/>
          </p:nvGrpSpPr>
          <p:grpSpPr>
            <a:xfrm>
              <a:off x="1833880" y="1574831"/>
              <a:ext cx="7767322" cy="2106384"/>
              <a:chOff x="1833880" y="1574831"/>
              <a:chExt cx="7767322" cy="2106384"/>
            </a:xfrm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2C66691C-0F72-2B50-7FC4-DE0D1439B709}"/>
                  </a:ext>
                </a:extLst>
              </p:cNvPr>
              <p:cNvGrpSpPr/>
              <p:nvPr/>
            </p:nvGrpSpPr>
            <p:grpSpPr>
              <a:xfrm>
                <a:off x="1986280" y="1574831"/>
                <a:ext cx="7614922" cy="1854169"/>
                <a:chOff x="2260600" y="1523554"/>
                <a:chExt cx="7614922" cy="1854169"/>
              </a:xfrm>
            </p:grpSpPr>
            <p:pic>
              <p:nvPicPr>
                <p:cNvPr id="19" name="图形 18" descr="机器人 纯色填充">
                  <a:extLst>
                    <a:ext uri="{FF2B5EF4-FFF2-40B4-BE49-F238E27FC236}">
                      <a16:creationId xmlns:a16="http://schemas.microsoft.com/office/drawing/2014/main" id="{89EAB7CD-EC14-6DD0-385B-F45EF76100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38162" y="1757203"/>
                  <a:ext cx="1737360" cy="1620520"/>
                </a:xfrm>
                <a:prstGeom prst="rect">
                  <a:avLst/>
                </a:prstGeom>
              </p:spPr>
            </p:pic>
            <p:pic>
              <p:nvPicPr>
                <p:cNvPr id="21" name="图形 20" descr="眼睛 纯色填充">
                  <a:extLst>
                    <a:ext uri="{FF2B5EF4-FFF2-40B4-BE49-F238E27FC236}">
                      <a16:creationId xmlns:a16="http://schemas.microsoft.com/office/drawing/2014/main" id="{6607AB7C-03DA-FCB9-7BE3-E2BDA40A71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60600" y="1523554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1383447D-6891-44A9-A597-4216AE3C06EE}"/>
                    </a:ext>
                  </a:extLst>
                </p:cNvPr>
                <p:cNvSpPr/>
                <p:nvPr/>
              </p:nvSpPr>
              <p:spPr>
                <a:xfrm>
                  <a:off x="4155440" y="2201545"/>
                  <a:ext cx="1280160" cy="8343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</a:rPr>
                    <a:t>LLM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" name="图形 23" descr="莫尔斯电码 轮廓">
                  <a:extLst>
                    <a:ext uri="{FF2B5EF4-FFF2-40B4-BE49-F238E27FC236}">
                      <a16:creationId xmlns:a16="http://schemas.microsoft.com/office/drawing/2014/main" id="{D096DD0B-6F13-A8A0-766B-6F6BBD4B2C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243322" y="2161540"/>
                  <a:ext cx="1087118" cy="914400"/>
                </a:xfrm>
                <a:prstGeom prst="rect">
                  <a:avLst/>
                </a:prstGeom>
              </p:spPr>
            </p:pic>
            <p:cxnSp>
              <p:nvCxnSpPr>
                <p:cNvPr id="26" name="直接箭头连接符 25">
                  <a:extLst>
                    <a:ext uri="{FF2B5EF4-FFF2-40B4-BE49-F238E27FC236}">
                      <a16:creationId xmlns:a16="http://schemas.microsoft.com/office/drawing/2014/main" id="{79C5866C-AC8A-B6A8-2F92-BD2B54EBFB59}"/>
                    </a:ext>
                  </a:extLst>
                </p:cNvPr>
                <p:cNvCxnSpPr>
                  <a:cxnSpLocks/>
                  <a:stCxn id="21" idx="3"/>
                  <a:endCxn id="22" idx="1"/>
                </p:cNvCxnSpPr>
                <p:nvPr/>
              </p:nvCxnSpPr>
              <p:spPr>
                <a:xfrm>
                  <a:off x="3175000" y="1980754"/>
                  <a:ext cx="980440" cy="63798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箭头连接符 27">
                  <a:extLst>
                    <a:ext uri="{FF2B5EF4-FFF2-40B4-BE49-F238E27FC236}">
                      <a16:creationId xmlns:a16="http://schemas.microsoft.com/office/drawing/2014/main" id="{3E789E58-A757-B752-5405-848679426770}"/>
                    </a:ext>
                  </a:extLst>
                </p:cNvPr>
                <p:cNvCxnSpPr>
                  <a:cxnSpLocks/>
                  <a:endCxn id="24" idx="3"/>
                </p:cNvCxnSpPr>
                <p:nvPr/>
              </p:nvCxnSpPr>
              <p:spPr>
                <a:xfrm>
                  <a:off x="5242560" y="2618740"/>
                  <a:ext cx="1000762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7A416409-5E59-C896-466C-00B8B2DE4528}"/>
                    </a:ext>
                  </a:extLst>
                </p:cNvPr>
                <p:cNvCxnSpPr>
                  <a:cxnSpLocks/>
                  <a:stCxn id="24" idx="1"/>
                </p:cNvCxnSpPr>
                <p:nvPr/>
              </p:nvCxnSpPr>
              <p:spPr>
                <a:xfrm>
                  <a:off x="7330440" y="2618740"/>
                  <a:ext cx="919479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1B7B4F6-FC94-3666-9FE0-1E4866A64C61}"/>
                  </a:ext>
                </a:extLst>
              </p:cNvPr>
              <p:cNvSpPr txBox="1"/>
              <p:nvPr/>
            </p:nvSpPr>
            <p:spPr>
              <a:xfrm>
                <a:off x="1833880" y="2304565"/>
                <a:ext cx="1407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视觉编码器</a:t>
                </a: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B21F89F-48EA-8B73-CCE7-9E0B515BA28C}"/>
                  </a:ext>
                </a:extLst>
              </p:cNvPr>
              <p:cNvSpPr txBox="1"/>
              <p:nvPr/>
            </p:nvSpPr>
            <p:spPr>
              <a:xfrm>
                <a:off x="3881120" y="3127217"/>
                <a:ext cx="1407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大语言模型</a:t>
                </a: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0325E86E-6ED3-88B6-F676-9284EF15A6ED}"/>
                  </a:ext>
                </a:extLst>
              </p:cNvPr>
              <p:cNvSpPr txBox="1"/>
              <p:nvPr/>
            </p:nvSpPr>
            <p:spPr>
              <a:xfrm>
                <a:off x="5808981" y="3127217"/>
                <a:ext cx="14071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Python</a:t>
                </a:r>
                <a:r>
                  <a:rPr lang="zh-CN" altLang="en-US" dirty="0"/>
                  <a:t>代码</a:t>
                </a: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9BEBEFE-0582-B52C-FE7B-0177C694824C}"/>
                  </a:ext>
                </a:extLst>
              </p:cNvPr>
              <p:cNvSpPr txBox="1"/>
              <p:nvPr/>
            </p:nvSpPr>
            <p:spPr>
              <a:xfrm>
                <a:off x="8206740" y="3311883"/>
                <a:ext cx="12014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具身控制</a:t>
                </a:r>
              </a:p>
            </p:txBody>
          </p:sp>
        </p:grpSp>
        <p:pic>
          <p:nvPicPr>
            <p:cNvPr id="50" name="图形 49" descr="语音 轮廓">
              <a:extLst>
                <a:ext uri="{FF2B5EF4-FFF2-40B4-BE49-F238E27FC236}">
                  <a16:creationId xmlns:a16="http://schemas.microsoft.com/office/drawing/2014/main" id="{614D998C-E8D1-C1A6-4C1B-F196B592D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014221" y="2729470"/>
              <a:ext cx="914400" cy="914400"/>
            </a:xfrm>
            <a:prstGeom prst="rect">
              <a:avLst/>
            </a:prstGeom>
          </p:spPr>
        </p:pic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A10C3C74-5E69-ABCE-C0CF-0CC1B5B55B46}"/>
                </a:ext>
              </a:extLst>
            </p:cNvPr>
            <p:cNvCxnSpPr>
              <a:endCxn id="22" idx="1"/>
            </p:cNvCxnSpPr>
            <p:nvPr/>
          </p:nvCxnSpPr>
          <p:spPr>
            <a:xfrm flipV="1">
              <a:off x="2928621" y="2670017"/>
              <a:ext cx="952499" cy="5166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A0771E7-C389-DF70-B59F-5A1091E81A14}"/>
                </a:ext>
              </a:extLst>
            </p:cNvPr>
            <p:cNvSpPr txBox="1"/>
            <p:nvPr/>
          </p:nvSpPr>
          <p:spPr>
            <a:xfrm>
              <a:off x="1936750" y="3590135"/>
              <a:ext cx="12014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自然语言</a:t>
              </a: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7D39D82A-564C-3C81-6DA0-720B86DEED18}"/>
              </a:ext>
            </a:extLst>
          </p:cNvPr>
          <p:cNvSpPr txBox="1"/>
          <p:nvPr/>
        </p:nvSpPr>
        <p:spPr>
          <a:xfrm>
            <a:off x="1615440" y="3979647"/>
            <a:ext cx="9321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核心能力</a:t>
            </a:r>
            <a:r>
              <a:rPr lang="en-US" altLang="zh-CN" dirty="0"/>
              <a:t>:</a:t>
            </a:r>
            <a:r>
              <a:rPr lang="zh-CN" altLang="en-US" dirty="0"/>
              <a:t> 给定自然语言指令，让</a:t>
            </a:r>
            <a:r>
              <a:rPr lang="en-US" altLang="zh-CN" dirty="0"/>
              <a:t>LLM </a:t>
            </a:r>
            <a:r>
              <a:rPr lang="zh-CN" altLang="en-US" dirty="0"/>
              <a:t>编写机器人策略代码 </a:t>
            </a:r>
            <a:r>
              <a:rPr lang="en-US" altLang="zh-CN" dirty="0"/>
              <a:t>+ </a:t>
            </a:r>
            <a:r>
              <a:rPr lang="zh-CN" altLang="en-US" dirty="0"/>
              <a:t>分层次代码生成</a:t>
            </a:r>
            <a:r>
              <a:rPr lang="en-US" altLang="zh-CN" dirty="0"/>
              <a:t>(</a:t>
            </a:r>
            <a:r>
              <a:rPr lang="zh-CN" altLang="en-US" dirty="0"/>
              <a:t>递归定义未定义的函数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16F5B1B-DA46-CC9A-4D24-F70EF4835893}"/>
              </a:ext>
            </a:extLst>
          </p:cNvPr>
          <p:cNvSpPr txBox="1"/>
          <p:nvPr/>
        </p:nvSpPr>
        <p:spPr>
          <a:xfrm>
            <a:off x="1615440" y="4691789"/>
            <a:ext cx="80365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策略能力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（</a:t>
            </a:r>
            <a:r>
              <a:rPr lang="en-US" altLang="zh-CN" dirty="0" err="1"/>
              <a:t>i</a:t>
            </a:r>
            <a:r>
              <a:rPr lang="zh-CN" altLang="en-US" dirty="0"/>
              <a:t>）展现空间几何推理能力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ii</a:t>
            </a:r>
            <a:r>
              <a:rPr lang="zh-CN" altLang="en-US" dirty="0"/>
              <a:t>）泛化到新指令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iii</a:t>
            </a:r>
            <a:r>
              <a:rPr lang="zh-CN" altLang="en-US" dirty="0"/>
              <a:t>）根据上下文（即行为常识）为模糊的描述（如“更快”）指定精确的数值（如速度）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0E632F-02B8-70EA-7640-28929B18A548}"/>
              </a:ext>
            </a:extLst>
          </p:cNvPr>
          <p:cNvSpPr txBox="1"/>
          <p:nvPr/>
        </p:nvSpPr>
        <p:spPr>
          <a:xfrm>
            <a:off x="528320" y="467360"/>
            <a:ext cx="345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901DF3-6E7F-7A23-496F-7567B4D9FB3A}"/>
              </a:ext>
            </a:extLst>
          </p:cNvPr>
          <p:cNvSpPr txBox="1"/>
          <p:nvPr/>
        </p:nvSpPr>
        <p:spPr>
          <a:xfrm>
            <a:off x="1463040" y="1362115"/>
            <a:ext cx="8310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策略代码组成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经典逻辑结构，如序列、选择（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if/else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）和循环（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for/while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）来在运行时组装新行为。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第三方库，如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插值点、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Shapely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分析和生成形状，用于空间几何推理等。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LMP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可以是层次化的：通过提示递归地定义新函数，随时间积累自己的库，并自我构建动态代码库。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230E95-AED7-B8A5-3938-4AEB6B1B7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87" y="3429000"/>
            <a:ext cx="3397425" cy="18352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C6938B-3261-EB2D-49DD-30839A796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114" y="3393440"/>
            <a:ext cx="4496031" cy="85729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191CF72-4B10-B50D-3891-D5DF6FB9DCE3}"/>
              </a:ext>
            </a:extLst>
          </p:cNvPr>
          <p:cNvSpPr txBox="1"/>
          <p:nvPr/>
        </p:nvSpPr>
        <p:spPr>
          <a:xfrm>
            <a:off x="1463040" y="5537200"/>
            <a:ext cx="251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语言模型低级代码示例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D6FD3F-FE08-D48D-6B75-ADB8E9892BE0}"/>
              </a:ext>
            </a:extLst>
          </p:cNvPr>
          <p:cNvSpPr txBox="1"/>
          <p:nvPr/>
        </p:nvSpPr>
        <p:spPr>
          <a:xfrm>
            <a:off x="6390640" y="4419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语言模型高级代码示例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8BD4BE-06FB-373A-0A26-284583C9B825}"/>
              </a:ext>
            </a:extLst>
          </p:cNvPr>
          <p:cNvSpPr txBox="1"/>
          <p:nvPr/>
        </p:nvSpPr>
        <p:spPr>
          <a:xfrm>
            <a:off x="5486400" y="5413494"/>
            <a:ext cx="536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在程序推理中，变量和函数的命名也是非常重要的！</a:t>
            </a:r>
          </a:p>
        </p:txBody>
      </p:sp>
    </p:spTree>
    <p:extLst>
      <p:ext uri="{BB962C8B-B14F-4D97-AF65-F5344CB8AC3E}">
        <p14:creationId xmlns:p14="http://schemas.microsoft.com/office/powerpoint/2010/main" val="327210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B22D46-601E-7045-BA1C-41C81A19495E}"/>
              </a:ext>
            </a:extLst>
          </p:cNvPr>
          <p:cNvSpPr txBox="1"/>
          <p:nvPr/>
        </p:nvSpPr>
        <p:spPr>
          <a:xfrm>
            <a:off x="416560" y="406400"/>
            <a:ext cx="2682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847BA1-39F8-1ACE-D415-8AC795526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734" y="1639215"/>
            <a:ext cx="5097266" cy="357957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02610D7-6ED8-820E-210D-AEC2621A9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218" y="2318620"/>
            <a:ext cx="4750044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0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3E4E78-B878-ECD9-7128-3D837ED07A37}"/>
              </a:ext>
            </a:extLst>
          </p:cNvPr>
          <p:cNvSpPr txBox="1"/>
          <p:nvPr/>
        </p:nvSpPr>
        <p:spPr>
          <a:xfrm>
            <a:off x="447040" y="426719"/>
            <a:ext cx="654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Uni-Skill  </a:t>
            </a:r>
            <a:r>
              <a:rPr lang="zh-CN" altLang="en-US" sz="3600" b="1" dirty="0"/>
              <a:t>以技能为中心的框架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724DFD-5DBB-E0CD-53BC-1281E258C44A}"/>
              </a:ext>
            </a:extLst>
          </p:cNvPr>
          <p:cNvSpPr txBox="1"/>
          <p:nvPr/>
        </p:nvSpPr>
        <p:spPr>
          <a:xfrm>
            <a:off x="1270000" y="1442720"/>
            <a:ext cx="965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技能感知规划</a:t>
            </a:r>
            <a:r>
              <a:rPr lang="en-US" altLang="zh-CN" dirty="0"/>
              <a:t>:</a:t>
            </a:r>
            <a:r>
              <a:rPr lang="zh-CN" altLang="en-US" dirty="0"/>
              <a:t>旨在超越预定义技能库进行规划，使其能够处理新的任务分解。</a:t>
            </a:r>
            <a:endParaRPr lang="en-US" altLang="zh-CN" dirty="0"/>
          </a:p>
          <a:p>
            <a:r>
              <a:rPr lang="zh-CN" altLang="en-US" dirty="0"/>
              <a:t>自动技能进化</a:t>
            </a:r>
            <a:r>
              <a:rPr lang="en-US" altLang="zh-CN" dirty="0"/>
              <a:t>:</a:t>
            </a:r>
            <a:r>
              <a:rPr lang="zh-CN" altLang="en-US" dirty="0"/>
              <a:t>旨在将规划模块请求的高级技能描述基础化为低级的、以技能为中心的动作序列。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5CE850-3DB0-41BC-F7F3-E5AA7528A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346961"/>
            <a:ext cx="9652000" cy="358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4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B94A1F-FEC8-3259-248D-CFC8BCDD1919}"/>
              </a:ext>
            </a:extLst>
          </p:cNvPr>
          <p:cNvSpPr txBox="1"/>
          <p:nvPr/>
        </p:nvSpPr>
        <p:spPr>
          <a:xfrm>
            <a:off x="497840" y="538480"/>
            <a:ext cx="295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技能感知规划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A69FCDE-0C23-61F8-D227-80DD55A3921D}"/>
              </a:ext>
            </a:extLst>
          </p:cNvPr>
          <p:cNvGrpSpPr/>
          <p:nvPr/>
        </p:nvGrpSpPr>
        <p:grpSpPr>
          <a:xfrm>
            <a:off x="2418080" y="1479341"/>
            <a:ext cx="6477003" cy="1284625"/>
            <a:chOff x="1513840" y="1473200"/>
            <a:chExt cx="6314443" cy="128462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21DF933-3DF5-A870-1391-D76C146BF02E}"/>
                </a:ext>
              </a:extLst>
            </p:cNvPr>
            <p:cNvSpPr txBox="1"/>
            <p:nvPr/>
          </p:nvSpPr>
          <p:spPr>
            <a:xfrm>
              <a:off x="1590040" y="1473200"/>
              <a:ext cx="386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I</a:t>
              </a:r>
              <a:r>
                <a:rPr lang="en-US" altLang="zh-CN" sz="1200" dirty="0"/>
                <a:t>t</a:t>
              </a:r>
              <a:endParaRPr lang="zh-CN" altLang="en-US" dirty="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4E5D23F-5556-C100-4D8E-D49DDEA32808}"/>
                </a:ext>
              </a:extLst>
            </p:cNvPr>
            <p:cNvSpPr txBox="1"/>
            <p:nvPr/>
          </p:nvSpPr>
          <p:spPr>
            <a:xfrm>
              <a:off x="1513840" y="2019161"/>
              <a:ext cx="46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</a:t>
              </a:r>
              <a:r>
                <a:rPr lang="en-US" altLang="zh-CN" sz="1200" dirty="0"/>
                <a:t>t</a:t>
              </a:r>
              <a:endParaRPr lang="zh-CN" altLang="en-US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F0A112C-8250-AC1A-33B2-8F3F38339387}"/>
                </a:ext>
              </a:extLst>
            </p:cNvPr>
            <p:cNvSpPr txBox="1"/>
            <p:nvPr/>
          </p:nvSpPr>
          <p:spPr>
            <a:xfrm>
              <a:off x="2895600" y="1737360"/>
              <a:ext cx="2377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Skill-aware planning </a:t>
              </a:r>
              <a:endParaRPr lang="zh-CN" altLang="en-US" dirty="0"/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FA4186AA-1413-860E-FF87-1AB8DC6ECEC0}"/>
                </a:ext>
              </a:extLst>
            </p:cNvPr>
            <p:cNvCxnSpPr>
              <a:stCxn id="3" idx="3"/>
              <a:endCxn id="5" idx="1"/>
            </p:cNvCxnSpPr>
            <p:nvPr/>
          </p:nvCxnSpPr>
          <p:spPr>
            <a:xfrm>
              <a:off x="1976120" y="1657866"/>
              <a:ext cx="919480" cy="2641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36656F5-20BC-04E1-0E99-7138C1195911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 flipV="1">
              <a:off x="1976120" y="1922026"/>
              <a:ext cx="919480" cy="281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D97FFD1-4330-700C-89CE-C5312215B2ED}"/>
                </a:ext>
              </a:extLst>
            </p:cNvPr>
            <p:cNvSpPr txBox="1"/>
            <p:nvPr/>
          </p:nvSpPr>
          <p:spPr>
            <a:xfrm>
              <a:off x="3751581" y="2388493"/>
              <a:ext cx="6654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{</a:t>
              </a:r>
              <a:r>
                <a:rPr lang="en-US" altLang="zh-CN" dirty="0" err="1"/>
                <a:t>L</a:t>
              </a:r>
              <a:r>
                <a:rPr lang="en-US" altLang="zh-CN" sz="1200" dirty="0" err="1"/>
                <a:t>bas</a:t>
              </a:r>
              <a:r>
                <a:rPr lang="en-US" altLang="zh-CN" dirty="0"/>
                <a:t>}</a:t>
              </a:r>
              <a:endParaRPr lang="zh-CN" altLang="en-US" dirty="0"/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43A3FC7-1A28-CD93-99A1-105AF2035755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V="1">
              <a:off x="4084320" y="2106692"/>
              <a:ext cx="0" cy="281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8FED311-4361-899D-F12B-8D6C35B46958}"/>
                </a:ext>
              </a:extLst>
            </p:cNvPr>
            <p:cNvSpPr txBox="1"/>
            <p:nvPr/>
          </p:nvSpPr>
          <p:spPr>
            <a:xfrm>
              <a:off x="5110483" y="1766054"/>
              <a:ext cx="1198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</a:t>
              </a:r>
              <a:r>
                <a:rPr lang="en-US" altLang="zh-CN" dirty="0" err="1"/>
                <a:t>E</a:t>
              </a:r>
              <a:r>
                <a:rPr lang="en-US" altLang="zh-CN" sz="1200" dirty="0" err="1"/>
                <a:t>t</a:t>
              </a:r>
              <a:r>
                <a:rPr lang="en-US" altLang="zh-CN" dirty="0" err="1"/>
                <a:t>,P</a:t>
              </a:r>
              <a:r>
                <a:rPr lang="en-US" altLang="zh-CN" sz="1100" dirty="0" err="1"/>
                <a:t>t</a:t>
              </a:r>
              <a:r>
                <a:rPr lang="en-US" altLang="zh-CN" dirty="0" err="1"/>
                <a:t>,</a:t>
              </a:r>
              <a:r>
                <a:rPr lang="en-US" altLang="zh-CN" dirty="0" err="1">
                  <a:solidFill>
                    <a:srgbClr val="FF0000"/>
                  </a:solidFill>
                </a:rPr>
                <a:t>G</a:t>
              </a:r>
              <a:r>
                <a:rPr lang="en-US" altLang="zh-CN" sz="1200" dirty="0" err="1">
                  <a:solidFill>
                    <a:srgbClr val="FF0000"/>
                  </a:solidFill>
                </a:rPr>
                <a:t>t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B34F19B-4441-9F85-ECF7-81C7284D6F16}"/>
                </a:ext>
              </a:extLst>
            </p:cNvPr>
            <p:cNvSpPr txBox="1"/>
            <p:nvPr/>
          </p:nvSpPr>
          <p:spPr>
            <a:xfrm>
              <a:off x="7147563" y="1779786"/>
              <a:ext cx="680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{L</a:t>
              </a:r>
              <a:r>
                <a:rPr lang="en-US" altLang="zh-CN" sz="1200" dirty="0"/>
                <a:t>ext</a:t>
              </a:r>
              <a:r>
                <a:rPr lang="en-US" altLang="zh-CN" dirty="0"/>
                <a:t>}</a:t>
              </a:r>
              <a:endParaRPr lang="zh-CN" altLang="en-US" dirty="0"/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D6772D33-DFCD-D2E9-2C86-7516E726D8DA}"/>
                </a:ext>
              </a:extLst>
            </p:cNvPr>
            <p:cNvCxnSpPr>
              <a:stCxn id="26" idx="3"/>
              <a:endCxn id="32" idx="1"/>
            </p:cNvCxnSpPr>
            <p:nvPr/>
          </p:nvCxnSpPr>
          <p:spPr>
            <a:xfrm>
              <a:off x="6309356" y="1950720"/>
              <a:ext cx="838207" cy="137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2F7878F-2017-5F6B-78EB-64A7E1ABB661}"/>
                  </a:ext>
                </a:extLst>
              </p:cNvPr>
              <p:cNvSpPr txBox="1"/>
              <p:nvPr/>
            </p:nvSpPr>
            <p:spPr>
              <a:xfrm>
                <a:off x="1229363" y="3058497"/>
                <a:ext cx="99974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语言指令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，视觉观察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altLang="zh-CN" dirty="0"/>
                  <a:t> </a:t>
                </a:r>
                <a:r>
                  <a:rPr lang="zh-CN" altLang="en-US" dirty="0"/>
                  <a:t>，基本技能集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𝑏𝑎𝑠𝑒</m:t>
                        </m:r>
                      </m:sub>
                    </m:sSub>
                  </m:oMath>
                </a14:m>
                <a:r>
                  <a:rPr lang="zh-CN" altLang="en-US" dirty="0"/>
                  <a:t>，扩展技能集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𝑒𝑥𝑡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充分性判别器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技能生成器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altLang="zh-CN" dirty="0"/>
                  <a:t> </a:t>
                </a:r>
                <a:r>
                  <a:rPr lang="zh-CN" altLang="en-US" dirty="0"/>
                  <a:t>，规划器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br>
                  <a:rPr lang="ar-AE" altLang="zh-CN" dirty="0"/>
                </a:br>
                <a:br>
                  <a:rPr lang="ar-AE" altLang="zh-CN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2F7878F-2017-5F6B-78EB-64A7E1ABB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363" y="3058497"/>
                <a:ext cx="9997440" cy="1200329"/>
              </a:xfrm>
              <a:prstGeom prst="rect">
                <a:avLst/>
              </a:prstGeom>
              <a:blipFill>
                <a:blip r:embed="rId2"/>
                <a:stretch>
                  <a:fillRect l="-549" t="-3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289D2C69-13F8-EA83-C398-8FF8CCD60BE0}"/>
              </a:ext>
            </a:extLst>
          </p:cNvPr>
          <p:cNvSpPr txBox="1"/>
          <p:nvPr/>
        </p:nvSpPr>
        <p:spPr>
          <a:xfrm>
            <a:off x="2239007" y="4359760"/>
            <a:ext cx="7484113" cy="37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{</a:t>
            </a:r>
            <a:r>
              <a:rPr lang="en-US" altLang="zh-CN" i="1" dirty="0"/>
              <a:t>O</a:t>
            </a:r>
            <a:r>
              <a:rPr lang="en-US" altLang="zh-CN" sz="1400" i="1" dirty="0"/>
              <a:t>t</a:t>
            </a:r>
            <a:r>
              <a:rPr lang="en-US" altLang="zh-CN" dirty="0"/>
              <a:t>​,</a:t>
            </a:r>
            <a:r>
              <a:rPr lang="en-US" altLang="zh-CN" i="1" dirty="0"/>
              <a:t>I</a:t>
            </a:r>
            <a:r>
              <a:rPr lang="en-US" altLang="zh-CN" sz="1400" i="1" dirty="0"/>
              <a:t>t</a:t>
            </a:r>
            <a:r>
              <a:rPr lang="en-US" altLang="zh-CN" dirty="0"/>
              <a:t>​}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i="1" dirty="0"/>
              <a:t>E</a:t>
            </a:r>
            <a:r>
              <a:rPr lang="en-US" altLang="zh-CN" sz="1400" i="1" dirty="0"/>
              <a:t>t</a:t>
            </a:r>
            <a:r>
              <a:rPr lang="en-US" altLang="zh-CN" sz="1400" dirty="0"/>
              <a:t>​</a:t>
            </a:r>
            <a:r>
              <a:rPr lang="en-US" altLang="zh-CN" dirty="0"/>
              <a:t>({</a:t>
            </a:r>
            <a:r>
              <a:rPr lang="en-US" altLang="zh-CN" i="1" dirty="0"/>
              <a:t>O</a:t>
            </a:r>
            <a:r>
              <a:rPr lang="en-US" altLang="zh-CN" sz="1400" i="1" dirty="0"/>
              <a:t>t</a:t>
            </a:r>
            <a:r>
              <a:rPr lang="en-US" altLang="zh-CN" dirty="0"/>
              <a:t>​,</a:t>
            </a:r>
            <a:r>
              <a:rPr lang="en-US" altLang="zh-CN" i="1" dirty="0"/>
              <a:t>I</a:t>
            </a:r>
            <a:r>
              <a:rPr lang="en-US" altLang="zh-CN" sz="1400" i="1" dirty="0"/>
              <a:t>t</a:t>
            </a:r>
            <a:r>
              <a:rPr lang="en-US" altLang="zh-CN" dirty="0"/>
              <a:t>​},</a:t>
            </a:r>
            <a:r>
              <a:rPr lang="en-US" altLang="zh-CN" i="1" dirty="0" err="1"/>
              <a:t>L</a:t>
            </a:r>
            <a:r>
              <a:rPr lang="en-US" altLang="zh-CN" sz="1400" i="1" dirty="0" err="1"/>
              <a:t>base</a:t>
            </a:r>
            <a:r>
              <a:rPr lang="en-US" altLang="zh-CN" dirty="0"/>
              <a:t>​)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i="1" dirty="0"/>
              <a:t>G</a:t>
            </a:r>
            <a:r>
              <a:rPr lang="en-US" altLang="zh-CN" sz="1400" i="1" dirty="0"/>
              <a:t>t</a:t>
            </a:r>
            <a:r>
              <a:rPr lang="en-US" altLang="zh-CN" dirty="0"/>
              <a:t>​({</a:t>
            </a:r>
            <a:r>
              <a:rPr lang="en-US" altLang="zh-CN" i="1" dirty="0"/>
              <a:t>O</a:t>
            </a:r>
            <a:r>
              <a:rPr lang="en-US" altLang="zh-CN" sz="1400" i="1" dirty="0"/>
              <a:t>t</a:t>
            </a:r>
            <a:r>
              <a:rPr lang="en-US" altLang="zh-CN" dirty="0"/>
              <a:t>​,</a:t>
            </a:r>
            <a:r>
              <a:rPr lang="en-US" altLang="zh-CN" i="1" dirty="0"/>
              <a:t>I</a:t>
            </a:r>
            <a:r>
              <a:rPr lang="en-US" altLang="zh-CN" sz="1400" i="1" dirty="0"/>
              <a:t>t</a:t>
            </a:r>
            <a:r>
              <a:rPr lang="en-US" altLang="zh-CN" dirty="0"/>
              <a:t>​},</a:t>
            </a:r>
            <a:r>
              <a:rPr lang="en-US" altLang="zh-CN" i="1" dirty="0" err="1"/>
              <a:t>L</a:t>
            </a:r>
            <a:r>
              <a:rPr lang="en-US" altLang="zh-CN" sz="1400" i="1" dirty="0" err="1"/>
              <a:t>base</a:t>
            </a:r>
            <a:r>
              <a:rPr lang="en-US" altLang="zh-CN" dirty="0"/>
              <a:t>​)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i="1" dirty="0"/>
              <a:t>P</a:t>
            </a:r>
            <a:r>
              <a:rPr lang="en-US" altLang="zh-CN" sz="1400" i="1" dirty="0"/>
              <a:t>t</a:t>
            </a:r>
            <a:r>
              <a:rPr lang="en-US" altLang="zh-CN" sz="1400" dirty="0"/>
              <a:t>​</a:t>
            </a:r>
            <a:r>
              <a:rPr lang="en-US" altLang="zh-CN" dirty="0"/>
              <a:t>(</a:t>
            </a:r>
            <a:r>
              <a:rPr lang="en-US" altLang="zh-CN" i="1" dirty="0"/>
              <a:t>O</a:t>
            </a:r>
            <a:r>
              <a:rPr lang="en-US" altLang="zh-CN" sz="1400" i="1" dirty="0"/>
              <a:t>t</a:t>
            </a:r>
            <a:r>
              <a:rPr lang="en-US" altLang="zh-CN" dirty="0"/>
              <a:t>​,</a:t>
            </a:r>
            <a:r>
              <a:rPr lang="en-US" altLang="zh-CN" i="1" dirty="0"/>
              <a:t>I</a:t>
            </a:r>
            <a:r>
              <a:rPr lang="en-US" altLang="zh-CN" sz="1400" i="1" dirty="0"/>
              <a:t>t</a:t>
            </a:r>
            <a:r>
              <a:rPr lang="en-US" altLang="zh-CN" sz="1400" dirty="0"/>
              <a:t>​</a:t>
            </a:r>
            <a:r>
              <a:rPr lang="en-US" altLang="zh-CN" dirty="0"/>
              <a:t>,{</a:t>
            </a:r>
            <a:r>
              <a:rPr lang="en-US" altLang="zh-CN" i="1" dirty="0" err="1"/>
              <a:t>L</a:t>
            </a:r>
            <a:r>
              <a:rPr lang="en-US" altLang="zh-CN" sz="1400" i="1" dirty="0" err="1"/>
              <a:t>base</a:t>
            </a:r>
            <a:r>
              <a:rPr lang="en-US" altLang="zh-CN" sz="1400" dirty="0"/>
              <a:t>​</a:t>
            </a:r>
            <a:r>
              <a:rPr lang="en-US" altLang="zh-CN" dirty="0"/>
              <a:t>,</a:t>
            </a:r>
            <a:r>
              <a:rPr lang="en-US" altLang="zh-CN" i="1" dirty="0"/>
              <a:t>L</a:t>
            </a:r>
            <a:r>
              <a:rPr lang="en-US" altLang="zh-CN" sz="1400" i="1" dirty="0"/>
              <a:t>ext</a:t>
            </a:r>
            <a:r>
              <a:rPr lang="en-US" altLang="zh-CN" dirty="0"/>
              <a:t>​})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611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4BB69A-4638-BC61-24D0-1249B376EC43}"/>
              </a:ext>
            </a:extLst>
          </p:cNvPr>
          <p:cNvSpPr txBox="1"/>
          <p:nvPr/>
        </p:nvSpPr>
        <p:spPr>
          <a:xfrm>
            <a:off x="497840" y="508000"/>
            <a:ext cx="3007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自动技能进化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F62C22-1D66-1F75-746D-3D6C86DE6653}"/>
              </a:ext>
            </a:extLst>
          </p:cNvPr>
          <p:cNvSpPr txBox="1"/>
          <p:nvPr/>
        </p:nvSpPr>
        <p:spPr>
          <a:xfrm>
            <a:off x="690880" y="1602155"/>
            <a:ext cx="1064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非结构化视频的自动技能标注 </a:t>
            </a:r>
            <a:r>
              <a:rPr lang="en-US" altLang="zh-CN" dirty="0"/>
              <a:t>+ </a:t>
            </a:r>
            <a:r>
              <a:rPr lang="zh-CN" altLang="en-US" dirty="0"/>
              <a:t>使用 </a:t>
            </a:r>
            <a:r>
              <a:rPr lang="en-US" altLang="zh-CN" dirty="0" err="1"/>
              <a:t>VerbNet</a:t>
            </a:r>
            <a:r>
              <a:rPr lang="en-US" altLang="zh-CN" dirty="0"/>
              <a:t> </a:t>
            </a:r>
            <a:r>
              <a:rPr lang="zh-CN" altLang="en-US" dirty="0"/>
              <a:t>的层次化技能组织 </a:t>
            </a:r>
            <a:r>
              <a:rPr lang="en-US" altLang="zh-CN" dirty="0"/>
              <a:t>+ </a:t>
            </a:r>
            <a:r>
              <a:rPr lang="zh-CN" altLang="en-US" dirty="0"/>
              <a:t>具有高效示例检索的少样本技能实现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5145D2-BDAC-036D-AE4A-558E788C8772}"/>
              </a:ext>
            </a:extLst>
          </p:cNvPr>
          <p:cNvSpPr txBox="1"/>
          <p:nvPr/>
        </p:nvSpPr>
        <p:spPr>
          <a:xfrm>
            <a:off x="690880" y="2102489"/>
            <a:ext cx="10647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非结构化视频的自动技能标注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1.</a:t>
            </a:r>
            <a:r>
              <a:rPr lang="zh-CN" altLang="en-US" dirty="0"/>
              <a:t>过程提取</a:t>
            </a:r>
            <a:r>
              <a:rPr lang="en-US" altLang="zh-CN" dirty="0"/>
              <a:t>:</a:t>
            </a:r>
            <a:r>
              <a:rPr lang="zh-CN" altLang="en-US" dirty="0"/>
              <a:t>多个指令模板对视频进行关键帧识别，得出多个模板描述结果，再合并结果得到最终描述。</a:t>
            </a:r>
            <a:endParaRPr lang="en-US" altLang="zh-CN" dirty="0"/>
          </a:p>
          <a:p>
            <a:r>
              <a:rPr lang="en-US" altLang="zh-CN" dirty="0"/>
              <a:t>       2.</a:t>
            </a:r>
            <a:r>
              <a:rPr lang="zh-CN" altLang="en-US" dirty="0"/>
              <a:t>技能描述</a:t>
            </a:r>
            <a:r>
              <a:rPr lang="en-US" altLang="zh-CN" dirty="0"/>
              <a:t>:</a:t>
            </a:r>
            <a:r>
              <a:rPr lang="zh-CN" altLang="en-US" dirty="0"/>
              <a:t>拿到过程提取的动作序列描述，进行一个“原子”动作名（描述）生成。</a:t>
            </a:r>
            <a:endParaRPr lang="en-US" altLang="zh-CN" dirty="0"/>
          </a:p>
          <a:p>
            <a:r>
              <a:rPr lang="en-US" altLang="zh-CN" dirty="0"/>
              <a:t>       3.</a:t>
            </a:r>
            <a:r>
              <a:rPr lang="zh-CN" altLang="en-US" dirty="0"/>
              <a:t>时间对齐</a:t>
            </a:r>
            <a:r>
              <a:rPr lang="en-US" altLang="zh-CN" dirty="0"/>
              <a:t>:</a:t>
            </a:r>
            <a:r>
              <a:rPr lang="zh-CN" altLang="en-US" dirty="0"/>
              <a:t>按帧编号，识别并视频裁剪。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6E08DC-4D43-5F83-8F77-5C4D27AB1AA1}"/>
              </a:ext>
            </a:extLst>
          </p:cNvPr>
          <p:cNvSpPr txBox="1"/>
          <p:nvPr/>
        </p:nvSpPr>
        <p:spPr>
          <a:xfrm>
            <a:off x="690880" y="3761619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使用 </a:t>
            </a:r>
            <a:r>
              <a:rPr lang="en-US" altLang="zh-CN" dirty="0" err="1">
                <a:highlight>
                  <a:srgbClr val="FFFF00"/>
                </a:highlight>
              </a:rPr>
              <a:t>VerbNet</a:t>
            </a:r>
            <a:r>
              <a:rPr lang="en-US" altLang="zh-CN" dirty="0">
                <a:highlight>
                  <a:srgbClr val="FFFF00"/>
                </a:highlight>
              </a:rPr>
              <a:t> </a:t>
            </a:r>
            <a:r>
              <a:rPr lang="zh-CN" altLang="en-US" dirty="0">
                <a:highlight>
                  <a:srgbClr val="FFFF00"/>
                </a:highlight>
              </a:rPr>
              <a:t>的层次化技能组织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32C0075-FA3E-008D-EFE5-406CEA67F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960" y="3860800"/>
            <a:ext cx="3114109" cy="269265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38F917B-DFBC-BC5F-EE9E-A4478E05BBF5}"/>
              </a:ext>
            </a:extLst>
          </p:cNvPr>
          <p:cNvSpPr txBox="1"/>
          <p:nvPr/>
        </p:nvSpPr>
        <p:spPr>
          <a:xfrm>
            <a:off x="7376160" y="3761619"/>
            <a:ext cx="4358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具有高效示例检索的少样本技能实现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从</a:t>
            </a:r>
            <a:r>
              <a:rPr lang="en-US" altLang="zh-CN" dirty="0" err="1"/>
              <a:t>skillfolder</a:t>
            </a:r>
            <a:r>
              <a:rPr lang="zh-CN" altLang="en-US" dirty="0"/>
              <a:t>检索合适的视频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提取视频的轨迹参考和语义约束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通过提取的参考信息来进行新场景的轨迹生成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夹爪朝向调整</a:t>
            </a:r>
            <a:r>
              <a:rPr lang="en-US" altLang="zh-CN" dirty="0"/>
              <a:t>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900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E8333E-0DC9-66ED-E249-E3341040EFE1}"/>
              </a:ext>
            </a:extLst>
          </p:cNvPr>
          <p:cNvSpPr txBox="1"/>
          <p:nvPr/>
        </p:nvSpPr>
        <p:spPr>
          <a:xfrm>
            <a:off x="477520" y="426720"/>
            <a:ext cx="1361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B5943E-069B-3DA4-7E10-FEDB42D91FD7}"/>
              </a:ext>
            </a:extLst>
          </p:cNvPr>
          <p:cNvSpPr txBox="1"/>
          <p:nvPr/>
        </p:nvSpPr>
        <p:spPr>
          <a:xfrm>
            <a:off x="1422400" y="1241266"/>
            <a:ext cx="9347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概念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-Gym</a:t>
            </a:r>
            <a:r>
              <a:rPr lang="en-US" altLang="zh-CN" dirty="0"/>
              <a:t> </a:t>
            </a:r>
            <a:r>
              <a:rPr lang="zh-CN" altLang="en-US" dirty="0"/>
              <a:t>，一个交互式环境，智能体通过合成并执行组合感知与控制原语的程序来控制机器人。</a:t>
            </a:r>
            <a:endParaRPr lang="en-US" altLang="zh-CN" dirty="0"/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-Bench</a:t>
            </a:r>
            <a:r>
              <a:rPr lang="en-US" altLang="zh-CN" dirty="0"/>
              <a:t> </a:t>
            </a:r>
            <a:r>
              <a:rPr lang="zh-CN" altLang="en-US" dirty="0"/>
              <a:t>在不同抽象层次、交互方式和感知 </a:t>
            </a:r>
            <a:r>
              <a:rPr lang="en-US" altLang="zh-CN" dirty="0"/>
              <a:t>grounding </a:t>
            </a:r>
            <a:r>
              <a:rPr lang="zh-CN" altLang="en-US" dirty="0"/>
              <a:t>下评估前沿语言模型和视觉</a:t>
            </a:r>
            <a:r>
              <a:rPr lang="en-US" altLang="zh-CN" dirty="0"/>
              <a:t>-</a:t>
            </a:r>
            <a:r>
              <a:rPr lang="zh-CN" altLang="en-US" dirty="0"/>
              <a:t>语言模型。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BB9EEF3-D66C-B9FA-89F6-8A013C598904}"/>
              </a:ext>
            </a:extLst>
          </p:cNvPr>
          <p:cNvGrpSpPr/>
          <p:nvPr/>
        </p:nvGrpSpPr>
        <p:grpSpPr>
          <a:xfrm>
            <a:off x="2847340" y="3330813"/>
            <a:ext cx="5902960" cy="2274272"/>
            <a:chOff x="2390140" y="2896057"/>
            <a:chExt cx="5902960" cy="2274272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80DDD0A7-0536-23B8-5B55-6B1C2668BB66}"/>
                </a:ext>
              </a:extLst>
            </p:cNvPr>
            <p:cNvGrpSpPr/>
            <p:nvPr/>
          </p:nvGrpSpPr>
          <p:grpSpPr>
            <a:xfrm>
              <a:off x="2390140" y="2929097"/>
              <a:ext cx="5902960" cy="2241232"/>
              <a:chOff x="2390140" y="2929097"/>
              <a:chExt cx="5902960" cy="2241232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0120BCD-8A93-6CCB-38D4-C5B434469511}"/>
                  </a:ext>
                </a:extLst>
              </p:cNvPr>
              <p:cNvSpPr/>
              <p:nvPr/>
            </p:nvSpPr>
            <p:spPr>
              <a:xfrm>
                <a:off x="2390140" y="2929097"/>
                <a:ext cx="5902960" cy="22412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A7006E3E-2E0B-C313-6D98-2D0238E8B769}"/>
                  </a:ext>
                </a:extLst>
              </p:cNvPr>
              <p:cNvGrpSpPr/>
              <p:nvPr/>
            </p:nvGrpSpPr>
            <p:grpSpPr>
              <a:xfrm>
                <a:off x="3014980" y="3297357"/>
                <a:ext cx="4653280" cy="1504712"/>
                <a:chOff x="3982720" y="3616960"/>
                <a:chExt cx="4653280" cy="1504712"/>
              </a:xfrm>
            </p:grpSpPr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BD63C27B-E899-6D10-A390-8A387A61A412}"/>
                    </a:ext>
                  </a:extLst>
                </p:cNvPr>
                <p:cNvSpPr/>
                <p:nvPr/>
              </p:nvSpPr>
              <p:spPr>
                <a:xfrm>
                  <a:off x="3982720" y="4290616"/>
                  <a:ext cx="4653280" cy="831056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err="1"/>
                    <a:t>CaP</a:t>
                  </a:r>
                  <a:r>
                    <a:rPr lang="en-US" altLang="zh-CN" dirty="0"/>
                    <a:t>-Gym</a:t>
                  </a:r>
                  <a:endParaRPr lang="zh-CN" altLang="en-US" dirty="0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91ECB87D-529E-B390-886B-642473614BF5}"/>
                    </a:ext>
                  </a:extLst>
                </p:cNvPr>
                <p:cNvSpPr/>
                <p:nvPr/>
              </p:nvSpPr>
              <p:spPr>
                <a:xfrm>
                  <a:off x="3982720" y="3616960"/>
                  <a:ext cx="1493520" cy="58928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CaP-Agent0</a:t>
                  </a:r>
                  <a:endParaRPr lang="zh-CN" altLang="en-US" dirty="0"/>
                </a:p>
              </p:txBody>
            </p:sp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30F9A016-EDEF-3849-3FBC-2430BC382762}"/>
                    </a:ext>
                  </a:extLst>
                </p:cNvPr>
                <p:cNvSpPr/>
                <p:nvPr/>
              </p:nvSpPr>
              <p:spPr>
                <a:xfrm>
                  <a:off x="5659120" y="3616960"/>
                  <a:ext cx="1112520" cy="58928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err="1"/>
                    <a:t>CaP</a:t>
                  </a:r>
                  <a:r>
                    <a:rPr lang="en-US" altLang="zh-CN" dirty="0"/>
                    <a:t>-RL</a:t>
                  </a:r>
                  <a:endParaRPr lang="zh-CN" altLang="en-US" dirty="0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EA7B382E-AB13-8A19-F470-20428B1C4A29}"/>
                    </a:ext>
                  </a:extLst>
                </p:cNvPr>
                <p:cNvSpPr/>
                <p:nvPr/>
              </p:nvSpPr>
              <p:spPr>
                <a:xfrm>
                  <a:off x="6954520" y="3616960"/>
                  <a:ext cx="1681480" cy="58928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 err="1"/>
                    <a:t>CaP</a:t>
                  </a:r>
                  <a:r>
                    <a:rPr lang="en-US" altLang="zh-CN" dirty="0"/>
                    <a:t>-Bench</a:t>
                  </a:r>
                  <a:endParaRPr lang="zh-CN" altLang="en-US" dirty="0"/>
                </a:p>
              </p:txBody>
            </p:sp>
          </p:grp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A9F833E-7613-CF51-9CA7-8DCDFBDC58F0}"/>
                </a:ext>
              </a:extLst>
            </p:cNvPr>
            <p:cNvSpPr txBox="1"/>
            <p:nvPr/>
          </p:nvSpPr>
          <p:spPr>
            <a:xfrm>
              <a:off x="7459980" y="2896057"/>
              <a:ext cx="833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CaP</a:t>
              </a:r>
              <a:r>
                <a:rPr lang="en-US" altLang="zh-CN" dirty="0"/>
                <a:t>-x</a:t>
              </a:r>
              <a:endParaRPr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98171939-F58D-0125-D6F2-D4FEC106E9EA}"/>
              </a:ext>
            </a:extLst>
          </p:cNvPr>
          <p:cNvSpPr txBox="1"/>
          <p:nvPr/>
        </p:nvSpPr>
        <p:spPr>
          <a:xfrm>
            <a:off x="4980940" y="5689461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框架概念图</a:t>
            </a:r>
          </a:p>
        </p:txBody>
      </p:sp>
    </p:spTree>
    <p:extLst>
      <p:ext uri="{BB962C8B-B14F-4D97-AF65-F5344CB8AC3E}">
        <p14:creationId xmlns:p14="http://schemas.microsoft.com/office/powerpoint/2010/main" val="32099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8F0568-AB26-EB8F-B561-7898D1A6A7C2}"/>
              </a:ext>
            </a:extLst>
          </p:cNvPr>
          <p:cNvSpPr txBox="1"/>
          <p:nvPr/>
        </p:nvSpPr>
        <p:spPr>
          <a:xfrm>
            <a:off x="1381760" y="922774"/>
            <a:ext cx="7376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三个问题要点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在单轮评估中，前沿模型与人类专家之间仍存在显著差距。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高层抽象提升性能但限制表达性。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引入闭环、多轮和视觉 </a:t>
            </a:r>
            <a:r>
              <a:rPr lang="en-US" altLang="zh-CN" dirty="0"/>
              <a:t>Grounding </a:t>
            </a:r>
            <a:r>
              <a:rPr lang="zh-CN" altLang="en-US" dirty="0"/>
              <a:t>可提升性能。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C084F2-58F0-A8A8-F845-31803EC7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2525932"/>
            <a:ext cx="9550399" cy="297029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80564D-E9F6-BDD9-9C4A-D6AC60DCA59C}"/>
              </a:ext>
            </a:extLst>
          </p:cNvPr>
          <p:cNvSpPr txBox="1"/>
          <p:nvPr/>
        </p:nvSpPr>
        <p:spPr>
          <a:xfrm>
            <a:off x="4805680" y="5638800"/>
            <a:ext cx="184912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各阶段基准测试</a:t>
            </a:r>
          </a:p>
        </p:txBody>
      </p:sp>
    </p:spTree>
    <p:extLst>
      <p:ext uri="{BB962C8B-B14F-4D97-AF65-F5344CB8AC3E}">
        <p14:creationId xmlns:p14="http://schemas.microsoft.com/office/powerpoint/2010/main" val="45150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97D0136-CC6F-3A6F-85ED-B230721645CF}"/>
              </a:ext>
            </a:extLst>
          </p:cNvPr>
          <p:cNvSpPr txBox="1"/>
          <p:nvPr/>
        </p:nvSpPr>
        <p:spPr>
          <a:xfrm>
            <a:off x="1366520" y="467360"/>
            <a:ext cx="1676400" cy="383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改进对象</a:t>
            </a:r>
            <a:r>
              <a:rPr lang="en-US" altLang="zh-CN" dirty="0"/>
              <a:t>:LLM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17C410-59DE-98E1-F354-947412DA0858}"/>
              </a:ext>
            </a:extLst>
          </p:cNvPr>
          <p:cNvSpPr txBox="1"/>
          <p:nvPr/>
        </p:nvSpPr>
        <p:spPr>
          <a:xfrm>
            <a:off x="1366520" y="879286"/>
            <a:ext cx="8544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改进方案</a:t>
            </a:r>
            <a:r>
              <a:rPr lang="en-US" altLang="zh-CN" dirty="0"/>
              <a:t>:</a:t>
            </a:r>
          </a:p>
          <a:p>
            <a:pPr marL="342900" indent="-342900">
              <a:buAutoNum type="arabicPeriod"/>
            </a:pPr>
            <a:r>
              <a:rPr lang="en-US" altLang="zh-CN" dirty="0"/>
              <a:t>Cap-Agent0 :</a:t>
            </a:r>
            <a:r>
              <a:rPr lang="zh-CN" altLang="en-US" dirty="0"/>
              <a:t>多轮视觉差分（</a:t>
            </a:r>
            <a:r>
              <a:rPr lang="en-US" altLang="zh-CN" dirty="0"/>
              <a:t>VDM</a:t>
            </a:r>
            <a:r>
              <a:rPr lang="zh-CN" altLang="en-US" dirty="0"/>
              <a:t>）</a:t>
            </a:r>
            <a:r>
              <a:rPr lang="en-US" altLang="zh-CN" dirty="0"/>
              <a:t>,</a:t>
            </a:r>
            <a:r>
              <a:rPr lang="zh-CN" altLang="en-US" dirty="0"/>
              <a:t>自动合成与持久技能库</a:t>
            </a:r>
            <a:r>
              <a:rPr lang="en-US" altLang="zh-CN" dirty="0"/>
              <a:t>, </a:t>
            </a:r>
            <a:r>
              <a:rPr lang="zh-CN" altLang="en-US" dirty="0"/>
              <a:t>并行推理。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Cap-RL</a:t>
            </a:r>
            <a:r>
              <a:rPr lang="zh-CN" altLang="en-US" dirty="0"/>
              <a:t>：基于强化学习对模型进行微调</a:t>
            </a:r>
            <a:r>
              <a:rPr lang="en-US" altLang="zh-CN" dirty="0"/>
              <a:t>(</a:t>
            </a:r>
            <a:r>
              <a:rPr lang="zh-CN" altLang="en-US" dirty="0"/>
              <a:t>使用纯净输入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18BC60-6610-079E-6E3D-241EF09D4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520" y="1831478"/>
            <a:ext cx="8849360" cy="439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9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555CE81-92EC-ACBB-AC00-5F027255B76F}"/>
              </a:ext>
            </a:extLst>
          </p:cNvPr>
          <p:cNvSpPr txBox="1"/>
          <p:nvPr/>
        </p:nvSpPr>
        <p:spPr>
          <a:xfrm>
            <a:off x="370840" y="230332"/>
            <a:ext cx="161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Aspire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C3C7313-E429-86E5-1722-15875563D9A8}"/>
              </a:ext>
            </a:extLst>
          </p:cNvPr>
          <p:cNvGrpSpPr/>
          <p:nvPr/>
        </p:nvGrpSpPr>
        <p:grpSpPr>
          <a:xfrm>
            <a:off x="975360" y="876663"/>
            <a:ext cx="9489440" cy="1477328"/>
            <a:chOff x="1178560" y="1239520"/>
            <a:chExt cx="9489440" cy="147732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F9C2A77-064A-C952-5119-43FBF811965B}"/>
                </a:ext>
              </a:extLst>
            </p:cNvPr>
            <p:cNvSpPr txBox="1"/>
            <p:nvPr/>
          </p:nvSpPr>
          <p:spPr>
            <a:xfrm>
              <a:off x="1178560" y="1239520"/>
              <a:ext cx="292608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问题引入</a:t>
              </a:r>
              <a:r>
                <a:rPr lang="en-US" altLang="zh-CN" dirty="0"/>
                <a:t>:</a:t>
              </a:r>
            </a:p>
            <a:p>
              <a:r>
                <a:rPr lang="en-US" altLang="zh-CN" dirty="0"/>
                <a:t>        1. </a:t>
              </a:r>
              <a:r>
                <a:rPr lang="zh-CN" altLang="en-US" dirty="0"/>
                <a:t>协调多模态感知</a:t>
              </a:r>
              <a:endParaRPr lang="en-US" altLang="zh-CN" dirty="0"/>
            </a:p>
            <a:p>
              <a:r>
                <a:rPr lang="en-US" altLang="zh-CN" dirty="0"/>
                <a:t>        2. </a:t>
              </a:r>
              <a:r>
                <a:rPr lang="zh-CN" altLang="en-US" dirty="0"/>
                <a:t>管理物理接触动态</a:t>
              </a:r>
              <a:endParaRPr lang="en-US" altLang="zh-CN" dirty="0"/>
            </a:p>
            <a:p>
              <a:r>
                <a:rPr lang="en-US" altLang="zh-CN" dirty="0"/>
                <a:t>        3. </a:t>
              </a:r>
              <a:r>
                <a:rPr lang="zh-CN" altLang="en-US" dirty="0"/>
                <a:t>处理环境配置</a:t>
              </a:r>
              <a:endParaRPr lang="en-US" altLang="zh-CN" dirty="0"/>
            </a:p>
            <a:p>
              <a:r>
                <a:rPr lang="en-US" altLang="zh-CN" dirty="0"/>
                <a:t>        4. </a:t>
              </a:r>
              <a:r>
                <a:rPr lang="zh-CN" altLang="en-US" dirty="0"/>
                <a:t>执行失败</a:t>
              </a:r>
            </a:p>
          </p:txBody>
        </p:sp>
        <p:sp>
          <p:nvSpPr>
            <p:cNvPr id="4" name="右大括号 3">
              <a:extLst>
                <a:ext uri="{FF2B5EF4-FFF2-40B4-BE49-F238E27FC236}">
                  <a16:creationId xmlns:a16="http://schemas.microsoft.com/office/drawing/2014/main" id="{7E15B51F-99EA-2427-2307-9AB97E3329CF}"/>
                </a:ext>
              </a:extLst>
            </p:cNvPr>
            <p:cNvSpPr/>
            <p:nvPr/>
          </p:nvSpPr>
          <p:spPr>
            <a:xfrm>
              <a:off x="4257040" y="1503680"/>
              <a:ext cx="101600" cy="1213168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FC2519D6-5E95-4B39-B6AD-8A83C0795E99}"/>
                </a:ext>
              </a:extLst>
            </p:cNvPr>
            <p:cNvCxnSpPr/>
            <p:nvPr/>
          </p:nvCxnSpPr>
          <p:spPr>
            <a:xfrm>
              <a:off x="4551680" y="2103120"/>
              <a:ext cx="19608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D90F4CA-AE48-9B61-BFFB-E48B704F87D3}"/>
                </a:ext>
              </a:extLst>
            </p:cNvPr>
            <p:cNvSpPr txBox="1"/>
            <p:nvPr/>
          </p:nvSpPr>
          <p:spPr>
            <a:xfrm>
              <a:off x="4927600" y="1727199"/>
              <a:ext cx="1097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代码策略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669BB62-CE7B-A898-3A8B-B9B38D82A3DA}"/>
                </a:ext>
              </a:extLst>
            </p:cNvPr>
            <p:cNvSpPr txBox="1"/>
            <p:nvPr/>
          </p:nvSpPr>
          <p:spPr>
            <a:xfrm>
              <a:off x="6786880" y="1911849"/>
              <a:ext cx="904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Aspire</a:t>
              </a:r>
              <a:endParaRPr lang="zh-CN" altLang="en-US" dirty="0"/>
            </a:p>
          </p:txBody>
        </p:sp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D447F619-09AB-5FFD-A411-CAE908015F7D}"/>
                </a:ext>
              </a:extLst>
            </p:cNvPr>
            <p:cNvSpPr/>
            <p:nvPr/>
          </p:nvSpPr>
          <p:spPr>
            <a:xfrm>
              <a:off x="7792720" y="1371600"/>
              <a:ext cx="172720" cy="1345248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99C33FA-E1D6-BA7A-EC09-915C1AE7FA4D}"/>
                </a:ext>
              </a:extLst>
            </p:cNvPr>
            <p:cNvSpPr txBox="1"/>
            <p:nvPr/>
          </p:nvSpPr>
          <p:spPr>
            <a:xfrm>
              <a:off x="8280400" y="1634866"/>
              <a:ext cx="23876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zh-CN" altLang="en-US" dirty="0"/>
                <a:t>机器人执行引擎</a:t>
              </a:r>
              <a:endParaRPr lang="en-US" altLang="zh-CN" dirty="0"/>
            </a:p>
            <a:p>
              <a:pPr marL="342900" indent="-342900">
                <a:buAutoNum type="arabicPeriod"/>
              </a:pPr>
              <a:r>
                <a:rPr lang="zh-CN" altLang="en-US" dirty="0"/>
                <a:t>持续扩展的技能库</a:t>
              </a:r>
              <a:endParaRPr lang="en-US" altLang="zh-CN" dirty="0"/>
            </a:p>
            <a:p>
              <a:pPr marL="342900" indent="-342900">
                <a:buAutoNum type="arabicPeriod"/>
              </a:pPr>
              <a:r>
                <a:rPr lang="zh-CN" altLang="en-US" dirty="0"/>
                <a:t>渐近式搜索策略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FD8F8A4-8AF5-1FB5-3265-B3D0DE3835ED}"/>
              </a:ext>
            </a:extLst>
          </p:cNvPr>
          <p:cNvSpPr txBox="1"/>
          <p:nvPr/>
        </p:nvSpPr>
        <p:spPr>
          <a:xfrm>
            <a:off x="873760" y="2877677"/>
            <a:ext cx="4505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核心问题</a:t>
            </a:r>
            <a:r>
              <a:rPr lang="en-US" altLang="zh-CN" dirty="0"/>
              <a:t>: </a:t>
            </a:r>
            <a:r>
              <a:rPr lang="zh-CN" altLang="en-US" dirty="0"/>
              <a:t>传统代码策略无法有效地获得错误信息，进行错误修正。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我们的目的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1. </a:t>
            </a:r>
            <a:r>
              <a:rPr lang="zh-CN" altLang="en-US" dirty="0"/>
              <a:t>智能体不仅仅能够执行任务，也要能够正确地，低消耗地修正错误。</a:t>
            </a:r>
            <a:endParaRPr lang="en-US" altLang="zh-CN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95E55D8-1989-9732-1BE2-CAA83D7A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680" y="2523808"/>
            <a:ext cx="6191568" cy="37911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455B4D6-9D6C-762B-49AB-78A6E9A853B8}"/>
              </a:ext>
            </a:extLst>
          </p:cNvPr>
          <p:cNvSpPr txBox="1"/>
          <p:nvPr/>
        </p:nvSpPr>
        <p:spPr>
          <a:xfrm>
            <a:off x="873760" y="5058007"/>
            <a:ext cx="4185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主要问题的解决核心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将错误反馈的粒度进行细化，从结果反馈到执行原语级别反馈。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17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9684154B-77F4-480D-CD13-70F6765D1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37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E330DA8-DDAE-4FF2-71B3-94E0E27EDC33}"/>
              </a:ext>
            </a:extLst>
          </p:cNvPr>
          <p:cNvSpPr txBox="1"/>
          <p:nvPr/>
        </p:nvSpPr>
        <p:spPr>
          <a:xfrm>
            <a:off x="518160" y="375920"/>
            <a:ext cx="3769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机器人执行引擎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59DE8D-B0D3-6069-425B-9862AD765EE7}"/>
              </a:ext>
            </a:extLst>
          </p:cNvPr>
          <p:cNvSpPr txBox="1"/>
          <p:nvPr/>
        </p:nvSpPr>
        <p:spPr>
          <a:xfrm>
            <a:off x="1320800" y="1178560"/>
            <a:ext cx="790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作用核心概括</a:t>
            </a:r>
            <a:r>
              <a:rPr lang="en-US" altLang="zh-CN" dirty="0"/>
              <a:t>: </a:t>
            </a:r>
            <a:r>
              <a:rPr lang="zh-CN" altLang="en-US" dirty="0"/>
              <a:t>执行代码 </a:t>
            </a:r>
            <a:r>
              <a:rPr lang="en-US" altLang="zh-CN" dirty="0"/>
              <a:t>+ </a:t>
            </a:r>
            <a:r>
              <a:rPr lang="zh-CN" altLang="en-US" dirty="0"/>
              <a:t>原语级别的结构化多模态踪迹记录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06E35F-1DD5-B260-3419-97C82E4D2926}"/>
              </a:ext>
            </a:extLst>
          </p:cNvPr>
          <p:cNvSpPr txBox="1"/>
          <p:nvPr/>
        </p:nvSpPr>
        <p:spPr>
          <a:xfrm>
            <a:off x="1320800" y="1644134"/>
            <a:ext cx="976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多模态数据包括：视觉图像，执行状态和返回值，空间几何与物理计算坐标，时间数据。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CFCE5C-63C1-4348-C1B3-B81AC72A3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2109708"/>
            <a:ext cx="8351520" cy="41810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BB25B10-D08E-5BF2-F72E-CDC2B083764F}"/>
              </a:ext>
            </a:extLst>
          </p:cNvPr>
          <p:cNvSpPr txBox="1"/>
          <p:nvPr/>
        </p:nvSpPr>
        <p:spPr>
          <a:xfrm>
            <a:off x="9011920" y="3276885"/>
            <a:ext cx="284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为什么不把所有原语的轨迹都给模型呢？</a:t>
            </a:r>
            <a:endParaRPr lang="en-US" altLang="zh-CN" dirty="0"/>
          </a:p>
          <a:p>
            <a:r>
              <a:rPr lang="zh-CN" altLang="en-US" dirty="0"/>
              <a:t>       和和稀泥一样！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846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A64F174-245A-8A47-7469-086566FD0E89}"/>
              </a:ext>
            </a:extLst>
          </p:cNvPr>
          <p:cNvSpPr txBox="1"/>
          <p:nvPr/>
        </p:nvSpPr>
        <p:spPr>
          <a:xfrm>
            <a:off x="538480" y="396240"/>
            <a:ext cx="3088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持续化技能库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900EA3-4E5B-23F2-BAA2-7EA25020D085}"/>
              </a:ext>
            </a:extLst>
          </p:cNvPr>
          <p:cNvSpPr txBox="1"/>
          <p:nvPr/>
        </p:nvSpPr>
        <p:spPr>
          <a:xfrm>
            <a:off x="1249680" y="1137920"/>
            <a:ext cx="730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作用</a:t>
            </a:r>
            <a:r>
              <a:rPr lang="en-US" altLang="zh-CN" dirty="0"/>
              <a:t>:</a:t>
            </a:r>
            <a:r>
              <a:rPr lang="zh-CN" altLang="en-US" dirty="0"/>
              <a:t>总结错误经验，然后写入文件，存储。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014F70-DE48-0B0D-499E-B445C2D825A1}"/>
              </a:ext>
            </a:extLst>
          </p:cNvPr>
          <p:cNvSpPr txBox="1"/>
          <p:nvPr/>
        </p:nvSpPr>
        <p:spPr>
          <a:xfrm>
            <a:off x="5913120" y="11379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heterogeneous </a:t>
            </a:r>
            <a:r>
              <a:rPr lang="en-US" altLang="zh-CN" dirty="0"/>
              <a:t>knowledge – </a:t>
            </a:r>
            <a:r>
              <a:rPr lang="zh-CN" altLang="en-US" dirty="0"/>
              <a:t>异质知识</a:t>
            </a:r>
            <a:r>
              <a:rPr lang="en-US" altLang="zh-CN" dirty="0"/>
              <a:t>)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B9A370-34BC-F4BA-7807-DC0BF294D269}"/>
              </a:ext>
            </a:extLst>
          </p:cNvPr>
          <p:cNvSpPr txBox="1"/>
          <p:nvPr/>
        </p:nvSpPr>
        <p:spPr>
          <a:xfrm>
            <a:off x="1249680" y="1602601"/>
            <a:ext cx="2194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知识包含啥</a:t>
            </a:r>
            <a:r>
              <a:rPr lang="en-US" altLang="zh-CN" dirty="0"/>
              <a:t>?</a:t>
            </a:r>
          </a:p>
          <a:p>
            <a:r>
              <a:rPr lang="en-US" altLang="zh-CN" dirty="0"/>
              <a:t>        1. </a:t>
            </a:r>
            <a:r>
              <a:rPr lang="zh-CN" altLang="en-US" dirty="0"/>
              <a:t>错误特征</a:t>
            </a:r>
            <a:endParaRPr lang="en-US" altLang="zh-CN" dirty="0"/>
          </a:p>
          <a:p>
            <a:r>
              <a:rPr lang="en-US" altLang="zh-CN" dirty="0"/>
              <a:t>        2. </a:t>
            </a:r>
            <a:r>
              <a:rPr lang="zh-CN" altLang="en-US" dirty="0"/>
              <a:t>应用时刻</a:t>
            </a:r>
            <a:endParaRPr lang="en-US" altLang="zh-CN" dirty="0"/>
          </a:p>
          <a:p>
            <a:r>
              <a:rPr lang="en-US" altLang="zh-CN" dirty="0"/>
              <a:t>        3. </a:t>
            </a:r>
            <a:r>
              <a:rPr lang="zh-CN" altLang="en-US" dirty="0"/>
              <a:t>修复策略</a:t>
            </a:r>
            <a:endParaRPr lang="en-US" altLang="zh-CN" dirty="0"/>
          </a:p>
          <a:p>
            <a:r>
              <a:rPr lang="en-US" altLang="zh-CN" dirty="0"/>
              <a:t>        4. </a:t>
            </a:r>
            <a:r>
              <a:rPr lang="zh-CN" altLang="en-US" dirty="0"/>
              <a:t>代码草图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6609D3C-1E85-2678-C72A-0E04A12CC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261" y="1602600"/>
            <a:ext cx="6589059" cy="217547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6BABDB1-425C-B03D-A6AF-FC93901167B1}"/>
              </a:ext>
            </a:extLst>
          </p:cNvPr>
          <p:cNvSpPr txBox="1"/>
          <p:nvPr/>
        </p:nvSpPr>
        <p:spPr>
          <a:xfrm>
            <a:off x="1320800" y="4511040"/>
            <a:ext cx="962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</a:t>
            </a:r>
            <a:r>
              <a:rPr lang="en-US" altLang="zh-CN" dirty="0"/>
              <a:t>Uni – skill </a:t>
            </a:r>
            <a:r>
              <a:rPr lang="zh-CN" altLang="en-US" dirty="0"/>
              <a:t>不同，他这个技能并不具备泛化作用，更多地是提供错误解决方案。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3197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CC92EC-F01F-F6DB-4C97-0B2E54117F8C}"/>
              </a:ext>
            </a:extLst>
          </p:cNvPr>
          <p:cNvSpPr txBox="1"/>
          <p:nvPr/>
        </p:nvSpPr>
        <p:spPr>
          <a:xfrm>
            <a:off x="508000" y="447040"/>
            <a:ext cx="2042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进化搜索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78B8CE-B0C8-3C4C-B8BC-D1AE31D75429}"/>
              </a:ext>
            </a:extLst>
          </p:cNvPr>
          <p:cNvSpPr txBox="1"/>
          <p:nvPr/>
        </p:nvSpPr>
        <p:spPr>
          <a:xfrm>
            <a:off x="1625600" y="1300480"/>
            <a:ext cx="834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作用</a:t>
            </a:r>
            <a:r>
              <a:rPr lang="en-US" altLang="zh-CN" dirty="0"/>
              <a:t>: </a:t>
            </a:r>
            <a:r>
              <a:rPr lang="zh-CN" altLang="en-US" dirty="0"/>
              <a:t>多尝试方案 替代 单一方案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AC927D-FF8B-A81C-CA8D-4193B9A06E5E}"/>
              </a:ext>
            </a:extLst>
          </p:cNvPr>
          <p:cNvSpPr txBox="1"/>
          <p:nvPr/>
        </p:nvSpPr>
        <p:spPr>
          <a:xfrm>
            <a:off x="1625600" y="1876921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具体代码</a:t>
            </a:r>
            <a:r>
              <a:rPr lang="en-US" altLang="zh-CN" dirty="0"/>
              <a:t>: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C343A9-DACB-10BC-61E2-0F67A7457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2312293"/>
            <a:ext cx="9184640" cy="395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2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6CFBF58-BB3A-1D3A-2805-CEA04D25F122}"/>
              </a:ext>
            </a:extLst>
          </p:cNvPr>
          <p:cNvSpPr txBox="1"/>
          <p:nvPr/>
        </p:nvSpPr>
        <p:spPr>
          <a:xfrm>
            <a:off x="523240" y="396240"/>
            <a:ext cx="157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局限性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A26E4D-0C3E-6421-2F30-0A191E2EAB54}"/>
              </a:ext>
            </a:extLst>
          </p:cNvPr>
          <p:cNvSpPr txBox="1"/>
          <p:nvPr/>
        </p:nvSpPr>
        <p:spPr>
          <a:xfrm>
            <a:off x="1310640" y="1361440"/>
            <a:ext cx="9113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无法在真实环境下进行自主学习。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方法依赖固定的大语言模型 </a:t>
            </a:r>
            <a:r>
              <a:rPr lang="en-US" altLang="zh-CN" dirty="0"/>
              <a:t>(</a:t>
            </a:r>
            <a:r>
              <a:rPr lang="zh-CN" altLang="en-US" dirty="0"/>
              <a:t>比如拥有</a:t>
            </a:r>
            <a:r>
              <a:rPr lang="en-US" altLang="zh-CN" dirty="0"/>
              <a:t>1M</a:t>
            </a:r>
            <a:r>
              <a:rPr lang="zh-CN" altLang="en-US" dirty="0"/>
              <a:t>上下文窗口的</a:t>
            </a:r>
            <a:r>
              <a:rPr lang="en-US" altLang="zh-CN" dirty="0" err="1"/>
              <a:t>claude</a:t>
            </a:r>
            <a:r>
              <a:rPr lang="en-US" altLang="zh-CN" dirty="0"/>
              <a:t> opus</a:t>
            </a:r>
            <a:r>
              <a:rPr lang="zh-CN" altLang="en-US" dirty="0"/>
              <a:t>模型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使用预定义的原语，无法扩展原语。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技能库的存储管理。</a:t>
            </a:r>
          </a:p>
        </p:txBody>
      </p:sp>
    </p:spTree>
    <p:extLst>
      <p:ext uri="{BB962C8B-B14F-4D97-AF65-F5344CB8AC3E}">
        <p14:creationId xmlns:p14="http://schemas.microsoft.com/office/powerpoint/2010/main" val="1059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2068A0D-B2A3-5A48-B22D-51464F5FDFEB}"/>
              </a:ext>
            </a:extLst>
          </p:cNvPr>
          <p:cNvSpPr txBox="1"/>
          <p:nvPr/>
        </p:nvSpPr>
        <p:spPr>
          <a:xfrm>
            <a:off x="1066800" y="1554480"/>
            <a:ext cx="10332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 err="1">
                <a:solidFill>
                  <a:schemeClr val="tx2"/>
                </a:solidFill>
              </a:rPr>
              <a:t>GaP</a:t>
            </a:r>
            <a:r>
              <a:rPr dirty="0">
                <a:solidFill>
                  <a:schemeClr val="tx2"/>
                </a:solidFill>
              </a:rPr>
              <a:t>: A Graph-as-Policy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40F6194-03BE-8B9E-BE01-594A12975848}"/>
              </a:ext>
            </a:extLst>
          </p:cNvPr>
          <p:cNvSpPr txBox="1"/>
          <p:nvPr/>
        </p:nvSpPr>
        <p:spPr>
          <a:xfrm>
            <a:off x="914400" y="256032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Multi-Agent Self-Learning Framework for Agentic Robotics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09124AA-3ACD-023D-5A8F-7C3ABC4AD16D}"/>
              </a:ext>
            </a:extLst>
          </p:cNvPr>
          <p:cNvSpPr txBox="1"/>
          <p:nvPr/>
        </p:nvSpPr>
        <p:spPr>
          <a:xfrm>
            <a:off x="1371600" y="3931920"/>
            <a:ext cx="941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用 LLM/VLM 多智能体自动生成、仿真优化机器人计算图</a:t>
            </a:r>
          </a:p>
        </p:txBody>
      </p:sp>
    </p:spTree>
    <p:extLst>
      <p:ext uri="{BB962C8B-B14F-4D97-AF65-F5344CB8AC3E}">
        <p14:creationId xmlns:p14="http://schemas.microsoft.com/office/powerpoint/2010/main" val="389752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53C12D4-5BF8-BDDD-1794-470D4391F58D}"/>
              </a:ext>
            </a:extLst>
          </p:cNvPr>
          <p:cNvSpPr txBox="1"/>
          <p:nvPr/>
        </p:nvSpPr>
        <p:spPr>
          <a:xfrm>
            <a:off x="731520" y="274320"/>
            <a:ext cx="5288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8C00"/>
                </a:solidFill>
                <a:latin typeface="Calibri"/>
              </a:defRPr>
            </a:pPr>
            <a:r>
              <a:rPr dirty="0"/>
              <a:t>01  Background &amp; Motivation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57BE088-26E3-937E-059E-BD0CEC9C137D}"/>
              </a:ext>
            </a:extLst>
          </p:cNvPr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4369B1AC-5E80-8878-4B2B-752DC10030E8}"/>
              </a:ext>
            </a:extLst>
          </p:cNvPr>
          <p:cNvSpPr/>
          <p:nvPr/>
        </p:nvSpPr>
        <p:spPr>
          <a:xfrm>
            <a:off x="731520" y="1188720"/>
            <a:ext cx="5120640" cy="50292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1A9A01A-0C62-2623-03F6-D3EE09BE6187}"/>
              </a:ext>
            </a:extLst>
          </p:cNvPr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Calibri"/>
              </a:defRPr>
            </a:pPr>
            <a:r>
              <a:rPr dirty="0" err="1"/>
              <a:t>核心挑战</a:t>
            </a:r>
            <a:endParaRPr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14943F0-3108-E21D-926D-4A1637FEAA22}"/>
              </a:ext>
            </a:extLst>
          </p:cNvPr>
          <p:cNvSpPr txBox="1"/>
          <p:nvPr/>
        </p:nvSpPr>
        <p:spPr>
          <a:xfrm>
            <a:off x="1005840" y="2011680"/>
            <a:ext cx="475488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rPr sz="2000" dirty="0" err="1"/>
              <a:t>工业</a:t>
            </a:r>
            <a:r>
              <a:rPr sz="2000" dirty="0"/>
              <a:t>/</a:t>
            </a:r>
            <a:r>
              <a:rPr sz="2000" dirty="0" err="1"/>
              <a:t>商业机器人需要可靠的自动化操作</a:t>
            </a:r>
            <a:endParaRPr sz="2000" dirty="0"/>
          </a:p>
          <a:p>
            <a:pPr>
              <a:spcAft>
                <a:spcPts val="12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rPr sz="2000" dirty="0" err="1"/>
              <a:t>传统方法：固定自动化</a:t>
            </a:r>
            <a:r>
              <a:rPr sz="2000" dirty="0"/>
              <a:t> + </a:t>
            </a:r>
            <a:r>
              <a:rPr sz="2000" dirty="0" err="1"/>
              <a:t>人工调参</a:t>
            </a:r>
            <a:r>
              <a:rPr sz="2000" dirty="0"/>
              <a:t> (</a:t>
            </a:r>
            <a:r>
              <a:rPr sz="2000" dirty="0" err="1"/>
              <a:t>费时费力</a:t>
            </a:r>
            <a:r>
              <a:rPr sz="2000" dirty="0"/>
              <a:t>)</a:t>
            </a:r>
          </a:p>
          <a:p>
            <a:pPr>
              <a:spcAft>
                <a:spcPts val="12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rPr sz="2000" dirty="0" err="1"/>
              <a:t>端到端</a:t>
            </a:r>
            <a:r>
              <a:rPr sz="2000" dirty="0"/>
              <a:t> VLA </a:t>
            </a:r>
            <a:r>
              <a:rPr sz="2000" dirty="0" err="1"/>
              <a:t>模型：泛化能力有限，难以扩展到长序列任务</a:t>
            </a:r>
            <a:endParaRPr sz="2000" dirty="0"/>
          </a:p>
          <a:p>
            <a:pPr>
              <a:spcAft>
                <a:spcPts val="12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rPr sz="2000" dirty="0"/>
              <a:t>Code-as-Policy (</a:t>
            </a:r>
            <a:r>
              <a:rPr sz="2000" dirty="0" err="1"/>
              <a:t>CaP</a:t>
            </a:r>
            <a:r>
              <a:rPr sz="2000" dirty="0"/>
              <a:t>)：</a:t>
            </a:r>
            <a:r>
              <a:rPr sz="2000" dirty="0" err="1"/>
              <a:t>依赖手工编码技能接口</a:t>
            </a:r>
            <a:endParaRPr sz="2000" dirty="0"/>
          </a:p>
          <a:p>
            <a:pPr>
              <a:spcAft>
                <a:spcPts val="12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rPr sz="2000" dirty="0" err="1"/>
              <a:t>关键问题：如何让机器人自主生成可复用的计算图</a:t>
            </a:r>
            <a:r>
              <a:rPr sz="2000" dirty="0"/>
              <a:t>？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AF2253D3-A48A-CA71-7410-6E6836DC7558}"/>
              </a:ext>
            </a:extLst>
          </p:cNvPr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45B8B93-1FD3-80A5-F91D-95C16D506E41}"/>
              </a:ext>
            </a:extLst>
          </p:cNvPr>
          <p:cNvSpPr txBox="1"/>
          <p:nvPr/>
        </p:nvSpPr>
        <p:spPr>
          <a:xfrm>
            <a:off x="64922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Calibri"/>
              </a:defRPr>
            </a:pPr>
            <a:r>
              <a:t>GaP 的核心思想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11C9B28-2082-F0A3-26B6-0BA2C066441E}"/>
              </a:ext>
            </a:extLst>
          </p:cNvPr>
          <p:cNvSpPr txBox="1"/>
          <p:nvPr/>
        </p:nvSpPr>
        <p:spPr>
          <a:xfrm>
            <a:off x="6492240" y="2011680"/>
            <a:ext cx="47548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rPr sz="2000" dirty="0" err="1"/>
              <a:t>将机器人策略</a:t>
            </a:r>
            <a:r>
              <a:rPr sz="2000" dirty="0"/>
              <a:t> π(</a:t>
            </a:r>
            <a:r>
              <a:rPr sz="2000" dirty="0" err="1"/>
              <a:t>a|x</a:t>
            </a:r>
            <a:r>
              <a:rPr sz="2000" dirty="0"/>
              <a:t>, T) </a:t>
            </a:r>
            <a:r>
              <a:rPr sz="2000" dirty="0" err="1"/>
              <a:t>表示为有向计算图</a:t>
            </a:r>
            <a:r>
              <a:rPr sz="2000" dirty="0"/>
              <a:t> G=(V,E)</a:t>
            </a:r>
          </a:p>
          <a:p>
            <a:pPr>
              <a:spcAft>
                <a:spcPts val="12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rPr sz="2000" dirty="0" err="1"/>
              <a:t>图节点</a:t>
            </a:r>
            <a:r>
              <a:rPr sz="2000" dirty="0"/>
              <a:t> = </a:t>
            </a:r>
            <a:r>
              <a:rPr sz="2000" dirty="0" err="1"/>
              <a:t>功能性操作原语（感知、规划、控制</a:t>
            </a:r>
            <a:r>
              <a:rPr sz="2000" dirty="0"/>
              <a:t>）</a:t>
            </a:r>
          </a:p>
          <a:p>
            <a:pPr>
              <a:spcAft>
                <a:spcPts val="12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rPr sz="2000" dirty="0" err="1"/>
              <a:t>利用</a:t>
            </a:r>
            <a:r>
              <a:rPr sz="2000" dirty="0"/>
              <a:t> LLM/VLM </a:t>
            </a:r>
            <a:r>
              <a:rPr sz="2000" dirty="0" err="1"/>
              <a:t>多智能体自动生成计算图</a:t>
            </a:r>
            <a:endParaRPr sz="2000" dirty="0"/>
          </a:p>
          <a:p>
            <a:pPr>
              <a:spcAft>
                <a:spcPts val="12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rPr sz="2000" dirty="0" err="1"/>
              <a:t>在仿真中自学习（</a:t>
            </a:r>
            <a:r>
              <a:rPr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rehearsal</a:t>
            </a:r>
            <a:r>
              <a:rPr sz="2000" dirty="0" err="1"/>
              <a:t>）迭代优化</a:t>
            </a:r>
            <a:endParaRPr sz="2000" dirty="0"/>
          </a:p>
          <a:p>
            <a:pPr>
              <a:spcAft>
                <a:spcPts val="12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rPr sz="2000" dirty="0" err="1"/>
              <a:t>从自然语言</a:t>
            </a:r>
            <a:r>
              <a:rPr sz="2000" dirty="0"/>
              <a:t> → </a:t>
            </a:r>
            <a:r>
              <a:rPr sz="2000" dirty="0" err="1"/>
              <a:t>可执行机器人程序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10307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923C55B-CF69-FEBF-A288-75E4346A3106}"/>
              </a:ext>
            </a:extLst>
          </p:cNvPr>
          <p:cNvSpPr txBox="1"/>
          <p:nvPr/>
        </p:nvSpPr>
        <p:spPr>
          <a:xfrm>
            <a:off x="731520" y="274320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BB86FC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02  论文贡献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1C5888C-80B6-3445-4594-F423F7F62FF0}"/>
              </a:ext>
            </a:extLst>
          </p:cNvPr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/>
              </a:solidFill>
            </a:endParaRP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D6A00FA3-CC3B-D994-6C51-565828BC1569}"/>
              </a:ext>
            </a:extLst>
          </p:cNvPr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0C17E75-BDE2-430B-DAD0-941E1BBA2C50}"/>
              </a:ext>
            </a:extLst>
          </p:cNvPr>
          <p:cNvSpPr txBox="1"/>
          <p:nvPr/>
        </p:nvSpPr>
        <p:spPr>
          <a:xfrm>
            <a:off x="1554480" y="1188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仿真基准集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B8CD555-2A31-6FDB-3035-678D37AD083A}"/>
              </a:ext>
            </a:extLst>
          </p:cNvPr>
          <p:cNvSpPr txBox="1"/>
          <p:nvPr/>
        </p:nvSpPr>
        <p:spPr>
          <a:xfrm>
            <a:off x="1554480" y="1536192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5 </a:t>
            </a:r>
            <a:r>
              <a:rPr dirty="0" err="1">
                <a:solidFill>
                  <a:schemeClr val="tx2"/>
                </a:solidFill>
              </a:rPr>
              <a:t>个机器人操作基准</a:t>
            </a:r>
            <a:r>
              <a:rPr dirty="0">
                <a:solidFill>
                  <a:schemeClr val="tx2"/>
                </a:solidFill>
              </a:rPr>
              <a:t> + 4 </a:t>
            </a:r>
            <a:r>
              <a:rPr dirty="0" err="1">
                <a:solidFill>
                  <a:schemeClr val="tx2"/>
                </a:solidFill>
              </a:rPr>
              <a:t>个工业</a:t>
            </a:r>
            <a:r>
              <a:rPr dirty="0">
                <a:solidFill>
                  <a:schemeClr val="tx2"/>
                </a:solidFill>
              </a:rPr>
              <a:t>/</a:t>
            </a:r>
            <a:r>
              <a:rPr dirty="0" err="1">
                <a:solidFill>
                  <a:schemeClr val="tx2"/>
                </a:solidFill>
              </a:rPr>
              <a:t>商业子任务，含</a:t>
            </a:r>
            <a:r>
              <a:rPr dirty="0">
                <a:solidFill>
                  <a:schemeClr val="tx2"/>
                </a:solidFill>
              </a:rPr>
              <a:t> LIBERO-object, basket swap, grocery 等</a:t>
            </a:r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E727BA15-2B69-CD51-CB46-6C2BCF19F6B9}"/>
              </a:ext>
            </a:extLst>
          </p:cNvPr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E09B0C2-D1B9-45F8-2826-1D4386F2060D}"/>
              </a:ext>
            </a:extLst>
          </p:cNvPr>
          <p:cNvSpPr txBox="1"/>
          <p:nvPr/>
        </p:nvSpPr>
        <p:spPr>
          <a:xfrm>
            <a:off x="1554480" y="2240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计算图结构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28E7524-1944-BFAD-E95D-BAC687029B49}"/>
              </a:ext>
            </a:extLst>
          </p:cNvPr>
          <p:cNvSpPr txBox="1"/>
          <p:nvPr/>
        </p:nvSpPr>
        <p:spPr>
          <a:xfrm>
            <a:off x="1554480" y="2587752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 err="1">
                <a:solidFill>
                  <a:schemeClr val="tx2"/>
                </a:solidFill>
              </a:rPr>
              <a:t>提出有向计算图作为</a:t>
            </a:r>
            <a:r>
              <a:rPr dirty="0">
                <a:solidFill>
                  <a:schemeClr val="tx2"/>
                </a:solidFill>
              </a:rPr>
              <a:t> agentic robotics </a:t>
            </a:r>
            <a:r>
              <a:rPr dirty="0" err="1">
                <a:solidFill>
                  <a:schemeClr val="tx2"/>
                </a:solidFill>
              </a:rPr>
              <a:t>的策略表示，支持模块化、复用、多智能体集成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71BA3648-2142-EE46-49A9-4CB65C669878}"/>
              </a:ext>
            </a:extLst>
          </p:cNvPr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7016A0B-5E08-29DD-592E-7204130126C3}"/>
              </a:ext>
            </a:extLst>
          </p:cNvPr>
          <p:cNvSpPr txBox="1"/>
          <p:nvPr/>
        </p:nvSpPr>
        <p:spPr>
          <a:xfrm>
            <a:off x="1554480" y="3291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GaP 框架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DCF66B0-7F1B-B255-D1F1-400988286B69}"/>
              </a:ext>
            </a:extLst>
          </p:cNvPr>
          <p:cNvSpPr txBox="1"/>
          <p:nvPr/>
        </p:nvSpPr>
        <p:spPr>
          <a:xfrm>
            <a:off x="1554480" y="3639312"/>
            <a:ext cx="101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 err="1">
                <a:solidFill>
                  <a:schemeClr val="tx2"/>
                </a:solidFill>
              </a:rPr>
              <a:t>多智能体编码框架，自动将自然语言分解并生成可执行的机器人计算图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93CBCCA0-33C3-DBCF-C2D7-5B3DD9176C41}"/>
              </a:ext>
            </a:extLst>
          </p:cNvPr>
          <p:cNvSpPr/>
          <p:nvPr/>
        </p:nvSpPr>
        <p:spPr>
          <a:xfrm>
            <a:off x="822960" y="4434839"/>
            <a:ext cx="502920" cy="50292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BC27BE0-0B82-CE19-0C30-EE76AD93A483}"/>
              </a:ext>
            </a:extLst>
          </p:cNvPr>
          <p:cNvSpPr txBox="1"/>
          <p:nvPr/>
        </p:nvSpPr>
        <p:spPr>
          <a:xfrm>
            <a:off x="1554480" y="434339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MORSL 技能库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CBE6954-D5EA-D11C-AC5E-2CDF5C8DE451}"/>
              </a:ext>
            </a:extLst>
          </p:cNvPr>
          <p:cNvSpPr txBox="1"/>
          <p:nvPr/>
        </p:nvSpPr>
        <p:spPr>
          <a:xfrm>
            <a:off x="1554480" y="4690871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Modular Open Robot Skill </a:t>
            </a:r>
            <a:r>
              <a:rPr dirty="0" err="1">
                <a:solidFill>
                  <a:schemeClr val="tx2"/>
                </a:solidFill>
              </a:rPr>
              <a:t>Library，初始</a:t>
            </a:r>
            <a:r>
              <a:rPr dirty="0">
                <a:solidFill>
                  <a:schemeClr val="tx2"/>
                </a:solidFill>
              </a:rPr>
              <a:t> 51 </a:t>
            </a:r>
            <a:r>
              <a:rPr dirty="0" err="1">
                <a:solidFill>
                  <a:schemeClr val="tx2"/>
                </a:solidFill>
              </a:rPr>
              <a:t>个技能（感知</a:t>
            </a:r>
            <a:r>
              <a:rPr dirty="0">
                <a:solidFill>
                  <a:schemeClr val="tx2"/>
                </a:solidFill>
              </a:rPr>
              <a:t>/</a:t>
            </a:r>
            <a:r>
              <a:rPr dirty="0" err="1">
                <a:solidFill>
                  <a:schemeClr val="tx2"/>
                </a:solidFill>
              </a:rPr>
              <a:t>规划</a:t>
            </a:r>
            <a:r>
              <a:rPr dirty="0">
                <a:solidFill>
                  <a:schemeClr val="tx2"/>
                </a:solidFill>
              </a:rPr>
              <a:t>/</a:t>
            </a:r>
            <a:r>
              <a:rPr dirty="0" err="1">
                <a:solidFill>
                  <a:schemeClr val="tx2"/>
                </a:solidFill>
              </a:rPr>
              <a:t>控制</a:t>
            </a:r>
            <a:r>
              <a:rPr dirty="0">
                <a:solidFill>
                  <a:schemeClr val="tx2"/>
                </a:solidFill>
              </a:rPr>
              <a:t>）</a:t>
            </a: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F975A402-FFCA-3FAA-F49F-B07202B1A047}"/>
              </a:ext>
            </a:extLst>
          </p:cNvPr>
          <p:cNvSpPr/>
          <p:nvPr/>
        </p:nvSpPr>
        <p:spPr>
          <a:xfrm>
            <a:off x="822960" y="5486400"/>
            <a:ext cx="502920" cy="50292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06BB635-C53F-0133-5B6F-BEA660590798}"/>
              </a:ext>
            </a:extLst>
          </p:cNvPr>
          <p:cNvSpPr txBox="1"/>
          <p:nvPr/>
        </p:nvSpPr>
        <p:spPr>
          <a:xfrm>
            <a:off x="1554480" y="5394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rPr>
                <a:solidFill>
                  <a:schemeClr val="tx2"/>
                </a:solidFill>
              </a:rPr>
              <a:t>自学习优化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9510868-BE07-418B-D698-1FA3190699D8}"/>
              </a:ext>
            </a:extLst>
          </p:cNvPr>
          <p:cNvSpPr txBox="1"/>
          <p:nvPr/>
        </p:nvSpPr>
        <p:spPr>
          <a:xfrm>
            <a:off x="1554480" y="5811230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 err="1">
                <a:solidFill>
                  <a:schemeClr val="tx2"/>
                </a:solidFill>
              </a:rPr>
              <a:t>基于仿真</a:t>
            </a:r>
            <a:r>
              <a:rPr dirty="0">
                <a:solidFill>
                  <a:schemeClr val="tx2"/>
                </a:solidFill>
              </a:rPr>
              <a:t> rehearsal </a:t>
            </a:r>
            <a:r>
              <a:rPr dirty="0" err="1">
                <a:solidFill>
                  <a:schemeClr val="tx2"/>
                </a:solidFill>
              </a:rPr>
              <a:t>的自学习算法，迭代提升成功率和吞吐量</a:t>
            </a:r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07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1800C45-4614-789F-0ADC-44B960A0724A}"/>
              </a:ext>
            </a:extLst>
          </p:cNvPr>
          <p:cNvSpPr txBox="1"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03  GaP 框架总览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28C1895-5198-4683-547C-A62553C1FBDA}"/>
              </a:ext>
            </a:extLst>
          </p:cNvPr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6971C32-6755-9863-AB36-F5DE565010E8}"/>
              </a:ext>
            </a:extLst>
          </p:cNvPr>
          <p:cNvGrpSpPr/>
          <p:nvPr/>
        </p:nvGrpSpPr>
        <p:grpSpPr>
          <a:xfrm>
            <a:off x="594358" y="1371600"/>
            <a:ext cx="10927080" cy="1280160"/>
            <a:chOff x="640080" y="2286000"/>
            <a:chExt cx="10927080" cy="1280160"/>
          </a:xfrm>
        </p:grpSpPr>
        <p:sp>
          <p:nvSpPr>
            <p:cNvPr id="4" name="Rounded Rectangle 4">
              <a:extLst>
                <a:ext uri="{FF2B5EF4-FFF2-40B4-BE49-F238E27FC236}">
                  <a16:creationId xmlns:a16="http://schemas.microsoft.com/office/drawing/2014/main" id="{C34DA5DA-498A-9173-565E-6C6750B71F99}"/>
                </a:ext>
              </a:extLst>
            </p:cNvPr>
            <p:cNvSpPr/>
            <p:nvPr/>
          </p:nvSpPr>
          <p:spPr>
            <a:xfrm>
              <a:off x="640080" y="2286000"/>
              <a:ext cx="1554480" cy="1280160"/>
            </a:xfrm>
            <a:prstGeom prst="roundRect">
              <a:avLst/>
            </a:prstGeom>
            <a:solidFill>
              <a:srgbClr val="222B45"/>
            </a:solidFill>
            <a:ln w="25400">
              <a:solidFill>
                <a:srgbClr val="00D2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00D2FF"/>
                  </a:solidFill>
                  <a:latin typeface="Calibri"/>
                </a:defRPr>
              </a:pP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自然语言</a:t>
              </a:r>
              <a:b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任务描述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DAA0D48-6E31-FAE8-BA8D-F48013E55309}"/>
                </a:ext>
              </a:extLst>
            </p:cNvPr>
            <p:cNvSpPr txBox="1"/>
            <p:nvPr/>
          </p:nvSpPr>
          <p:spPr>
            <a:xfrm>
              <a:off x="2240280" y="2606040"/>
              <a:ext cx="2743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CCCCCC"/>
                  </a:solidFill>
                  <a:latin typeface="Calibri"/>
                </a:defRPr>
              </a:pP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→</a:t>
              </a:r>
            </a:p>
          </p:txBody>
        </p:sp>
        <p:sp>
          <p:nvSpPr>
            <p:cNvPr id="6" name="Rounded Rectangle 6">
              <a:extLst>
                <a:ext uri="{FF2B5EF4-FFF2-40B4-BE49-F238E27FC236}">
                  <a16:creationId xmlns:a16="http://schemas.microsoft.com/office/drawing/2014/main" id="{6869FEB8-FC8F-A5C4-A918-9E39760B4D9A}"/>
                </a:ext>
              </a:extLst>
            </p:cNvPr>
            <p:cNvSpPr/>
            <p:nvPr/>
          </p:nvSpPr>
          <p:spPr>
            <a:xfrm>
              <a:off x="2514600" y="2286000"/>
              <a:ext cx="1554480" cy="1280160"/>
            </a:xfrm>
            <a:prstGeom prst="roundRect">
              <a:avLst/>
            </a:prstGeom>
            <a:solidFill>
              <a:srgbClr val="222B45"/>
            </a:solidFill>
            <a:ln w="25400">
              <a:solidFill>
                <a:srgbClr val="00E6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00E696"/>
                  </a:solidFill>
                  <a:latin typeface="Calibri"/>
                </a:defRPr>
              </a:pP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多智能体</a:t>
              </a:r>
              <a:b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规划分解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19C3CB1-2F0D-755E-9027-639746A54DAA}"/>
                </a:ext>
              </a:extLst>
            </p:cNvPr>
            <p:cNvSpPr txBox="1"/>
            <p:nvPr/>
          </p:nvSpPr>
          <p:spPr>
            <a:xfrm>
              <a:off x="4114800" y="2606040"/>
              <a:ext cx="2743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CCCCCC"/>
                  </a:solidFill>
                  <a:latin typeface="Calibri"/>
                </a:defRPr>
              </a:pP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→</a:t>
              </a:r>
            </a:p>
          </p:txBody>
        </p:sp>
        <p:sp>
          <p:nvSpPr>
            <p:cNvPr id="8" name="Rounded Rectangle 8">
              <a:extLst>
                <a:ext uri="{FF2B5EF4-FFF2-40B4-BE49-F238E27FC236}">
                  <a16:creationId xmlns:a16="http://schemas.microsoft.com/office/drawing/2014/main" id="{4C2D7686-B796-D356-F79D-E936E74EAD95}"/>
                </a:ext>
              </a:extLst>
            </p:cNvPr>
            <p:cNvSpPr/>
            <p:nvPr/>
          </p:nvSpPr>
          <p:spPr>
            <a:xfrm>
              <a:off x="4389120" y="2286000"/>
              <a:ext cx="1554480" cy="1280160"/>
            </a:xfrm>
            <a:prstGeom prst="roundRect">
              <a:avLst/>
            </a:prstGeom>
            <a:solidFill>
              <a:srgbClr val="222B45"/>
            </a:solidFill>
            <a:ln w="25400">
              <a:solidFill>
                <a:srgbClr val="BB86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BB86FC"/>
                  </a:solidFill>
                  <a:latin typeface="Calibri"/>
                </a:defRPr>
              </a:pP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从 MORSL</a:t>
              </a:r>
              <a:b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匹配技能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AF72433-57F5-3B5C-D8A0-FE2C6176B2CF}"/>
                </a:ext>
              </a:extLst>
            </p:cNvPr>
            <p:cNvSpPr txBox="1"/>
            <p:nvPr/>
          </p:nvSpPr>
          <p:spPr>
            <a:xfrm>
              <a:off x="5989320" y="2606040"/>
              <a:ext cx="2743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CCCCCC"/>
                  </a:solidFill>
                  <a:latin typeface="Calibri"/>
                </a:defRPr>
              </a:pP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→</a:t>
              </a:r>
            </a:p>
          </p:txBody>
        </p:sp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9A8CFBA9-2D8F-0E81-31CD-665A74BC0129}"/>
                </a:ext>
              </a:extLst>
            </p:cNvPr>
            <p:cNvSpPr/>
            <p:nvPr/>
          </p:nvSpPr>
          <p:spPr>
            <a:xfrm>
              <a:off x="6263640" y="2286000"/>
              <a:ext cx="1554480" cy="1280160"/>
            </a:xfrm>
            <a:prstGeom prst="roundRect">
              <a:avLst/>
            </a:prstGeom>
            <a:solidFill>
              <a:srgbClr val="222B45"/>
            </a:solidFill>
            <a:ln w="25400">
              <a:solidFill>
                <a:srgbClr val="FF8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8C00"/>
                  </a:solidFill>
                  <a:latin typeface="Calibri"/>
                </a:defRPr>
              </a:pP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生成初始</a:t>
              </a:r>
              <a:b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计算图 G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531280E-B628-79D5-A52E-126D93F1D5BC}"/>
                </a:ext>
              </a:extLst>
            </p:cNvPr>
            <p:cNvSpPr txBox="1"/>
            <p:nvPr/>
          </p:nvSpPr>
          <p:spPr>
            <a:xfrm>
              <a:off x="7863840" y="2606040"/>
              <a:ext cx="2743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CCCCCC"/>
                  </a:solidFill>
                  <a:latin typeface="Calibri"/>
                </a:defRPr>
              </a:pP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→</a:t>
              </a:r>
            </a:p>
          </p:txBody>
        </p:sp>
        <p:sp>
          <p:nvSpPr>
            <p:cNvPr id="12" name="Rounded Rectangle 12">
              <a:extLst>
                <a:ext uri="{FF2B5EF4-FFF2-40B4-BE49-F238E27FC236}">
                  <a16:creationId xmlns:a16="http://schemas.microsoft.com/office/drawing/2014/main" id="{52823512-CBD4-3859-40FC-F0410E8566FF}"/>
                </a:ext>
              </a:extLst>
            </p:cNvPr>
            <p:cNvSpPr/>
            <p:nvPr/>
          </p:nvSpPr>
          <p:spPr>
            <a:xfrm>
              <a:off x="8138160" y="2286000"/>
              <a:ext cx="1554480" cy="1280160"/>
            </a:xfrm>
            <a:prstGeom prst="roundRect">
              <a:avLst/>
            </a:prstGeom>
            <a:solidFill>
              <a:srgbClr val="222B45"/>
            </a:solidFill>
            <a:ln w="25400">
              <a:solidFill>
                <a:srgbClr val="FFD7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D700"/>
                  </a:solidFill>
                  <a:latin typeface="Calibri"/>
                </a:defRPr>
              </a:pP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仿真 Rehearsal</a:t>
              </a:r>
              <a:b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自学习优化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9CC30D7-8F39-F74B-C2E5-3A09516D0694}"/>
                </a:ext>
              </a:extLst>
            </p:cNvPr>
            <p:cNvSpPr txBox="1"/>
            <p:nvPr/>
          </p:nvSpPr>
          <p:spPr>
            <a:xfrm>
              <a:off x="9738360" y="2606040"/>
              <a:ext cx="2743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1">
                  <a:solidFill>
                    <a:srgbClr val="CCCCCC"/>
                  </a:solidFill>
                  <a:latin typeface="Calibri"/>
                </a:defRPr>
              </a:pP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→</a:t>
              </a:r>
            </a:p>
          </p:txBody>
        </p:sp>
        <p:sp>
          <p:nvSpPr>
            <p:cNvPr id="14" name="Rounded Rectangle 14">
              <a:extLst>
                <a:ext uri="{FF2B5EF4-FFF2-40B4-BE49-F238E27FC236}">
                  <a16:creationId xmlns:a16="http://schemas.microsoft.com/office/drawing/2014/main" id="{769B29A1-97D4-38F6-CE5C-989BE426B73A}"/>
                </a:ext>
              </a:extLst>
            </p:cNvPr>
            <p:cNvSpPr/>
            <p:nvPr/>
          </p:nvSpPr>
          <p:spPr>
            <a:xfrm>
              <a:off x="10012680" y="2286000"/>
              <a:ext cx="1554480" cy="1280160"/>
            </a:xfrm>
            <a:prstGeom prst="roundRect">
              <a:avLst/>
            </a:prstGeom>
            <a:solidFill>
              <a:srgbClr val="222B45"/>
            </a:solidFill>
            <a:ln w="25400">
              <a:solidFill>
                <a:srgbClr val="F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FF4444"/>
                  </a:solidFill>
                  <a:latin typeface="Calibri"/>
                </a:defRPr>
              </a:pP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部署到</a:t>
              </a:r>
              <a:b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</a:br>
              <a:r>
                <a:rPr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物理机器人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E4FAB43-F24E-92C8-F7EB-7CC8F5FC3F6B}"/>
              </a:ext>
            </a:extLst>
          </p:cNvPr>
          <p:cNvGrpSpPr/>
          <p:nvPr/>
        </p:nvGrpSpPr>
        <p:grpSpPr>
          <a:xfrm>
            <a:off x="731520" y="3840480"/>
            <a:ext cx="3474720" cy="2286000"/>
            <a:chOff x="761999" y="4114800"/>
            <a:chExt cx="3474720" cy="2286000"/>
          </a:xfrm>
        </p:grpSpPr>
        <p:sp>
          <p:nvSpPr>
            <p:cNvPr id="15" name="Rounded Rectangle 15">
              <a:extLst>
                <a:ext uri="{FF2B5EF4-FFF2-40B4-BE49-F238E27FC236}">
                  <a16:creationId xmlns:a16="http://schemas.microsoft.com/office/drawing/2014/main" id="{956CA70F-6561-58FA-EB12-5A0356ED3CC2}"/>
                </a:ext>
              </a:extLst>
            </p:cNvPr>
            <p:cNvSpPr/>
            <p:nvPr/>
          </p:nvSpPr>
          <p:spPr>
            <a:xfrm>
              <a:off x="761999" y="4114800"/>
              <a:ext cx="3474720" cy="2286000"/>
            </a:xfrm>
            <a:prstGeom prst="roundRect">
              <a:avLst/>
            </a:prstGeom>
            <a:solidFill>
              <a:srgbClr val="1E273E"/>
            </a:solidFill>
            <a:ln w="19050">
              <a:solidFill>
                <a:srgbClr val="00D2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34C3C6B-1048-9203-9184-EC483ABD96C4}"/>
                </a:ext>
              </a:extLst>
            </p:cNvPr>
            <p:cNvSpPr txBox="1"/>
            <p:nvPr/>
          </p:nvSpPr>
          <p:spPr>
            <a:xfrm>
              <a:off x="914400" y="4297680"/>
              <a:ext cx="310896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00D2FF"/>
                  </a:solidFill>
                  <a:latin typeface="Calibri"/>
                </a:defRPr>
              </a:pPr>
              <a:r>
                <a:t>Planner Agent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0B85C4B5-C765-7FC7-3919-6038B41E6467}"/>
                </a:ext>
              </a:extLst>
            </p:cNvPr>
            <p:cNvSpPr txBox="1"/>
            <p:nvPr/>
          </p:nvSpPr>
          <p:spPr>
            <a:xfrm>
              <a:off x="914400" y="4754880"/>
              <a:ext cx="3108960" cy="1371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0">
                  <a:solidFill>
                    <a:srgbClr val="CCCCCC"/>
                  </a:solidFill>
                  <a:latin typeface="Calibri"/>
                </a:defRPr>
              </a:pPr>
              <a:r>
                <a:rPr dirty="0"/>
                <a:t>LLM </a:t>
              </a:r>
              <a:r>
                <a:rPr dirty="0" err="1"/>
                <a:t>将自然语言分解为</a:t>
              </a:r>
              <a:br>
                <a:rPr dirty="0"/>
              </a:br>
              <a:r>
                <a:rPr dirty="0" err="1"/>
                <a:t>子目标，映射到</a:t>
              </a:r>
              <a:r>
                <a:rPr dirty="0"/>
                <a:t> MORSL </a:t>
              </a:r>
              <a:r>
                <a:rPr dirty="0" err="1"/>
                <a:t>技能</a:t>
              </a:r>
              <a:endParaRPr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88DE95D-F844-03F8-49B3-15F82890DF0A}"/>
              </a:ext>
            </a:extLst>
          </p:cNvPr>
          <p:cNvGrpSpPr/>
          <p:nvPr/>
        </p:nvGrpSpPr>
        <p:grpSpPr>
          <a:xfrm>
            <a:off x="4485640" y="3840480"/>
            <a:ext cx="3474720" cy="2286000"/>
            <a:chOff x="4480559" y="4114800"/>
            <a:chExt cx="3474720" cy="2286000"/>
          </a:xfrm>
        </p:grpSpPr>
        <p:sp>
          <p:nvSpPr>
            <p:cNvPr id="18" name="Rounded Rectangle 18">
              <a:extLst>
                <a:ext uri="{FF2B5EF4-FFF2-40B4-BE49-F238E27FC236}">
                  <a16:creationId xmlns:a16="http://schemas.microsoft.com/office/drawing/2014/main" id="{680FAAC2-ADF0-E0FF-FC2E-CB14E9C9F2F9}"/>
                </a:ext>
              </a:extLst>
            </p:cNvPr>
            <p:cNvSpPr/>
            <p:nvPr/>
          </p:nvSpPr>
          <p:spPr>
            <a:xfrm>
              <a:off x="4480559" y="4114800"/>
              <a:ext cx="3474720" cy="2286000"/>
            </a:xfrm>
            <a:prstGeom prst="roundRect">
              <a:avLst/>
            </a:prstGeom>
            <a:solidFill>
              <a:srgbClr val="1E273E"/>
            </a:solidFill>
            <a:ln w="19050">
              <a:solidFill>
                <a:srgbClr val="00E6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846338A-81FD-7FE1-F621-2F9E776ED12A}"/>
                </a:ext>
              </a:extLst>
            </p:cNvPr>
            <p:cNvSpPr txBox="1"/>
            <p:nvPr/>
          </p:nvSpPr>
          <p:spPr>
            <a:xfrm>
              <a:off x="4663439" y="4297680"/>
              <a:ext cx="310896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00E696"/>
                  </a:solidFill>
                  <a:latin typeface="Calibri"/>
                </a:defRPr>
              </a:pPr>
              <a:r>
                <a:rPr dirty="0"/>
                <a:t>Orchestrator Agent</a:t>
              </a: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111A45B8-9C0B-224E-DA0C-AD3DBCC9D57B}"/>
                </a:ext>
              </a:extLst>
            </p:cNvPr>
            <p:cNvSpPr txBox="1"/>
            <p:nvPr/>
          </p:nvSpPr>
          <p:spPr>
            <a:xfrm>
              <a:off x="4663439" y="4754880"/>
              <a:ext cx="3108960" cy="1371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0">
                  <a:solidFill>
                    <a:srgbClr val="CCCCCC"/>
                  </a:solidFill>
                  <a:latin typeface="Calibri"/>
                </a:defRPr>
              </a:pPr>
              <a:r>
                <a:t>并行子图分配给不同 agent</a:t>
              </a:r>
              <a:br/>
              <a:r>
                <a:t>组装成完整计算图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B5FA20C-B3FB-4C04-1A70-51E2A94D8F47}"/>
              </a:ext>
            </a:extLst>
          </p:cNvPr>
          <p:cNvGrpSpPr/>
          <p:nvPr/>
        </p:nvGrpSpPr>
        <p:grpSpPr>
          <a:xfrm>
            <a:off x="8229598" y="3840480"/>
            <a:ext cx="3474720" cy="2286000"/>
            <a:chOff x="8229598" y="4114800"/>
            <a:chExt cx="3474720" cy="2286000"/>
          </a:xfrm>
        </p:grpSpPr>
        <p:sp>
          <p:nvSpPr>
            <p:cNvPr id="21" name="Rounded Rectangle 21">
              <a:extLst>
                <a:ext uri="{FF2B5EF4-FFF2-40B4-BE49-F238E27FC236}">
                  <a16:creationId xmlns:a16="http://schemas.microsoft.com/office/drawing/2014/main" id="{6F1BC488-28BA-1C04-ED67-C370C3BA70F8}"/>
                </a:ext>
              </a:extLst>
            </p:cNvPr>
            <p:cNvSpPr/>
            <p:nvPr/>
          </p:nvSpPr>
          <p:spPr>
            <a:xfrm>
              <a:off x="8229598" y="4114800"/>
              <a:ext cx="3474720" cy="2286000"/>
            </a:xfrm>
            <a:prstGeom prst="roundRect">
              <a:avLst/>
            </a:prstGeom>
            <a:solidFill>
              <a:srgbClr val="1E273E"/>
            </a:solidFill>
            <a:ln w="19050">
              <a:solidFill>
                <a:srgbClr val="FF8C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58AB2984-5892-1A4C-7B89-4D9A7D986C0B}"/>
                </a:ext>
              </a:extLst>
            </p:cNvPr>
            <p:cNvSpPr txBox="1"/>
            <p:nvPr/>
          </p:nvSpPr>
          <p:spPr>
            <a:xfrm>
              <a:off x="8412478" y="4297680"/>
              <a:ext cx="310896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FF8C00"/>
                  </a:solidFill>
                  <a:latin typeface="Calibri"/>
                </a:defRPr>
              </a:pPr>
              <a:r>
                <a:t>Self-Learning Loop</a:t>
              </a: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1DFE0EB0-E060-0653-9821-7FD79078E202}"/>
                </a:ext>
              </a:extLst>
            </p:cNvPr>
            <p:cNvSpPr txBox="1"/>
            <p:nvPr/>
          </p:nvSpPr>
          <p:spPr>
            <a:xfrm>
              <a:off x="8412478" y="4754880"/>
              <a:ext cx="3108960" cy="1371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0">
                  <a:solidFill>
                    <a:srgbClr val="CCCCCC"/>
                  </a:solidFill>
                  <a:latin typeface="Calibri"/>
                </a:defRPr>
              </a:pPr>
              <a:r>
                <a:t>Isaac-Lab 仿真中 rehearsal</a:t>
              </a:r>
              <a:br/>
              <a:r>
                <a:t>迭代优化成功率+吞吐量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84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7500570-46B7-C22B-1FBD-707939D82636}"/>
              </a:ext>
            </a:extLst>
          </p:cNvPr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E696"/>
                </a:solidFill>
                <a:latin typeface="Calibri"/>
              </a:defRPr>
            </a:pPr>
            <a:r>
              <a:t>04  MORSL 技能层级体系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4827012-C2DD-A762-DE91-A5AF01B8B5BB}"/>
              </a:ext>
            </a:extLst>
          </p:cNvPr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F308458-33AB-A757-221D-D7E31C409619}"/>
              </a:ext>
            </a:extLst>
          </p:cNvPr>
          <p:cNvGrpSpPr/>
          <p:nvPr/>
        </p:nvGrpSpPr>
        <p:grpSpPr>
          <a:xfrm>
            <a:off x="731520" y="1389380"/>
            <a:ext cx="10698480" cy="1325880"/>
            <a:chOff x="731520" y="1280160"/>
            <a:chExt cx="10698480" cy="1325880"/>
          </a:xfrm>
        </p:grpSpPr>
        <p:sp>
          <p:nvSpPr>
            <p:cNvPr id="4" name="Rounded Rectangle 4">
              <a:extLst>
                <a:ext uri="{FF2B5EF4-FFF2-40B4-BE49-F238E27FC236}">
                  <a16:creationId xmlns:a16="http://schemas.microsoft.com/office/drawing/2014/main" id="{54223391-1CF7-3B59-7BBD-91C96196B282}"/>
                </a:ext>
              </a:extLst>
            </p:cNvPr>
            <p:cNvSpPr/>
            <p:nvPr/>
          </p:nvSpPr>
          <p:spPr>
            <a:xfrm>
              <a:off x="731520" y="1280160"/>
              <a:ext cx="10698480" cy="1325880"/>
            </a:xfrm>
            <a:prstGeom prst="roundRect">
              <a:avLst/>
            </a:prstGeom>
            <a:solidFill>
              <a:srgbClr val="222B45"/>
            </a:solidFill>
            <a:ln w="19050">
              <a:solidFill>
                <a:srgbClr val="BB86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4F89B32-79F4-91F4-C2CB-9AB1EB052166}"/>
                </a:ext>
              </a:extLst>
            </p:cNvPr>
            <p:cNvSpPr txBox="1"/>
            <p:nvPr/>
          </p:nvSpPr>
          <p:spPr>
            <a:xfrm>
              <a:off x="1005840" y="1280160"/>
              <a:ext cx="45720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900" b="1">
                  <a:solidFill>
                    <a:srgbClr val="BB86FC"/>
                  </a:solidFill>
                  <a:latin typeface="Calibri"/>
                </a:defRPr>
              </a:pPr>
              <a:r>
                <a:t>Composite Skills（组合技能）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2078A97-D869-C1CF-5FBF-6089B0171DF9}"/>
                </a:ext>
              </a:extLst>
            </p:cNvPr>
            <p:cNvSpPr txBox="1"/>
            <p:nvPr/>
          </p:nvSpPr>
          <p:spPr>
            <a:xfrm>
              <a:off x="1005840" y="1645920"/>
              <a:ext cx="1024128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0">
                  <a:solidFill>
                    <a:srgbClr val="CCCCCC"/>
                  </a:solidFill>
                  <a:latin typeface="Calibri"/>
                </a:defRPr>
              </a:pPr>
              <a:r>
                <a:rPr dirty="0"/>
                <a:t>• </a:t>
              </a:r>
              <a:r>
                <a:rPr dirty="0" err="1"/>
                <a:t>由多个</a:t>
              </a:r>
              <a:r>
                <a:rPr dirty="0"/>
                <a:t> Atomic/Composite </a:t>
              </a:r>
              <a:r>
                <a:rPr dirty="0" err="1"/>
                <a:t>技能组合而成的可实例化子图</a:t>
              </a:r>
              <a:br>
                <a:rPr dirty="0"/>
              </a:br>
              <a:r>
                <a:rPr dirty="0"/>
                <a:t>• </a:t>
              </a:r>
              <a:r>
                <a:rPr dirty="0" err="1"/>
                <a:t>定义一段可复用的计算子图</a:t>
              </a:r>
              <a:br>
                <a:rPr dirty="0"/>
              </a:br>
              <a:r>
                <a:rPr dirty="0"/>
                <a:t>• </a:t>
              </a:r>
              <a:r>
                <a:rPr dirty="0" err="1"/>
                <a:t>例如：pick_and_place</a:t>
              </a:r>
              <a:r>
                <a:rPr dirty="0"/>
                <a:t> = grasp + lift + move + place</a:t>
              </a:r>
              <a:br>
                <a:rPr dirty="0"/>
              </a:br>
              <a:r>
                <a:rPr dirty="0"/>
                <a:t>• </a:t>
              </a:r>
              <a:r>
                <a:rPr dirty="0" err="1"/>
                <a:t>对应图中的子图结构</a:t>
              </a:r>
              <a:endParaRPr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15F10DF-6D0E-A069-5323-C25D6CB9B937}"/>
              </a:ext>
            </a:extLst>
          </p:cNvPr>
          <p:cNvGrpSpPr/>
          <p:nvPr/>
        </p:nvGrpSpPr>
        <p:grpSpPr>
          <a:xfrm>
            <a:off x="731520" y="2992119"/>
            <a:ext cx="10698480" cy="1371600"/>
            <a:chOff x="731520" y="2720340"/>
            <a:chExt cx="10698480" cy="1371600"/>
          </a:xfrm>
        </p:grpSpPr>
        <p:sp>
          <p:nvSpPr>
            <p:cNvPr id="7" name="Rounded Rectangle 7">
              <a:extLst>
                <a:ext uri="{FF2B5EF4-FFF2-40B4-BE49-F238E27FC236}">
                  <a16:creationId xmlns:a16="http://schemas.microsoft.com/office/drawing/2014/main" id="{B608EEB7-8B68-316A-B1E3-DE9A37558686}"/>
                </a:ext>
              </a:extLst>
            </p:cNvPr>
            <p:cNvSpPr/>
            <p:nvPr/>
          </p:nvSpPr>
          <p:spPr>
            <a:xfrm>
              <a:off x="731520" y="2720340"/>
              <a:ext cx="10698480" cy="1371600"/>
            </a:xfrm>
            <a:prstGeom prst="roundRect">
              <a:avLst/>
            </a:prstGeom>
            <a:solidFill>
              <a:srgbClr val="222B45"/>
            </a:solidFill>
            <a:ln w="19050">
              <a:solidFill>
                <a:srgbClr val="00D2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DA33EEE-1A83-8B31-7C81-5E9E9ED01F1C}"/>
                </a:ext>
              </a:extLst>
            </p:cNvPr>
            <p:cNvSpPr txBox="1"/>
            <p:nvPr/>
          </p:nvSpPr>
          <p:spPr>
            <a:xfrm>
              <a:off x="1005840" y="2743200"/>
              <a:ext cx="45720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900" b="1">
                  <a:solidFill>
                    <a:srgbClr val="00D2FF"/>
                  </a:solidFill>
                  <a:latin typeface="Calibri"/>
                </a:defRPr>
              </a:pPr>
              <a:r>
                <a:t>Atomic Skills（原子技能）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9A87786-A0AD-95A4-5E60-58B7D3ADEF4D}"/>
                </a:ext>
              </a:extLst>
            </p:cNvPr>
            <p:cNvSpPr txBox="1"/>
            <p:nvPr/>
          </p:nvSpPr>
          <p:spPr>
            <a:xfrm>
              <a:off x="1005840" y="3108960"/>
              <a:ext cx="1024128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0">
                  <a:solidFill>
                    <a:srgbClr val="CCCCCC"/>
                  </a:solidFill>
                  <a:latin typeface="Calibri"/>
                </a:defRPr>
              </a:pPr>
              <a:r>
                <a:t>• 单个 Skill 类，自包含、不可再拆分</a:t>
              </a:r>
              <a:br/>
              <a:r>
                <a:t>• 统一元数据：名称、描述、类型化输入/输出</a:t>
              </a:r>
              <a:br/>
              <a:r>
                <a:t>• 封装一个或多个 primitive gRPC 调用</a:t>
              </a:r>
              <a:br/>
              <a:r>
                <a:t>• 例如：GraspPoseEstimator, PointCloudSegmentor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C8AF50E-10E2-468F-E3C7-39A9EF64D5EE}"/>
              </a:ext>
            </a:extLst>
          </p:cNvPr>
          <p:cNvGrpSpPr/>
          <p:nvPr/>
        </p:nvGrpSpPr>
        <p:grpSpPr>
          <a:xfrm>
            <a:off x="731520" y="4640578"/>
            <a:ext cx="10698480" cy="1463040"/>
            <a:chOff x="731520" y="4206240"/>
            <a:chExt cx="10698480" cy="1463040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9944D5C7-B351-C42E-9FF6-173B968FEED0}"/>
                </a:ext>
              </a:extLst>
            </p:cNvPr>
            <p:cNvSpPr/>
            <p:nvPr/>
          </p:nvSpPr>
          <p:spPr>
            <a:xfrm>
              <a:off x="731520" y="4206240"/>
              <a:ext cx="10698480" cy="1463040"/>
            </a:xfrm>
            <a:prstGeom prst="roundRect">
              <a:avLst/>
            </a:prstGeom>
            <a:solidFill>
              <a:srgbClr val="222B45"/>
            </a:solidFill>
            <a:ln w="19050">
              <a:solidFill>
                <a:srgbClr val="00E6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1B21F06-092C-316F-5136-C722D4F751A8}"/>
                </a:ext>
              </a:extLst>
            </p:cNvPr>
            <p:cNvSpPr txBox="1"/>
            <p:nvPr/>
          </p:nvSpPr>
          <p:spPr>
            <a:xfrm>
              <a:off x="1005840" y="4206240"/>
              <a:ext cx="45720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900" b="1">
                  <a:solidFill>
                    <a:srgbClr val="00E696"/>
                  </a:solidFill>
                  <a:latin typeface="Calibri"/>
                </a:defRPr>
              </a:pPr>
              <a:r>
                <a:t>Primitive Skills（基元技能）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F6A8B3F-1803-BAE2-DF5B-BE8641CD78C5}"/>
                </a:ext>
              </a:extLst>
            </p:cNvPr>
            <p:cNvSpPr txBox="1"/>
            <p:nvPr/>
          </p:nvSpPr>
          <p:spPr>
            <a:xfrm>
              <a:off x="1005840" y="4572000"/>
              <a:ext cx="1024128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0">
                  <a:solidFill>
                    <a:srgbClr val="CCCCCC"/>
                  </a:solidFill>
                  <a:latin typeface="Calibri"/>
                </a:defRPr>
              </a:pPr>
              <a:r>
                <a:t>• 对应单个 gRPC 方法，最底层实现</a:t>
              </a:r>
              <a:br/>
              <a:r>
                <a:t>• 每个封装一次模型调用或几何运算</a:t>
              </a:r>
              <a:br/>
              <a:r>
                <a:t>• 例如：SAM2 推理、GraspGen 姿态计算</a:t>
              </a:r>
              <a:br/>
              <a:r>
                <a:t>• 通过 gRPC 服务接口暴露</a:t>
              </a:r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A5B9A03A-85D6-A663-41F2-5FFE4B577E73}"/>
              </a:ext>
            </a:extLst>
          </p:cNvPr>
          <p:cNvSpPr txBox="1"/>
          <p:nvPr/>
        </p:nvSpPr>
        <p:spPr>
          <a:xfrm>
            <a:off x="5770880" y="26289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CCCCC"/>
                </a:solidFill>
                <a:latin typeface="Calibri"/>
              </a:defRPr>
            </a:pPr>
            <a:r>
              <a:rPr dirty="0"/>
              <a:t>↑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6ADC5DE-4E31-F7C5-DAA9-AF139047491D}"/>
              </a:ext>
            </a:extLst>
          </p:cNvPr>
          <p:cNvSpPr txBox="1"/>
          <p:nvPr/>
        </p:nvSpPr>
        <p:spPr>
          <a:xfrm>
            <a:off x="5770880" y="42748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CCCCC"/>
                </a:solidFill>
                <a:latin typeface="Calibri"/>
              </a:defRPr>
            </a:pPr>
            <a:r>
              <a:rPr dirty="0"/>
              <a:t>↑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763424E9-F25D-6134-ACEB-E8636DE44E75}"/>
              </a:ext>
            </a:extLst>
          </p:cNvPr>
          <p:cNvSpPr txBox="1"/>
          <p:nvPr/>
        </p:nvSpPr>
        <p:spPr>
          <a:xfrm>
            <a:off x="746760" y="6195056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所有技能共享统一类型系统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(Se3Pose,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OrientedBoundingBox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PointCloud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…)，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通过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gRPC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服务化接口实现跨语言调用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8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1B0285A-315C-5F54-D92C-B569690A116B}"/>
              </a:ext>
            </a:extLst>
          </p:cNvPr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05  MORSL 技能库 (51 Skills)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98AE36A-8164-982D-91C3-74B88DA3657C}"/>
              </a:ext>
            </a:extLst>
          </p:cNvPr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BEF4464C-18D9-8AE5-3856-28F98A796D74}"/>
              </a:ext>
            </a:extLst>
          </p:cNvPr>
          <p:cNvSpPr/>
          <p:nvPr/>
        </p:nvSpPr>
        <p:spPr>
          <a:xfrm>
            <a:off x="548640" y="1188720"/>
            <a:ext cx="2651760" cy="475488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6D4FE2-692F-0E71-D475-581445DB0175}"/>
              </a:ext>
            </a:extLst>
          </p:cNvPr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Calibri"/>
              </a:defRPr>
            </a:pPr>
            <a:r>
              <a:t>感知 Perception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D04DD6-405E-0C5F-6B51-4025B6EDB838}"/>
              </a:ext>
            </a:extLst>
          </p:cNvPr>
          <p:cNvSpPr/>
          <p:nvPr/>
        </p:nvSpPr>
        <p:spPr>
          <a:xfrm>
            <a:off x="731520" y="1874519"/>
            <a:ext cx="18288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395CF3D-564F-AB08-9869-D99B3463E007}"/>
              </a:ext>
            </a:extLst>
          </p:cNvPr>
          <p:cNvSpPr txBox="1"/>
          <p:nvPr/>
        </p:nvSpPr>
        <p:spPr>
          <a:xfrm>
            <a:off x="82296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SAM2 / SAM3 分割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BE134B2-A3ED-976F-BFD5-204A45FCD59C}"/>
              </a:ext>
            </a:extLst>
          </p:cNvPr>
          <p:cNvSpPr txBox="1"/>
          <p:nvPr/>
        </p:nvSpPr>
        <p:spPr>
          <a:xfrm>
            <a:off x="82296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Grounding DINO 定位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E040E3E-BDC0-6497-9A5C-78F5D31EA9A5}"/>
              </a:ext>
            </a:extLst>
          </p:cNvPr>
          <p:cNvSpPr txBox="1"/>
          <p:nvPr/>
        </p:nvSpPr>
        <p:spPr>
          <a:xfrm>
            <a:off x="82296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</a:t>
            </a:r>
            <a:r>
              <a:rPr dirty="0" err="1"/>
              <a:t>点云处理</a:t>
            </a:r>
            <a:r>
              <a:rPr dirty="0"/>
              <a:t> (15 skills)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70D3811-70A8-9AD7-B0D3-9ECFB03A69B5}"/>
              </a:ext>
            </a:extLst>
          </p:cNvPr>
          <p:cNvSpPr txBox="1"/>
          <p:nvPr/>
        </p:nvSpPr>
        <p:spPr>
          <a:xfrm>
            <a:off x="82296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6D 姿态估计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90B05ED-4FB2-D836-D618-2A3D1A5C259C}"/>
              </a:ext>
            </a:extLst>
          </p:cNvPr>
          <p:cNvSpPr txBox="1"/>
          <p:nvPr/>
        </p:nvSpPr>
        <p:spPr>
          <a:xfrm>
            <a:off x="822960" y="4023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视觉验证</a:t>
            </a: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DCA0916C-3A7E-C6F9-1003-8E968B93FC0E}"/>
              </a:ext>
            </a:extLst>
          </p:cNvPr>
          <p:cNvSpPr/>
          <p:nvPr/>
        </p:nvSpPr>
        <p:spPr>
          <a:xfrm>
            <a:off x="3383280" y="1188720"/>
            <a:ext cx="2651760" cy="475488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6C4D482-2266-46D7-1C1A-6104D0C01DF5}"/>
              </a:ext>
            </a:extLst>
          </p:cNvPr>
          <p:cNvSpPr txBox="1"/>
          <p:nvPr/>
        </p:nvSpPr>
        <p:spPr>
          <a:xfrm>
            <a:off x="356616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alibri"/>
              </a:defRPr>
            </a:pPr>
            <a:r>
              <a:t>规划 Planning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3694358E-1914-1A23-ECAD-E427A555AB66}"/>
              </a:ext>
            </a:extLst>
          </p:cNvPr>
          <p:cNvSpPr/>
          <p:nvPr/>
        </p:nvSpPr>
        <p:spPr>
          <a:xfrm>
            <a:off x="3566160" y="1874519"/>
            <a:ext cx="1828800" cy="254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0679BAE-442B-AF20-D5FC-706928DF367A}"/>
              </a:ext>
            </a:extLst>
          </p:cNvPr>
          <p:cNvSpPr txBox="1"/>
          <p:nvPr/>
        </p:nvSpPr>
        <p:spPr>
          <a:xfrm>
            <a:off x="365760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LLM 任务分解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C440B57-1BE5-03D0-5F45-51EC2DDF6C8C}"/>
              </a:ext>
            </a:extLst>
          </p:cNvPr>
          <p:cNvSpPr txBox="1"/>
          <p:nvPr/>
        </p:nvSpPr>
        <p:spPr>
          <a:xfrm>
            <a:off x="365760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运动规划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08CE4E5-4F4B-1B4C-EC51-AB589E1AFF4E}"/>
              </a:ext>
            </a:extLst>
          </p:cNvPr>
          <p:cNvSpPr txBox="1"/>
          <p:nvPr/>
        </p:nvSpPr>
        <p:spPr>
          <a:xfrm>
            <a:off x="365760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碰撞检测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A13B498-9A4A-1893-BEFB-DE33FF6244D4}"/>
              </a:ext>
            </a:extLst>
          </p:cNvPr>
          <p:cNvSpPr txBox="1"/>
          <p:nvPr/>
        </p:nvSpPr>
        <p:spPr>
          <a:xfrm>
            <a:off x="365760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路径规划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128A1CF-7156-CAE8-30B5-786DC5BDD284}"/>
              </a:ext>
            </a:extLst>
          </p:cNvPr>
          <p:cNvSpPr txBox="1"/>
          <p:nvPr/>
        </p:nvSpPr>
        <p:spPr>
          <a:xfrm>
            <a:off x="3657600" y="4023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抓取规划</a:t>
            </a:r>
          </a:p>
        </p:txBody>
      </p:sp>
      <p:sp>
        <p:nvSpPr>
          <p:cNvPr id="20" name="Rounded Rectangle 20">
            <a:extLst>
              <a:ext uri="{FF2B5EF4-FFF2-40B4-BE49-F238E27FC236}">
                <a16:creationId xmlns:a16="http://schemas.microsoft.com/office/drawing/2014/main" id="{DE5EA5F1-745C-BDCC-843A-050BCDDF99AE}"/>
              </a:ext>
            </a:extLst>
          </p:cNvPr>
          <p:cNvSpPr/>
          <p:nvPr/>
        </p:nvSpPr>
        <p:spPr>
          <a:xfrm>
            <a:off x="6217920" y="1188720"/>
            <a:ext cx="2651760" cy="475488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6B05A90-437A-358F-9BEB-A32F56CAB344}"/>
              </a:ext>
            </a:extLst>
          </p:cNvPr>
          <p:cNvSpPr txBox="1"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Calibri"/>
              </a:defRPr>
            </a:pPr>
            <a:r>
              <a:t>控制 Control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E7FC5466-F3F0-912A-D741-1AE5927069E1}"/>
              </a:ext>
            </a:extLst>
          </p:cNvPr>
          <p:cNvSpPr/>
          <p:nvPr/>
        </p:nvSpPr>
        <p:spPr>
          <a:xfrm>
            <a:off x="6400800" y="1874519"/>
            <a:ext cx="182880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BB0E339-83AD-FECD-5182-7BD2FF5649E8}"/>
              </a:ext>
            </a:extLst>
          </p:cNvPr>
          <p:cNvSpPr txBox="1"/>
          <p:nvPr/>
        </p:nvSpPr>
        <p:spPr>
          <a:xfrm>
            <a:off x="649224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ROS 接口封装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EDB0BBF-C240-9B98-E6D8-AB5677162690}"/>
              </a:ext>
            </a:extLst>
          </p:cNvPr>
          <p:cNvSpPr txBox="1"/>
          <p:nvPr/>
        </p:nvSpPr>
        <p:spPr>
          <a:xfrm>
            <a:off x="649224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关节轨迹执行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D6E1EBF-1845-3010-0DD9-D890674069EF}"/>
              </a:ext>
            </a:extLst>
          </p:cNvPr>
          <p:cNvSpPr txBox="1"/>
          <p:nvPr/>
        </p:nvSpPr>
        <p:spPr>
          <a:xfrm>
            <a:off x="649224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笛卡尔空间控制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A72C728-AEB5-C0F8-9970-9F8F70E8314B}"/>
              </a:ext>
            </a:extLst>
          </p:cNvPr>
          <p:cNvSpPr txBox="1"/>
          <p:nvPr/>
        </p:nvSpPr>
        <p:spPr>
          <a:xfrm>
            <a:off x="649224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力控操作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B5F0235-A7EB-0BF8-5672-8D630E433504}"/>
              </a:ext>
            </a:extLst>
          </p:cNvPr>
          <p:cNvSpPr txBox="1"/>
          <p:nvPr/>
        </p:nvSpPr>
        <p:spPr>
          <a:xfrm>
            <a:off x="6492240" y="4023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运动原语</a:t>
            </a:r>
          </a:p>
        </p:txBody>
      </p:sp>
      <p:sp>
        <p:nvSpPr>
          <p:cNvPr id="28" name="Rounded Rectangle 28">
            <a:extLst>
              <a:ext uri="{FF2B5EF4-FFF2-40B4-BE49-F238E27FC236}">
                <a16:creationId xmlns:a16="http://schemas.microsoft.com/office/drawing/2014/main" id="{24A02B86-5539-AA5D-B757-E217BF35F6B1}"/>
              </a:ext>
            </a:extLst>
          </p:cNvPr>
          <p:cNvSpPr/>
          <p:nvPr/>
        </p:nvSpPr>
        <p:spPr>
          <a:xfrm>
            <a:off x="9052560" y="1188720"/>
            <a:ext cx="2651760" cy="475488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E0373AC-DAEA-479D-5460-48ADC8D3D08F}"/>
              </a:ext>
            </a:extLst>
          </p:cNvPr>
          <p:cNvSpPr txBox="1"/>
          <p:nvPr/>
        </p:nvSpPr>
        <p:spPr>
          <a:xfrm>
            <a:off x="923544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  <a:latin typeface="Calibri"/>
              </a:defRPr>
            </a:pPr>
            <a:r>
              <a:t>验证 Verification</a:t>
            </a: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E6FF6ED5-8951-3E39-B7CA-D1D8502EAB9A}"/>
              </a:ext>
            </a:extLst>
          </p:cNvPr>
          <p:cNvSpPr/>
          <p:nvPr/>
        </p:nvSpPr>
        <p:spPr>
          <a:xfrm>
            <a:off x="9235440" y="1874519"/>
            <a:ext cx="1828800" cy="25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685A1DE-107A-01F5-4537-0218A61828BD}"/>
              </a:ext>
            </a:extLst>
          </p:cNvPr>
          <p:cNvSpPr txBox="1"/>
          <p:nvPr/>
        </p:nvSpPr>
        <p:spPr>
          <a:xfrm>
            <a:off x="932688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几何验证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7BCF9D5-CBCE-C30B-DAC5-EF2360AA38E1}"/>
              </a:ext>
            </a:extLst>
          </p:cNvPr>
          <p:cNvSpPr txBox="1"/>
          <p:nvPr/>
        </p:nvSpPr>
        <p:spPr>
          <a:xfrm>
            <a:off x="9326880" y="2514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状态检查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5F13347-86CB-71C7-CBD7-922E1413464A}"/>
              </a:ext>
            </a:extLst>
          </p:cNvPr>
          <p:cNvSpPr txBox="1"/>
          <p:nvPr/>
        </p:nvSpPr>
        <p:spPr>
          <a:xfrm>
            <a:off x="932688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成功判定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EBA2386-57A6-15F3-1656-48A6A718DC16}"/>
              </a:ext>
            </a:extLst>
          </p:cNvPr>
          <p:cNvSpPr txBox="1"/>
          <p:nvPr/>
        </p:nvSpPr>
        <p:spPr>
          <a:xfrm>
            <a:off x="932688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安全约束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8BAFB101-C14A-511D-51B3-F68B4CD91340}"/>
              </a:ext>
            </a:extLst>
          </p:cNvPr>
          <p:cNvSpPr txBox="1"/>
          <p:nvPr/>
        </p:nvSpPr>
        <p:spPr>
          <a:xfrm>
            <a:off x="9326880" y="4023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异常恢复</a:t>
            </a:r>
          </a:p>
        </p:txBody>
      </p:sp>
    </p:spTree>
    <p:extLst>
      <p:ext uri="{BB962C8B-B14F-4D97-AF65-F5344CB8AC3E}">
        <p14:creationId xmlns:p14="http://schemas.microsoft.com/office/powerpoint/2010/main" val="209855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7DE4368-0869-1171-95F2-16B160FD2741}"/>
              </a:ext>
            </a:extLst>
          </p:cNvPr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BB86FC"/>
                </a:solidFill>
                <a:latin typeface="Calibri"/>
              </a:defRPr>
            </a:pPr>
            <a:r>
              <a:t>06  多智能体协作架构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C5D80BF-D001-32FF-DE6A-281CEEE9CCAE}"/>
              </a:ext>
            </a:extLst>
          </p:cNvPr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A612281F-0AAF-8428-58EC-2E7EF58CFA71}"/>
              </a:ext>
            </a:extLst>
          </p:cNvPr>
          <p:cNvSpPr/>
          <p:nvPr/>
        </p:nvSpPr>
        <p:spPr>
          <a:xfrm>
            <a:off x="731520" y="1280160"/>
            <a:ext cx="3291840" cy="2560320"/>
          </a:xfrm>
          <a:prstGeom prst="roundRect">
            <a:avLst/>
          </a:prstGeom>
          <a:solidFill>
            <a:srgbClr val="222B4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9436666-01BA-C332-7895-59A3952F245C}"/>
              </a:ext>
            </a:extLst>
          </p:cNvPr>
          <p:cNvSpPr txBox="1"/>
          <p:nvPr/>
        </p:nvSpPr>
        <p:spPr>
          <a:xfrm>
            <a:off x="91440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D2FF"/>
                </a:solidFill>
                <a:latin typeface="Calibri"/>
              </a:defRPr>
            </a:pPr>
            <a:r>
              <a:t>Planner Agent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828F92A-9016-9E90-4A91-515FF502B6E8}"/>
              </a:ext>
            </a:extLst>
          </p:cNvPr>
          <p:cNvSpPr txBox="1"/>
          <p:nvPr/>
        </p:nvSpPr>
        <p:spPr>
          <a:xfrm>
            <a:off x="91440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底层模型: LLM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C4ACBF3-A503-45BA-6244-CAA8E666778D}"/>
              </a:ext>
            </a:extLst>
          </p:cNvPr>
          <p:cNvSpPr/>
          <p:nvPr/>
        </p:nvSpPr>
        <p:spPr>
          <a:xfrm>
            <a:off x="914400" y="2148840"/>
            <a:ext cx="2286000" cy="1905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59A9DFC-1A18-358D-FF33-EF286C7D1B44}"/>
              </a:ext>
            </a:extLst>
          </p:cNvPr>
          <p:cNvSpPr txBox="1"/>
          <p:nvPr/>
        </p:nvSpPr>
        <p:spPr>
          <a:xfrm>
            <a:off x="91440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接收自然语言任务描述</a:t>
            </a:r>
            <a:br/>
            <a:r>
              <a:t>分解为子目标序列</a:t>
            </a:r>
            <a:br/>
            <a:r>
              <a:t>映射到 MORSL 技能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2938D0A4-6A1A-6DE3-5166-D24D67D566B8}"/>
              </a:ext>
            </a:extLst>
          </p:cNvPr>
          <p:cNvSpPr/>
          <p:nvPr/>
        </p:nvSpPr>
        <p:spPr>
          <a:xfrm>
            <a:off x="4389120" y="1280160"/>
            <a:ext cx="3291840" cy="2560320"/>
          </a:xfrm>
          <a:prstGeom prst="roundRect">
            <a:avLst/>
          </a:prstGeom>
          <a:solidFill>
            <a:srgbClr val="222B45"/>
          </a:solidFill>
          <a:ln w="254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775C63-47F2-4D9C-F623-E8C539C17125}"/>
              </a:ext>
            </a:extLst>
          </p:cNvPr>
          <p:cNvSpPr txBox="1"/>
          <p:nvPr/>
        </p:nvSpPr>
        <p:spPr>
          <a:xfrm>
            <a:off x="457200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E696"/>
                </a:solidFill>
                <a:latin typeface="Calibri"/>
              </a:defRPr>
            </a:pPr>
            <a:r>
              <a:t>Orchestrator Agent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E991542-D1F9-DFBA-B5F5-A99D49878E6A}"/>
              </a:ext>
            </a:extLst>
          </p:cNvPr>
          <p:cNvSpPr txBox="1"/>
          <p:nvPr/>
        </p:nvSpPr>
        <p:spPr>
          <a:xfrm>
            <a:off x="457200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底层模型: LLM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6FCCFF35-BEF7-5932-3CC5-EA249B0B347A}"/>
              </a:ext>
            </a:extLst>
          </p:cNvPr>
          <p:cNvSpPr/>
          <p:nvPr/>
        </p:nvSpPr>
        <p:spPr>
          <a:xfrm>
            <a:off x="4572000" y="2148840"/>
            <a:ext cx="2286000" cy="1905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6C5718D-D0D7-5E19-64C3-341B316072B1}"/>
              </a:ext>
            </a:extLst>
          </p:cNvPr>
          <p:cNvSpPr txBox="1"/>
          <p:nvPr/>
        </p:nvSpPr>
        <p:spPr>
          <a:xfrm>
            <a:off x="457200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接收 planner 的子目标列表</a:t>
            </a:r>
            <a:br/>
            <a:r>
              <a:t>并行分配子图给各 agent</a:t>
            </a:r>
            <a:br/>
            <a:r>
              <a:t>组装完整计算图</a:t>
            </a: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7D2368A8-348A-6103-3FF5-A620151A1277}"/>
              </a:ext>
            </a:extLst>
          </p:cNvPr>
          <p:cNvSpPr/>
          <p:nvPr/>
        </p:nvSpPr>
        <p:spPr>
          <a:xfrm>
            <a:off x="8046720" y="1280160"/>
            <a:ext cx="3291840" cy="2560320"/>
          </a:xfrm>
          <a:prstGeom prst="roundRect">
            <a:avLst/>
          </a:prstGeom>
          <a:solidFill>
            <a:srgbClr val="222B45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46835BC-E648-1FBA-5A31-C98E2BAA3E4F}"/>
              </a:ext>
            </a:extLst>
          </p:cNvPr>
          <p:cNvSpPr txBox="1"/>
          <p:nvPr/>
        </p:nvSpPr>
        <p:spPr>
          <a:xfrm>
            <a:off x="822960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8C00"/>
                </a:solidFill>
                <a:latin typeface="Calibri"/>
              </a:defRPr>
            </a:pPr>
            <a:r>
              <a:t>Coder Agent ×N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F8117DA-69FF-20C2-3E52-4F47EC14A1E3}"/>
              </a:ext>
            </a:extLst>
          </p:cNvPr>
          <p:cNvSpPr txBox="1"/>
          <p:nvPr/>
        </p:nvSpPr>
        <p:spPr>
          <a:xfrm>
            <a:off x="822960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底层模型: Claude/Gemini</a:t>
            </a: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6C429E31-46D8-078F-632B-F9F291FEF736}"/>
              </a:ext>
            </a:extLst>
          </p:cNvPr>
          <p:cNvSpPr/>
          <p:nvPr/>
        </p:nvSpPr>
        <p:spPr>
          <a:xfrm>
            <a:off x="8229600" y="2148840"/>
            <a:ext cx="2286000" cy="190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B941849-27CF-1D9A-6710-C022E7A7689A}"/>
              </a:ext>
            </a:extLst>
          </p:cNvPr>
          <p:cNvSpPr txBox="1"/>
          <p:nvPr/>
        </p:nvSpPr>
        <p:spPr>
          <a:xfrm>
            <a:off x="822960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为每个子图生成代码</a:t>
            </a:r>
            <a:br/>
            <a:r>
              <a:t>编写 skill 的 gRPC 调用</a:t>
            </a:r>
            <a:br/>
            <a:r>
              <a:t>实现具体功能逻辑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8A0D89A-75A2-ACEB-5AEB-7DF3D17885E2}"/>
              </a:ext>
            </a:extLst>
          </p:cNvPr>
          <p:cNvSpPr txBox="1"/>
          <p:nvPr/>
        </p:nvSpPr>
        <p:spPr>
          <a:xfrm>
            <a:off x="39319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CB77BDC-7B12-F735-6C76-9B1ED954C326}"/>
              </a:ext>
            </a:extLst>
          </p:cNvPr>
          <p:cNvSpPr txBox="1"/>
          <p:nvPr/>
        </p:nvSpPr>
        <p:spPr>
          <a:xfrm>
            <a:off x="75895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9200BD9-1670-CCF5-F551-57B53B58C0DC}"/>
              </a:ext>
            </a:extLst>
          </p:cNvPr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工作流程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57807D3-44CE-800D-629F-8F6AEE7850F5}"/>
              </a:ext>
            </a:extLst>
          </p:cNvPr>
          <p:cNvSpPr txBox="1"/>
          <p:nvPr/>
        </p:nvSpPr>
        <p:spPr>
          <a:xfrm>
            <a:off x="731520" y="4709160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Calibri"/>
              </a:defRPr>
            </a:pPr>
            <a:r>
              <a:rPr sz="1600" dirty="0"/>
              <a:t>Step 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E928DC2-9CAE-272B-AE28-50BE16607104}"/>
              </a:ext>
            </a:extLst>
          </p:cNvPr>
          <p:cNvSpPr txBox="1"/>
          <p:nvPr/>
        </p:nvSpPr>
        <p:spPr>
          <a:xfrm>
            <a:off x="1920240" y="4709160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Planner 将 "fulfill grocery order"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分解为子目标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get_camera_frame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detect_items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grasp → place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E1B2818-8387-D7AA-E669-CB3FF649619B}"/>
              </a:ext>
            </a:extLst>
          </p:cNvPr>
          <p:cNvSpPr txBox="1"/>
          <p:nvPr/>
        </p:nvSpPr>
        <p:spPr>
          <a:xfrm>
            <a:off x="731520" y="5367528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Calibri"/>
              </a:defRPr>
            </a:pPr>
            <a:r>
              <a:rPr sz="1600" dirty="0"/>
              <a:t>Step 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712F66F9-AF8D-B9A9-052E-0F422F52EF9F}"/>
              </a:ext>
            </a:extLst>
          </p:cNvPr>
          <p:cNvSpPr txBox="1"/>
          <p:nvPr/>
        </p:nvSpPr>
        <p:spPr>
          <a:xfrm>
            <a:off x="1920240" y="5367528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Orchestrator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为每个子目标分配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coder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agent，并行生成子图代码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87839CC-9BC8-29C3-0B07-06F6CE2C0E53}"/>
              </a:ext>
            </a:extLst>
          </p:cNvPr>
          <p:cNvSpPr txBox="1"/>
          <p:nvPr/>
        </p:nvSpPr>
        <p:spPr>
          <a:xfrm>
            <a:off x="731520" y="6025896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Calibri"/>
              </a:defRPr>
            </a:pPr>
            <a:r>
              <a:rPr sz="1600" dirty="0"/>
              <a:t>Step 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F4FCC20-7133-44B9-90CC-E3121266E583}"/>
              </a:ext>
            </a:extLst>
          </p:cNvPr>
          <p:cNvSpPr txBox="1"/>
          <p:nvPr/>
        </p:nvSpPr>
        <p:spPr>
          <a:xfrm>
            <a:off x="1920240" y="6025896"/>
            <a:ext cx="9601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各 coder 从 MORSL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中查找匹配技能，编写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gRPC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调用代码，组装为完整计算图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96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7934DE62-102B-74DB-6365-85136607A7DE}"/>
              </a:ext>
            </a:extLst>
          </p:cNvPr>
          <p:cNvSpPr txBox="1"/>
          <p:nvPr/>
        </p:nvSpPr>
        <p:spPr>
          <a:xfrm>
            <a:off x="731520" y="274320"/>
            <a:ext cx="7315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D70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07  </a:t>
            </a:r>
            <a:r>
              <a:rPr dirty="0" err="1">
                <a:solidFill>
                  <a:schemeClr val="tx2"/>
                </a:solidFill>
              </a:rPr>
              <a:t>自学习算法</a:t>
            </a:r>
            <a:r>
              <a:rPr dirty="0">
                <a:solidFill>
                  <a:schemeClr val="tx2"/>
                </a:solidFill>
              </a:rPr>
              <a:t> (Self-Learning)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0FEB8F-A42F-341E-CEBF-5059789BDD07}"/>
              </a:ext>
            </a:extLst>
          </p:cNvPr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/>
              </a:solidFill>
            </a:endParaRP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3451BB02-1D42-91D1-6384-CD9E2506F897}"/>
              </a:ext>
            </a:extLst>
          </p:cNvPr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4F53E154-32C8-2D86-288C-B6A4FB0E3460}"/>
              </a:ext>
            </a:extLst>
          </p:cNvPr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  <a:latin typeface="Calibri"/>
              </a:defRPr>
            </a:pPr>
            <a:r>
              <a:t>Algorithm 1: Rehearsal-based Self-Learning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3728D6A-A74D-655C-68A0-42848B43D688}"/>
              </a:ext>
            </a:extLst>
          </p:cNvPr>
          <p:cNvSpPr txBox="1"/>
          <p:nvPr/>
        </p:nvSpPr>
        <p:spPr>
          <a:xfrm>
            <a:off x="1005840" y="19659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1.  初始化: 生成计算图 G₀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2.  采样: 从任务分布中采样任务实例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3.  仿真: 在 Isaac-Lab 中执行 G，记录结果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4.  评估: 计算加权得分 S = w₁·成功率 + w₂·吞吐量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5.  反馈: VLM agent 分析失败原因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6.  修复: Coder agent 修改计算图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7.  循环: 重复 2-6 直到收敛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8.  部署: 将优化后的图部署到物理机器人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9F103FF8-D22C-8D9C-178D-AC1483E2AFCC}"/>
              </a:ext>
            </a:extLst>
          </p:cNvPr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286A4DB6-96DA-7399-1D36-BC5EDE11158E}"/>
              </a:ext>
            </a:extLst>
          </p:cNvPr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Calibri"/>
              </a:defRPr>
            </a:pPr>
            <a:r>
              <a:t>关键设计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2160A9A-9E88-0098-64AB-90822F0DA190}"/>
              </a:ext>
            </a:extLst>
          </p:cNvPr>
          <p:cNvSpPr txBox="1"/>
          <p:nvPr/>
        </p:nvSpPr>
        <p:spPr>
          <a:xfrm>
            <a:off x="6675120" y="19659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▸ 仿真-真实差距: 在 Isaac-Lab 中 rehearsal，</a:t>
            </a:r>
            <a:br/>
            <a:r>
              <a:t>  然后 zero-shot 迁移到真实机器人</a:t>
            </a:r>
          </a:p>
          <a:p>
            <a:pPr>
              <a:spcAft>
                <a:spcPts val="12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▸ 加权优化: 同时优化成功率和吞吐量</a:t>
            </a:r>
            <a:br/>
            <a:r>
              <a:t>  (units/hour = 成功率 / 周期时间)</a:t>
            </a:r>
          </a:p>
          <a:p>
            <a:pPr>
              <a:spcAft>
                <a:spcPts val="12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▸ 失败分析: VLM agent 分析仿真中的</a:t>
            </a:r>
            <a:br/>
            <a:r>
              <a:t>  失败案例，给出具体修复建议</a:t>
            </a:r>
          </a:p>
          <a:p>
            <a:pPr>
              <a:spcAft>
                <a:spcPts val="12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▸ 迭代改进: 每轮 rehearsal 后图结构</a:t>
            </a:r>
            <a:br/>
            <a:r>
              <a:t>  自动调整，逐步逼近最优解</a:t>
            </a:r>
          </a:p>
          <a:p>
            <a:pPr>
              <a:spcAft>
                <a:spcPts val="12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▸ 并行评估: 多个任务实例并行仿真，</a:t>
            </a:r>
            <a:br/>
            <a:r>
              <a:t>  加速收敛过程</a:t>
            </a:r>
          </a:p>
        </p:txBody>
      </p:sp>
    </p:spTree>
    <p:extLst>
      <p:ext uri="{BB962C8B-B14F-4D97-AF65-F5344CB8AC3E}">
        <p14:creationId xmlns:p14="http://schemas.microsoft.com/office/powerpoint/2010/main" val="241251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DCF447F-3A05-7ABC-AA36-513EF0FCB182}"/>
              </a:ext>
            </a:extLst>
          </p:cNvPr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8C00"/>
                </a:solidFill>
                <a:latin typeface="Calibri"/>
              </a:defRPr>
            </a:pPr>
            <a:r>
              <a:t>08  实验设置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142320B-4595-49AB-1129-1A0B315188AA}"/>
              </a:ext>
            </a:extLst>
          </p:cNvPr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D5E33E9E-8E8D-5BB3-CD6E-A33ECE5C3433}"/>
              </a:ext>
            </a:extLst>
          </p:cNvPr>
          <p:cNvSpPr/>
          <p:nvPr/>
        </p:nvSpPr>
        <p:spPr>
          <a:xfrm>
            <a:off x="548640" y="1188720"/>
            <a:ext cx="2651760" cy="27432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8D04AF5-1520-6F79-0925-E4CA76A12166}"/>
              </a:ext>
            </a:extLst>
          </p:cNvPr>
          <p:cNvSpPr txBox="1"/>
          <p:nvPr/>
        </p:nvSpPr>
        <p:spPr>
          <a:xfrm>
            <a:off x="73152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Benchmark I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8146C8B-3E54-25DF-1B2D-07C5EC0A8E6F}"/>
              </a:ext>
            </a:extLst>
          </p:cNvPr>
          <p:cNvSpPr txBox="1"/>
          <p:nvPr/>
        </p:nvSpPr>
        <p:spPr>
          <a:xfrm>
            <a:off x="73152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Fulfill Grocery Orders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11405C8-4D02-7BA7-C527-DC5AF6168C80}"/>
              </a:ext>
            </a:extLst>
          </p:cNvPr>
          <p:cNvSpPr/>
          <p:nvPr/>
        </p:nvSpPr>
        <p:spPr>
          <a:xfrm>
            <a:off x="731520" y="2057400"/>
            <a:ext cx="1828800" cy="1905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252D4C6-1E36-189F-4251-7F6C9F477CD5}"/>
              </a:ext>
            </a:extLst>
          </p:cNvPr>
          <p:cNvSpPr txBox="1"/>
          <p:nvPr/>
        </p:nvSpPr>
        <p:spPr>
          <a:xfrm>
            <a:off x="82296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6 种商品摆放任务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FE582EF-57E4-19AA-FFC0-4F71AFD408D3}"/>
              </a:ext>
            </a:extLst>
          </p:cNvPr>
          <p:cNvSpPr txBox="1"/>
          <p:nvPr/>
        </p:nvSpPr>
        <p:spPr>
          <a:xfrm>
            <a:off x="82296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固定/混合布局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30B983B-5355-3C18-6E0C-3332628FD0F9}"/>
              </a:ext>
            </a:extLst>
          </p:cNvPr>
          <p:cNvSpPr txBox="1"/>
          <p:nvPr/>
        </p:nvSpPr>
        <p:spPr>
          <a:xfrm>
            <a:off x="82296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多物体排列组合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B4941BAA-9A35-2C28-1549-4A9DE2E16EB8}"/>
              </a:ext>
            </a:extLst>
          </p:cNvPr>
          <p:cNvSpPr/>
          <p:nvPr/>
        </p:nvSpPr>
        <p:spPr>
          <a:xfrm>
            <a:off x="3383280" y="1188720"/>
            <a:ext cx="2651760" cy="27432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4D4E84A-7110-ACA1-FF79-E9110CE2F29D}"/>
              </a:ext>
            </a:extLst>
          </p:cNvPr>
          <p:cNvSpPr txBox="1"/>
          <p:nvPr/>
        </p:nvSpPr>
        <p:spPr>
          <a:xfrm>
            <a:off x="356616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Benchmark II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DAC1B4C-3F90-03B6-A881-E357B65876F2}"/>
              </a:ext>
            </a:extLst>
          </p:cNvPr>
          <p:cNvSpPr txBox="1"/>
          <p:nvPr/>
        </p:nvSpPr>
        <p:spPr>
          <a:xfrm>
            <a:off x="356616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Basket Swap &amp; Permutation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F6333529-CBE7-AB25-6386-DC315DA85295}"/>
              </a:ext>
            </a:extLst>
          </p:cNvPr>
          <p:cNvSpPr/>
          <p:nvPr/>
        </p:nvSpPr>
        <p:spPr>
          <a:xfrm>
            <a:off x="3566160" y="2057400"/>
            <a:ext cx="1828800" cy="1905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3BB1635-3506-6761-C84D-25BC83AA3EA4}"/>
              </a:ext>
            </a:extLst>
          </p:cNvPr>
          <p:cNvSpPr txBox="1"/>
          <p:nvPr/>
        </p:nvSpPr>
        <p:spPr>
          <a:xfrm>
            <a:off x="365760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物体交换任务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1BB6061-A4D0-2B80-821C-4E12084F164C}"/>
              </a:ext>
            </a:extLst>
          </p:cNvPr>
          <p:cNvSpPr txBox="1"/>
          <p:nvPr/>
        </p:nvSpPr>
        <p:spPr>
          <a:xfrm>
            <a:off x="36576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排列组合测试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90128D5-FFC4-F17D-7C45-E39BFC6885DC}"/>
              </a:ext>
            </a:extLst>
          </p:cNvPr>
          <p:cNvSpPr txBox="1"/>
          <p:nvPr/>
        </p:nvSpPr>
        <p:spPr>
          <a:xfrm>
            <a:off x="365760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20×20 cm 空间</a:t>
            </a:r>
          </a:p>
        </p:txBody>
      </p:sp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52952A92-31A3-1C2C-BFA4-18CCF5678966}"/>
              </a:ext>
            </a:extLst>
          </p:cNvPr>
          <p:cNvSpPr/>
          <p:nvPr/>
        </p:nvSpPr>
        <p:spPr>
          <a:xfrm>
            <a:off x="6217920" y="1188720"/>
            <a:ext cx="2651760" cy="27432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3035788-D886-6232-4AD0-BDF954FDA1A7}"/>
              </a:ext>
            </a:extLst>
          </p:cNvPr>
          <p:cNvSpPr txBox="1"/>
          <p:nvPr/>
        </p:nvSpPr>
        <p:spPr>
          <a:xfrm>
            <a:off x="640080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Calibri"/>
              </a:defRPr>
            </a:pPr>
            <a:r>
              <a:t>Benchmark III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7AA1F95-C505-12EC-5D2A-D5C623D47EA3}"/>
              </a:ext>
            </a:extLst>
          </p:cNvPr>
          <p:cNvSpPr txBox="1"/>
          <p:nvPr/>
        </p:nvSpPr>
        <p:spPr>
          <a:xfrm>
            <a:off x="640080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LIBERO-object</a:t>
            </a: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E3897A81-DDB0-A5BE-5CA6-9F3E167AB02B}"/>
              </a:ext>
            </a:extLst>
          </p:cNvPr>
          <p:cNvSpPr/>
          <p:nvPr/>
        </p:nvSpPr>
        <p:spPr>
          <a:xfrm>
            <a:off x="6400800" y="2057400"/>
            <a:ext cx="1828800" cy="1905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D3AFE4B-66C9-A895-0738-DB8A97FC8EE6}"/>
              </a:ext>
            </a:extLst>
          </p:cNvPr>
          <p:cNvSpPr txBox="1"/>
          <p:nvPr/>
        </p:nvSpPr>
        <p:spPr>
          <a:xfrm>
            <a:off x="649224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标准操作基准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A7852D2-FA66-7CAE-79BD-AA6E65631E12}"/>
              </a:ext>
            </a:extLst>
          </p:cNvPr>
          <p:cNvSpPr txBox="1"/>
          <p:nvPr/>
        </p:nvSpPr>
        <p:spPr>
          <a:xfrm>
            <a:off x="64922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7 个子任务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8148E33-B5FB-3AEE-5A35-DDB76295A819}"/>
              </a:ext>
            </a:extLst>
          </p:cNvPr>
          <p:cNvSpPr txBox="1"/>
          <p:nvPr/>
        </p:nvSpPr>
        <p:spPr>
          <a:xfrm>
            <a:off x="649224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泛化能力测试</a:t>
            </a:r>
          </a:p>
        </p:txBody>
      </p:sp>
      <p:sp>
        <p:nvSpPr>
          <p:cNvPr id="25" name="Rounded Rectangle 25">
            <a:extLst>
              <a:ext uri="{FF2B5EF4-FFF2-40B4-BE49-F238E27FC236}">
                <a16:creationId xmlns:a16="http://schemas.microsoft.com/office/drawing/2014/main" id="{1DC8A8D1-410B-7F6C-C9DF-C3E94FA3A1C2}"/>
              </a:ext>
            </a:extLst>
          </p:cNvPr>
          <p:cNvSpPr/>
          <p:nvPr/>
        </p:nvSpPr>
        <p:spPr>
          <a:xfrm>
            <a:off x="9052560" y="1188720"/>
            <a:ext cx="2651760" cy="27432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DEA457C-07D1-E2B1-2197-2F2F3CE1D2C6}"/>
              </a:ext>
            </a:extLst>
          </p:cNvPr>
          <p:cNvSpPr txBox="1"/>
          <p:nvPr/>
        </p:nvSpPr>
        <p:spPr>
          <a:xfrm>
            <a:off x="923544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Benchmark IV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18F5B05-4D93-42FA-9F51-A9FD216DFB7B}"/>
              </a:ext>
            </a:extLst>
          </p:cNvPr>
          <p:cNvSpPr txBox="1"/>
          <p:nvPr/>
        </p:nvSpPr>
        <p:spPr>
          <a:xfrm>
            <a:off x="923544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Object-to-Object</a:t>
            </a: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3BD504A3-5949-B04F-15D5-1F988D022CBC}"/>
              </a:ext>
            </a:extLst>
          </p:cNvPr>
          <p:cNvSpPr/>
          <p:nvPr/>
        </p:nvSpPr>
        <p:spPr>
          <a:xfrm>
            <a:off x="9235440" y="2057400"/>
            <a:ext cx="1828800" cy="190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23942EC-B312-F495-5AFB-5CEBBA666AFB}"/>
              </a:ext>
            </a:extLst>
          </p:cNvPr>
          <p:cNvSpPr txBox="1"/>
          <p:nvPr/>
        </p:nvSpPr>
        <p:spPr>
          <a:xfrm>
            <a:off x="932688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物体间操作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1BAFBBCF-204E-BF5D-3986-C92ACD7D88B4}"/>
              </a:ext>
            </a:extLst>
          </p:cNvPr>
          <p:cNvSpPr txBox="1"/>
          <p:nvPr/>
        </p:nvSpPr>
        <p:spPr>
          <a:xfrm>
            <a:off x="93268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位置变化测试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21E7F5B9-3093-B640-488F-BF969183F4A5}"/>
              </a:ext>
            </a:extLst>
          </p:cNvPr>
          <p:cNvSpPr txBox="1"/>
          <p:nvPr/>
        </p:nvSpPr>
        <p:spPr>
          <a:xfrm>
            <a:off x="932688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• 鲁棒性评估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034151B6-5AB3-A8DC-0E6C-933232257FC3}"/>
              </a:ext>
            </a:extLst>
          </p:cNvPr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对比基线</a:t>
            </a:r>
          </a:p>
        </p:txBody>
      </p:sp>
      <p:sp>
        <p:nvSpPr>
          <p:cNvPr id="33" name="Rounded Rectangle 33">
            <a:extLst>
              <a:ext uri="{FF2B5EF4-FFF2-40B4-BE49-F238E27FC236}">
                <a16:creationId xmlns:a16="http://schemas.microsoft.com/office/drawing/2014/main" id="{CEE8787F-EADE-C637-54D9-D7B471FC569F}"/>
              </a:ext>
            </a:extLst>
          </p:cNvPr>
          <p:cNvSpPr/>
          <p:nvPr/>
        </p:nvSpPr>
        <p:spPr>
          <a:xfrm>
            <a:off x="548640" y="4754880"/>
            <a:ext cx="2651760" cy="1645920"/>
          </a:xfrm>
          <a:prstGeom prst="roundRect">
            <a:avLst/>
          </a:prstGeom>
          <a:solidFill>
            <a:srgbClr val="1E27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7B38DD7-18DF-5F22-768D-37256BFFD83E}"/>
              </a:ext>
            </a:extLst>
          </p:cNvPr>
          <p:cNvSpPr txBox="1"/>
          <p:nvPr/>
        </p:nvSpPr>
        <p:spPr>
          <a:xfrm>
            <a:off x="73152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VLA Models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8252E481-97B3-4460-0AE4-950102F11A85}"/>
              </a:ext>
            </a:extLst>
          </p:cNvPr>
          <p:cNvSpPr txBox="1"/>
          <p:nvPr/>
        </p:nvSpPr>
        <p:spPr>
          <a:xfrm>
            <a:off x="731520" y="5212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π₀, MolmoAct2</a:t>
            </a:r>
            <a:br/>
            <a:r>
              <a:t>端到端策略模型</a:t>
            </a:r>
          </a:p>
        </p:txBody>
      </p:sp>
      <p:sp>
        <p:nvSpPr>
          <p:cNvPr id="36" name="Rounded Rectangle 36">
            <a:extLst>
              <a:ext uri="{FF2B5EF4-FFF2-40B4-BE49-F238E27FC236}">
                <a16:creationId xmlns:a16="http://schemas.microsoft.com/office/drawing/2014/main" id="{BCBBBF68-2665-0CB0-77A1-1BCDAFCB4E7D}"/>
              </a:ext>
            </a:extLst>
          </p:cNvPr>
          <p:cNvSpPr/>
          <p:nvPr/>
        </p:nvSpPr>
        <p:spPr>
          <a:xfrm>
            <a:off x="3383280" y="4754880"/>
            <a:ext cx="2651760" cy="1645920"/>
          </a:xfrm>
          <a:prstGeom prst="roundRect">
            <a:avLst/>
          </a:prstGeom>
          <a:solidFill>
            <a:srgbClr val="1E27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15364F4-E863-67BF-36EE-588410448A62}"/>
              </a:ext>
            </a:extLst>
          </p:cNvPr>
          <p:cNvSpPr txBox="1"/>
          <p:nvPr/>
        </p:nvSpPr>
        <p:spPr>
          <a:xfrm>
            <a:off x="356616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Calibri"/>
              </a:defRPr>
            </a:pPr>
            <a:r>
              <a:t>TAMP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2548D681-5F11-B5ED-2E99-3406FBC8ACDF}"/>
              </a:ext>
            </a:extLst>
          </p:cNvPr>
          <p:cNvSpPr txBox="1"/>
          <p:nvPr/>
        </p:nvSpPr>
        <p:spPr>
          <a:xfrm>
            <a:off x="3566160" y="5212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Task and Motion Planning</a:t>
            </a:r>
            <a:br/>
            <a:r>
              <a:t>经典规划方法</a:t>
            </a:r>
          </a:p>
        </p:txBody>
      </p:sp>
      <p:sp>
        <p:nvSpPr>
          <p:cNvPr id="39" name="Rounded Rectangle 39">
            <a:extLst>
              <a:ext uri="{FF2B5EF4-FFF2-40B4-BE49-F238E27FC236}">
                <a16:creationId xmlns:a16="http://schemas.microsoft.com/office/drawing/2014/main" id="{E2E0E96D-C1B0-03C0-2386-182E1D6C9904}"/>
              </a:ext>
            </a:extLst>
          </p:cNvPr>
          <p:cNvSpPr/>
          <p:nvPr/>
        </p:nvSpPr>
        <p:spPr>
          <a:xfrm>
            <a:off x="6217920" y="4754880"/>
            <a:ext cx="2651760" cy="1645920"/>
          </a:xfrm>
          <a:prstGeom prst="roundRect">
            <a:avLst/>
          </a:prstGeom>
          <a:solidFill>
            <a:srgbClr val="1E27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FDBF9E05-EDCF-88F6-C03B-D388C9DFD71E}"/>
              </a:ext>
            </a:extLst>
          </p:cNvPr>
          <p:cNvSpPr txBox="1"/>
          <p:nvPr/>
        </p:nvSpPr>
        <p:spPr>
          <a:xfrm>
            <a:off x="640080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Calibri"/>
              </a:defRPr>
            </a:pPr>
            <a:r>
              <a:t>Code-as-Policy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B8BC3ADD-2FA5-332A-A084-5F431A287727}"/>
              </a:ext>
            </a:extLst>
          </p:cNvPr>
          <p:cNvSpPr txBox="1"/>
          <p:nvPr/>
        </p:nvSpPr>
        <p:spPr>
          <a:xfrm>
            <a:off x="6400800" y="5212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CaP / SayCan</a:t>
            </a:r>
            <a:br/>
            <a:r>
              <a:t>LLM 编码方法</a:t>
            </a:r>
          </a:p>
        </p:txBody>
      </p:sp>
      <p:sp>
        <p:nvSpPr>
          <p:cNvPr id="42" name="Rounded Rectangle 42">
            <a:extLst>
              <a:ext uri="{FF2B5EF4-FFF2-40B4-BE49-F238E27FC236}">
                <a16:creationId xmlns:a16="http://schemas.microsoft.com/office/drawing/2014/main" id="{0CFDE4BC-F929-B7DD-8FFF-30A17FA9DBAA}"/>
              </a:ext>
            </a:extLst>
          </p:cNvPr>
          <p:cNvSpPr/>
          <p:nvPr/>
        </p:nvSpPr>
        <p:spPr>
          <a:xfrm>
            <a:off x="9052560" y="4754880"/>
            <a:ext cx="2651760" cy="1645920"/>
          </a:xfrm>
          <a:prstGeom prst="roundRect">
            <a:avLst/>
          </a:prstGeom>
          <a:solidFill>
            <a:srgbClr val="1E27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3D714BCD-9B1E-CCA8-6589-0F038936686D}"/>
              </a:ext>
            </a:extLst>
          </p:cNvPr>
          <p:cNvSpPr txBox="1"/>
          <p:nvPr/>
        </p:nvSpPr>
        <p:spPr>
          <a:xfrm>
            <a:off x="923544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Single Agent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DFC8891C-85B9-9C86-6704-4D023B800C61}"/>
              </a:ext>
            </a:extLst>
          </p:cNvPr>
          <p:cNvSpPr txBox="1"/>
          <p:nvPr/>
        </p:nvSpPr>
        <p:spPr>
          <a:xfrm>
            <a:off x="9235440" y="5212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GaP 单智能体消融</a:t>
            </a:r>
            <a:br/>
            <a:r>
              <a:t>无 self-learning</a:t>
            </a:r>
          </a:p>
        </p:txBody>
      </p:sp>
    </p:spTree>
    <p:extLst>
      <p:ext uri="{BB962C8B-B14F-4D97-AF65-F5344CB8AC3E}">
        <p14:creationId xmlns:p14="http://schemas.microsoft.com/office/powerpoint/2010/main" val="227314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38994B8-15FC-5C5E-5DD1-3E84BCB799AC}"/>
              </a:ext>
            </a:extLst>
          </p:cNvPr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D700"/>
                </a:solidFill>
                <a:latin typeface="Calibri"/>
              </a:defRPr>
            </a:pPr>
            <a:r>
              <a:t>09  实验结果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F19BBB4-4A54-A066-B0B0-2CC26FF6712D}"/>
              </a:ext>
            </a:extLst>
          </p:cNvPr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32748BE5-C735-72DD-E608-A791D885133B}"/>
              </a:ext>
            </a:extLst>
          </p:cNvPr>
          <p:cNvSpPr/>
          <p:nvPr/>
        </p:nvSpPr>
        <p:spPr>
          <a:xfrm>
            <a:off x="731520" y="1099457"/>
            <a:ext cx="10698480" cy="11430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EEAF528-028B-DA77-2AAE-4DF1E96089DE}"/>
              </a:ext>
            </a:extLst>
          </p:cNvPr>
          <p:cNvSpPr txBox="1"/>
          <p:nvPr/>
        </p:nvSpPr>
        <p:spPr>
          <a:xfrm>
            <a:off x="1005840" y="1280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/>
              </a:defRPr>
            </a:pPr>
            <a:r>
              <a:t>成功率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0FE000E-266B-76C8-5FD9-3284E31C5A3F}"/>
              </a:ext>
            </a:extLst>
          </p:cNvPr>
          <p:cNvSpPr txBox="1"/>
          <p:nvPr/>
        </p:nvSpPr>
        <p:spPr>
          <a:xfrm>
            <a:off x="2926080" y="1280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显著优于基线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5B362F3-2D83-13C4-9F9D-F43508CB58DF}"/>
              </a:ext>
            </a:extLst>
          </p:cNvPr>
          <p:cNvSpPr txBox="1"/>
          <p:nvPr/>
        </p:nvSpPr>
        <p:spPr>
          <a:xfrm>
            <a:off x="1005840" y="1645920"/>
            <a:ext cx="10241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在 5500 次试验中（100 </a:t>
            </a:r>
            <a:r>
              <a:rPr dirty="0" err="1"/>
              <a:t>个任务实例</a:t>
            </a:r>
            <a:r>
              <a:rPr dirty="0"/>
              <a:t>/</a:t>
            </a:r>
            <a:r>
              <a:rPr dirty="0" err="1"/>
              <a:t>表格</a:t>
            </a:r>
            <a:r>
              <a:rPr dirty="0"/>
              <a:t>），</a:t>
            </a:r>
            <a:r>
              <a:rPr dirty="0" err="1"/>
              <a:t>GaP</a:t>
            </a:r>
            <a:r>
              <a:rPr dirty="0"/>
              <a:t> </a:t>
            </a:r>
            <a:r>
              <a:rPr dirty="0" err="1"/>
              <a:t>成功率显著优于</a:t>
            </a:r>
            <a:r>
              <a:rPr dirty="0"/>
              <a:t> VLA、TAMP </a:t>
            </a:r>
            <a:r>
              <a:rPr dirty="0" err="1"/>
              <a:t>等基线方法</a:t>
            </a:r>
            <a:endParaRPr dirty="0"/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15F15B85-D860-7EC8-5C91-DBA23E3FCF6B}"/>
              </a:ext>
            </a:extLst>
          </p:cNvPr>
          <p:cNvSpPr/>
          <p:nvPr/>
        </p:nvSpPr>
        <p:spPr>
          <a:xfrm>
            <a:off x="731520" y="2316480"/>
            <a:ext cx="10698480" cy="11430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6E58C9C-593B-2BA1-BB53-D9078F99531A}"/>
              </a:ext>
            </a:extLst>
          </p:cNvPr>
          <p:cNvSpPr txBox="1"/>
          <p:nvPr/>
        </p:nvSpPr>
        <p:spPr>
          <a:xfrm>
            <a:off x="100584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泛化能力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DAB31DF-0A17-17FC-FC46-B86498DDA39F}"/>
              </a:ext>
            </a:extLst>
          </p:cNvPr>
          <p:cNvSpPr txBox="1"/>
          <p:nvPr/>
        </p:nvSpPr>
        <p:spPr>
          <a:xfrm>
            <a:off x="292608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鲁棒性强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FB6BD5C-DCF8-F014-4753-BDBE2A651C13}"/>
              </a:ext>
            </a:extLst>
          </p:cNvPr>
          <p:cNvSpPr txBox="1"/>
          <p:nvPr/>
        </p:nvSpPr>
        <p:spPr>
          <a:xfrm>
            <a:off x="1005840" y="2926080"/>
            <a:ext cx="10241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VLA 在 LIBERO-object </a:t>
            </a:r>
            <a:r>
              <a:rPr dirty="0" err="1"/>
              <a:t>上有一定成功率，但在其他变体上急剧下降；GaP</a:t>
            </a:r>
            <a:r>
              <a:rPr dirty="0"/>
              <a:t> </a:t>
            </a:r>
            <a:r>
              <a:rPr dirty="0" err="1"/>
              <a:t>保持稳健</a:t>
            </a:r>
            <a:endParaRPr dirty="0"/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4E44C891-3F58-AE66-E6BE-3E5D8136D6D1}"/>
              </a:ext>
            </a:extLst>
          </p:cNvPr>
          <p:cNvSpPr/>
          <p:nvPr/>
        </p:nvSpPr>
        <p:spPr>
          <a:xfrm>
            <a:off x="731520" y="3555274"/>
            <a:ext cx="10698480" cy="11430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3EDCA50-987B-6FE3-62F1-EE6170AEA8AA}"/>
              </a:ext>
            </a:extLst>
          </p:cNvPr>
          <p:cNvSpPr txBox="1"/>
          <p:nvPr/>
        </p:nvSpPr>
        <p:spPr>
          <a:xfrm>
            <a:off x="100584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吞吐量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D96A8CE-4819-68C3-D461-EAC831BA9963}"/>
              </a:ext>
            </a:extLst>
          </p:cNvPr>
          <p:cNvSpPr txBox="1"/>
          <p:nvPr/>
        </p:nvSpPr>
        <p:spPr>
          <a:xfrm>
            <a:off x="292608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工业级标准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2839115-EBD9-6A5A-9F46-41779CD4B3FA}"/>
              </a:ext>
            </a:extLst>
          </p:cNvPr>
          <p:cNvSpPr txBox="1"/>
          <p:nvPr/>
        </p:nvSpPr>
        <p:spPr>
          <a:xfrm>
            <a:off x="1005840" y="4206240"/>
            <a:ext cx="10241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自动化需要达到期望吞吐量</a:t>
            </a:r>
            <a:r>
              <a:rPr dirty="0"/>
              <a:t> (units/hour)，</a:t>
            </a:r>
            <a:r>
              <a:rPr dirty="0" err="1"/>
              <a:t>GaP</a:t>
            </a:r>
            <a:r>
              <a:rPr dirty="0"/>
              <a:t> </a:t>
            </a:r>
            <a:r>
              <a:rPr dirty="0" err="1"/>
              <a:t>在成功率和吞吐量间取得最佳平衡</a:t>
            </a:r>
            <a:endParaRPr dirty="0"/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ECC024A7-C559-BB3B-7AD3-725A70EDC024}"/>
              </a:ext>
            </a:extLst>
          </p:cNvPr>
          <p:cNvSpPr/>
          <p:nvPr/>
        </p:nvSpPr>
        <p:spPr>
          <a:xfrm>
            <a:off x="731520" y="4777740"/>
            <a:ext cx="10698480" cy="11430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D3B4D51-2673-EB93-7798-08282CDDE891}"/>
              </a:ext>
            </a:extLst>
          </p:cNvPr>
          <p:cNvSpPr txBox="1"/>
          <p:nvPr/>
        </p:nvSpPr>
        <p:spPr>
          <a:xfrm>
            <a:off x="100584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Calibri"/>
              </a:defRPr>
            </a:pPr>
            <a:r>
              <a:t>消融实验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7446939-8DA5-B6DF-B54C-A6FEA31BA68D}"/>
              </a:ext>
            </a:extLst>
          </p:cNvPr>
          <p:cNvSpPr txBox="1"/>
          <p:nvPr/>
        </p:nvSpPr>
        <p:spPr>
          <a:xfrm>
            <a:off x="292608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多智能体+自学习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3B6C800-309C-D2DB-0778-F888B396C451}"/>
              </a:ext>
            </a:extLst>
          </p:cNvPr>
          <p:cNvSpPr txBox="1"/>
          <p:nvPr/>
        </p:nvSpPr>
        <p:spPr>
          <a:xfrm>
            <a:off x="1005840" y="5486400"/>
            <a:ext cx="10241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单智能体消融</a:t>
            </a:r>
            <a:r>
              <a:rPr dirty="0"/>
              <a:t> + 无 self-learning </a:t>
            </a:r>
            <a:r>
              <a:rPr dirty="0" err="1"/>
              <a:t>消融，验证了每个组件的必要性</a:t>
            </a:r>
            <a:endParaRPr dirty="0"/>
          </a:p>
        </p:txBody>
      </p:sp>
      <p:sp>
        <p:nvSpPr>
          <p:cNvPr id="20" name="Rounded Rectangle 20">
            <a:extLst>
              <a:ext uri="{FF2B5EF4-FFF2-40B4-BE49-F238E27FC236}">
                <a16:creationId xmlns:a16="http://schemas.microsoft.com/office/drawing/2014/main" id="{DB4ADC16-B390-95A1-5DB5-EE1DC44CB46D}"/>
              </a:ext>
            </a:extLst>
          </p:cNvPr>
          <p:cNvSpPr/>
          <p:nvPr/>
        </p:nvSpPr>
        <p:spPr>
          <a:xfrm>
            <a:off x="746607" y="5969508"/>
            <a:ext cx="10698480" cy="822960"/>
          </a:xfrm>
          <a:prstGeom prst="roundRect">
            <a:avLst/>
          </a:prstGeom>
          <a:solidFill>
            <a:srgbClr val="1E27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D700"/>
                </a:solidFill>
                <a:latin typeface="Calibri"/>
              </a:defRPr>
            </a:pPr>
            <a:r>
              <a:t>核心发现: GaP 在仿真和真实世界实验中均表现出色，成功率提升超过 2 倍，且具有良好的跨任务泛化能力</a:t>
            </a:r>
          </a:p>
        </p:txBody>
      </p:sp>
    </p:spTree>
    <p:extLst>
      <p:ext uri="{BB962C8B-B14F-4D97-AF65-F5344CB8AC3E}">
        <p14:creationId xmlns:p14="http://schemas.microsoft.com/office/powerpoint/2010/main" val="217817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7A9BC17-88B1-32B2-53EC-6E9D6A759AC0}"/>
              </a:ext>
            </a:extLst>
          </p:cNvPr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Calibri"/>
              </a:defRPr>
            </a:pPr>
            <a:r>
              <a:t>10  局限性与未来方向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96B4E98-39D4-0A44-10AF-22E20E3AEAD1}"/>
              </a:ext>
            </a:extLst>
          </p:cNvPr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3F72B42-3A97-1091-327D-E8D3B602393D}"/>
              </a:ext>
            </a:extLst>
          </p:cNvPr>
          <p:cNvSpPr/>
          <p:nvPr/>
        </p:nvSpPr>
        <p:spPr>
          <a:xfrm>
            <a:off x="731520" y="1188720"/>
            <a:ext cx="5303520" cy="50292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FF999D1-23D9-6C94-AEE3-86EDC9841704}"/>
              </a:ext>
            </a:extLst>
          </p:cNvPr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当前局限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74FC8FD-8CFF-3034-815A-49ED4C1DBF61}"/>
              </a:ext>
            </a:extLst>
          </p:cNvPr>
          <p:cNvSpPr txBox="1"/>
          <p:nvPr/>
        </p:nvSpPr>
        <p:spPr>
          <a:xfrm>
            <a:off x="1005840" y="1965960"/>
            <a:ext cx="484632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仿真-真实差距</a:t>
            </a:r>
            <a:r>
              <a:rPr sz="1600" dirty="0"/>
              <a:t>: Isaac-Lab </a:t>
            </a:r>
            <a:r>
              <a:rPr sz="1600" dirty="0" err="1"/>
              <a:t>到真实世界仍有</a:t>
            </a:r>
            <a:r>
              <a:rPr sz="1600" dirty="0"/>
              <a:t> gap</a:t>
            </a:r>
          </a:p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技能库规模</a:t>
            </a:r>
            <a:r>
              <a:rPr sz="1600" dirty="0"/>
              <a:t>: </a:t>
            </a:r>
            <a:r>
              <a:rPr sz="1600" dirty="0" err="1"/>
              <a:t>初始</a:t>
            </a:r>
            <a:r>
              <a:rPr sz="1600" dirty="0"/>
              <a:t> 51 </a:t>
            </a:r>
            <a:r>
              <a:rPr sz="1600" dirty="0" err="1"/>
              <a:t>个技能仍需扩展</a:t>
            </a:r>
            <a:endParaRPr sz="1600" dirty="0"/>
          </a:p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长序列任务</a:t>
            </a:r>
            <a:r>
              <a:rPr sz="1600" dirty="0"/>
              <a:t>: </a:t>
            </a:r>
            <a:r>
              <a:rPr sz="1600" dirty="0" err="1"/>
              <a:t>复杂长序列的可靠性有待验证</a:t>
            </a:r>
            <a:endParaRPr sz="1600" dirty="0"/>
          </a:p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实时性</a:t>
            </a:r>
            <a:r>
              <a:rPr sz="1600" dirty="0"/>
              <a:t>: </a:t>
            </a:r>
            <a:r>
              <a:rPr sz="1600" dirty="0" err="1"/>
              <a:t>多智能体协作的延迟问题</a:t>
            </a:r>
            <a:endParaRPr sz="1600" dirty="0"/>
          </a:p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安全性</a:t>
            </a:r>
            <a:r>
              <a:rPr sz="1600" dirty="0"/>
              <a:t>: </a:t>
            </a:r>
            <a:r>
              <a:rPr sz="1600" dirty="0" err="1"/>
              <a:t>缺乏形式化的安全保证机制</a:t>
            </a:r>
            <a:endParaRPr sz="1600" dirty="0"/>
          </a:p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语言依赖</a:t>
            </a:r>
            <a:r>
              <a:rPr sz="1600" dirty="0"/>
              <a:t>: </a:t>
            </a:r>
            <a:r>
              <a:rPr sz="1600" dirty="0" err="1"/>
              <a:t>依赖</a:t>
            </a:r>
            <a:r>
              <a:rPr sz="1600" dirty="0"/>
              <a:t> LLM </a:t>
            </a:r>
            <a:r>
              <a:rPr sz="1600" dirty="0" err="1"/>
              <a:t>的语言理解能力</a:t>
            </a:r>
            <a:endParaRPr sz="1600" dirty="0"/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35CA0343-3AFC-42CE-0C92-41CAAE4BEA1E}"/>
              </a:ext>
            </a:extLst>
          </p:cNvPr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222B45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58CE9FE-7B02-AA8B-8EFF-2B968AB76F6E}"/>
              </a:ext>
            </a:extLst>
          </p:cNvPr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alibri"/>
              </a:defRPr>
            </a:pPr>
            <a:r>
              <a:t>未来方向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5C6C43C-DB12-7410-468E-D88CF296EC9E}"/>
              </a:ext>
            </a:extLst>
          </p:cNvPr>
          <p:cNvSpPr txBox="1"/>
          <p:nvPr/>
        </p:nvSpPr>
        <p:spPr>
          <a:xfrm>
            <a:off x="6675120" y="1965960"/>
            <a:ext cx="4572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扩展</a:t>
            </a:r>
            <a:r>
              <a:rPr sz="1600" dirty="0"/>
              <a:t> MORSL: </a:t>
            </a:r>
            <a:r>
              <a:rPr sz="1600" dirty="0" err="1"/>
              <a:t>增加更多领域特定技能</a:t>
            </a:r>
            <a:endParaRPr sz="1600" dirty="0"/>
          </a:p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在线学习</a:t>
            </a:r>
            <a:r>
              <a:rPr sz="1600" dirty="0"/>
              <a:t>: </a:t>
            </a:r>
            <a:r>
              <a:rPr sz="1600" dirty="0" err="1"/>
              <a:t>从真实执行中持续学习</a:t>
            </a:r>
            <a:endParaRPr sz="1600" dirty="0"/>
          </a:p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多机器人</a:t>
            </a:r>
            <a:r>
              <a:rPr sz="1600" dirty="0"/>
              <a:t>: </a:t>
            </a:r>
            <a:r>
              <a:rPr sz="1600" dirty="0" err="1"/>
              <a:t>扩展到多机器人协作场景</a:t>
            </a:r>
            <a:endParaRPr sz="1600" dirty="0"/>
          </a:p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安全约束</a:t>
            </a:r>
            <a:r>
              <a:rPr sz="1600" dirty="0"/>
              <a:t>: </a:t>
            </a:r>
            <a:r>
              <a:rPr sz="1600" dirty="0" err="1"/>
              <a:t>集成形式化验证方法</a:t>
            </a:r>
            <a:endParaRPr sz="1600" dirty="0"/>
          </a:p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跨具身</a:t>
            </a:r>
            <a:r>
              <a:rPr sz="1600" dirty="0"/>
              <a:t>: </a:t>
            </a:r>
            <a:r>
              <a:rPr sz="1600" dirty="0" err="1"/>
              <a:t>适配不同机器人平台</a:t>
            </a:r>
            <a:endParaRPr sz="1600" dirty="0"/>
          </a:p>
          <a:p>
            <a:pPr>
              <a:spcAft>
                <a:spcPts val="12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rPr sz="1600" dirty="0"/>
              <a:t>▸ </a:t>
            </a:r>
            <a:r>
              <a:rPr sz="1600" dirty="0" err="1"/>
              <a:t>人机协作</a:t>
            </a:r>
            <a:r>
              <a:rPr sz="1600" dirty="0"/>
              <a:t>: </a:t>
            </a:r>
            <a:r>
              <a:rPr sz="1600" dirty="0" err="1"/>
              <a:t>加入人类反馈和纠正机制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41537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1500C10-ED8D-8F89-CAC4-5EADBC620879}"/>
              </a:ext>
            </a:extLst>
          </p:cNvPr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E696"/>
                </a:solidFill>
                <a:latin typeface="Calibri"/>
              </a:defRPr>
            </a:pPr>
            <a:r>
              <a:t>总结 Summary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16CDEE3-5304-3691-1F26-4EAE50038A78}"/>
              </a:ext>
            </a:extLst>
          </p:cNvPr>
          <p:cNvSpPr/>
          <p:nvPr/>
        </p:nvSpPr>
        <p:spPr>
          <a:xfrm>
            <a:off x="5029200" y="10972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84C0910-C0E8-9659-0E63-C48140456C9D}"/>
              </a:ext>
            </a:extLst>
          </p:cNvPr>
          <p:cNvSpPr/>
          <p:nvPr/>
        </p:nvSpPr>
        <p:spPr>
          <a:xfrm>
            <a:off x="548640" y="1645920"/>
            <a:ext cx="2651760" cy="2560320"/>
          </a:xfrm>
          <a:prstGeom prst="roundRect">
            <a:avLst/>
          </a:prstGeom>
          <a:solidFill>
            <a:srgbClr val="222B4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0070DB0-330D-3F05-0270-BF57628B1321}"/>
              </a:ext>
            </a:extLst>
          </p:cNvPr>
          <p:cNvSpPr txBox="1"/>
          <p:nvPr/>
        </p:nvSpPr>
        <p:spPr>
          <a:xfrm>
            <a:off x="73152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D2FF"/>
                </a:solidFill>
                <a:latin typeface="Calibri"/>
              </a:defRPr>
            </a:pPr>
            <a:r>
              <a:t>Graph-as-Policy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F02D767-2B2D-C2CA-F358-A752D4380B66}"/>
              </a:ext>
            </a:extLst>
          </p:cNvPr>
          <p:cNvSpPr txBox="1"/>
          <p:nvPr/>
        </p:nvSpPr>
        <p:spPr>
          <a:xfrm>
            <a:off x="73152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将机器人策略表示为有向计算图</a:t>
            </a:r>
            <a:br/>
            <a:r>
              <a:t>支持模块化、可复用、可组合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C27C5456-2F2C-173F-3B17-E8333F44E2BC}"/>
              </a:ext>
            </a:extLst>
          </p:cNvPr>
          <p:cNvSpPr/>
          <p:nvPr/>
        </p:nvSpPr>
        <p:spPr>
          <a:xfrm>
            <a:off x="3383280" y="1645920"/>
            <a:ext cx="2651760" cy="2560320"/>
          </a:xfrm>
          <a:prstGeom prst="roundRect">
            <a:avLst/>
          </a:prstGeom>
          <a:solidFill>
            <a:srgbClr val="222B45"/>
          </a:solidFill>
          <a:ln w="254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98D1CBE-577F-63B5-3CCE-5B8E0395478A}"/>
              </a:ext>
            </a:extLst>
          </p:cNvPr>
          <p:cNvSpPr txBox="1"/>
          <p:nvPr/>
        </p:nvSpPr>
        <p:spPr>
          <a:xfrm>
            <a:off x="356616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E696"/>
                </a:solidFill>
                <a:latin typeface="Calibri"/>
              </a:defRPr>
            </a:pPr>
            <a:r>
              <a:t>Multi-Agent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4FCD808-A383-29D5-7D63-966ECEFEDFEC}"/>
              </a:ext>
            </a:extLst>
          </p:cNvPr>
          <p:cNvSpPr txBox="1"/>
          <p:nvPr/>
        </p:nvSpPr>
        <p:spPr>
          <a:xfrm>
            <a:off x="356616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LLM/VLM 多智能体协作</a:t>
            </a:r>
            <a:br/>
            <a:r>
              <a:t>自动分解任务并生成计算图</a:t>
            </a:r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9F733D31-183B-35EE-2670-5553BCD27252}"/>
              </a:ext>
            </a:extLst>
          </p:cNvPr>
          <p:cNvSpPr/>
          <p:nvPr/>
        </p:nvSpPr>
        <p:spPr>
          <a:xfrm>
            <a:off x="6217920" y="1645920"/>
            <a:ext cx="2651760" cy="2560320"/>
          </a:xfrm>
          <a:prstGeom prst="roundRect">
            <a:avLst/>
          </a:prstGeom>
          <a:solidFill>
            <a:srgbClr val="222B45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A230D25-AE3C-586C-DCAC-C7A1C60B96C9}"/>
              </a:ext>
            </a:extLst>
          </p:cNvPr>
          <p:cNvSpPr txBox="1"/>
          <p:nvPr/>
        </p:nvSpPr>
        <p:spPr>
          <a:xfrm>
            <a:off x="640080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8C00"/>
                </a:solidFill>
                <a:latin typeface="Calibri"/>
              </a:defRPr>
            </a:pPr>
            <a:r>
              <a:t>Self-Learning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CAAEF09-9427-604C-6DB6-49846C11EC2B}"/>
              </a:ext>
            </a:extLst>
          </p:cNvPr>
          <p:cNvSpPr txBox="1"/>
          <p:nvPr/>
        </p:nvSpPr>
        <p:spPr>
          <a:xfrm>
            <a:off x="640080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仿真 rehearsal 自学习</a:t>
            </a:r>
            <a:br/>
            <a:r>
              <a:t>迭代优化成功率和吞吐量</a:t>
            </a: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6EED15B4-96EA-A16C-062A-79EA7FDE1072}"/>
              </a:ext>
            </a:extLst>
          </p:cNvPr>
          <p:cNvSpPr/>
          <p:nvPr/>
        </p:nvSpPr>
        <p:spPr>
          <a:xfrm>
            <a:off x="9052560" y="1645920"/>
            <a:ext cx="2651760" cy="2560320"/>
          </a:xfrm>
          <a:prstGeom prst="roundRect">
            <a:avLst/>
          </a:prstGeom>
          <a:solidFill>
            <a:srgbClr val="222B4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6EA4926-D66C-CC1F-04F1-26483BF9849E}"/>
              </a:ext>
            </a:extLst>
          </p:cNvPr>
          <p:cNvSpPr txBox="1"/>
          <p:nvPr/>
        </p:nvSpPr>
        <p:spPr>
          <a:xfrm>
            <a:off x="923544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BB86FC"/>
                </a:solidFill>
                <a:latin typeface="Calibri"/>
              </a:defRPr>
            </a:pPr>
            <a:r>
              <a:t>MORSL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D7830F8-F8CF-4F15-70B8-7A0F21268A10}"/>
              </a:ext>
            </a:extLst>
          </p:cNvPr>
          <p:cNvSpPr txBox="1"/>
          <p:nvPr/>
        </p:nvSpPr>
        <p:spPr>
          <a:xfrm>
            <a:off x="923544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51 个初始技能的开放技能库</a:t>
            </a:r>
            <a:br/>
            <a:r>
              <a:t>感知/规划/控制/验证四层</a:t>
            </a: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EE65D208-1A46-3861-07D2-C6AE4ECD7AC9}"/>
              </a:ext>
            </a:extLst>
          </p:cNvPr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1E273E"/>
          </a:solidFill>
          <a:ln w="254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0E696"/>
                </a:solidFill>
                <a:latin typeface="Calibri"/>
              </a:defRPr>
            </a:pPr>
            <a:r>
              <a:t>GaP 的核心价值</a:t>
            </a:r>
          </a:p>
          <a:p>
            <a:pPr algn="ctr">
              <a:spcBef>
                <a:spcPts val="1000"/>
              </a:spcBef>
              <a:defRPr sz="1500">
                <a:solidFill>
                  <a:srgbClr val="CCCCCC"/>
                </a:solidFill>
                <a:latin typeface="Calibri"/>
              </a:defRPr>
            </a:pPr>
            <a:r>
              <a:t>通过将「自然语言 → 计算图 → 仿真优化 → 物理部署」全链条自动化，GaP 为机器人从「固定编程」走向「自主生成」提供了可行路径</a:t>
            </a:r>
          </a:p>
        </p:txBody>
      </p:sp>
    </p:spTree>
    <p:extLst>
      <p:ext uri="{BB962C8B-B14F-4D97-AF65-F5344CB8AC3E}">
        <p14:creationId xmlns:p14="http://schemas.microsoft.com/office/powerpoint/2010/main" val="339394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  <p:tag name="ISPRING_PRESENTATION_TITLE" val="陕西师范大学毕业答辩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35f8ada8-d1d5-484b-a646-0693bbf3215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3"/>
</p:tagLst>
</file>

<file path=ppt/theme/theme1.xml><?xml version="1.0" encoding="utf-8"?>
<a:theme xmlns:a="http://schemas.openxmlformats.org/drawingml/2006/main" name="Office 主题​​">
  <a:themeElements>
    <a:clrScheme name="民大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7010E"/>
      </a:accent1>
      <a:accent2>
        <a:srgbClr val="CC4226"/>
      </a:accent2>
      <a:accent3>
        <a:srgbClr val="2B948C"/>
      </a:accent3>
      <a:accent4>
        <a:srgbClr val="3B5DCC"/>
      </a:accent4>
      <a:accent5>
        <a:srgbClr val="FCDE99"/>
      </a:accent5>
      <a:accent6>
        <a:srgbClr val="5C448A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1832</Words>
  <Application>Microsoft Office PowerPoint</Application>
  <PresentationFormat>宽屏</PresentationFormat>
  <Paragraphs>296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Bebas</vt:lpstr>
      <vt:lpstr>等线</vt:lpstr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陕西师范大学毕业答辩PPT模板</dc:title>
  <dc:creator>立 陈</dc:creator>
  <cp:lastModifiedBy>violet tom</cp:lastModifiedBy>
  <cp:revision>230</cp:revision>
  <dcterms:created xsi:type="dcterms:W3CDTF">2018-12-17T16:17:00Z</dcterms:created>
  <dcterms:modified xsi:type="dcterms:W3CDTF">2026-07-17T10:06:08Z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2052-11.1.0.8864</vt:lpwstr>
  </property>
</Properties>
</file>